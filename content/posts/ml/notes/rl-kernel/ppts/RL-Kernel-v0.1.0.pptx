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uxiaohui" initials="m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4" Type="http://schemas.openxmlformats.org/officeDocument/2006/relationships/commentAuthors" Target="commentAuthors.xml"/><Relationship Id="rId33" Type="http://schemas.openxmlformats.org/officeDocument/2006/relationships/tableStyles" Target="tableStyles.xml"/><Relationship Id="rId32" Type="http://schemas.openxmlformats.org/officeDocument/2006/relationships/viewProps" Target="viewProps.xml"/><Relationship Id="rId31" Type="http://schemas.openxmlformats.org/officeDocument/2006/relationships/presProps" Target="presProps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>
              <a:ea typeface="宋体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这一页讲 CUDA 端为了同时保证一致性和性能，具体整理了哪些计算路径。先看结论。在公开的 Qwen3-8B、8 张 H100 配置中，RL-Kernel 连续运行 200 个完整 step，指定位置的 LogP mismatch 为 0，端到端性能没有低于 vime 原生路径。这个结论只对应当前 workload，模型或并行配置变化后仍然需要重新测量。</a:t>
            </a:r>
          </a:p>
          <a:p/>
          <a:p>
            <a:r>
              <a:t>GEMM 不是只绑定一个后端。auto 会在 cuBLASLt no-split-K 和自研 SM90 路径之间选择。SM90 路径让一个 CTA 负责一个输出 tile，并沿完整 K 维按固定顺序累加。RMSNorm 由 VIME 严格接入路径切换到 torch RMSNorm，同时约束参数语义，避免不同实现带来差异。</a:t>
            </a:r>
          </a:p>
          <a:p/>
          <a:p>
            <a:r>
              <a:t>Attention 使用 FA4 strict core，关闭 split-K，训练 backward 使用 deterministic 路径。FFN 由 packed gate/up GEMM、packed SwiGLU 和 down GEMM 组成，并不是一个把整个 FFN 合在一起的单 kernel。LM head 和 LogP 方面，训练与 rollout 各自复用本进程已经生成的 local logits，减少重复 LM-head GEMM，但 rollout 不会直接复用训练进程里的 selected LogP 或 LSE。</a:t>
            </a:r>
          </a:p>
          <a:p/>
          <a:p>
            <a:r>
              <a:t>通信部分使用单节点 CUDA IPC fixed-tree collective。TP1、TP2、TP4 和 TP8 都采用固定的 balanced tree，并固定数据类型与舍入位置。这里的 CUDA IPC 路径与后面的 ROCm HIP IPC 和 RCCL 路径分别实现，不能理解为两端共用同一个通信 kernel。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ROCm 这张图的读法和 CUDA 一样。横轴是训练 step。左边统计每一步中不匹配的 active token 数量，右边统计最大的绝对 LogP 差值。红线是 vime 原生路径，蓝线是 RL-Kernel 加 vime。</a:t>
            </a:r>
          </a:p>
          <a:p/>
          <a:p>
            <a:r>
              <a:t>红线在两项指标上都持续高于 0，说明原生路径里 rollout 和 training 的结果存在差异。原生路径仍然完成了实验，所以这里同样不能把 mismatch 直接解释成训练失败。</a:t>
            </a:r>
          </a:p>
          <a:p/>
          <a:p>
            <a:r>
              <a:t>蓝线在 200 个完整 step 中保持为 0。这次 ROCm 实验累计做了 9,400,614 次逐元素比较，指定位置的比较结果全部相同。这里所说的逐 Bit 一致，有明确范围，指的是这组 Qwen3-8B、8 张 MI300X 的公开配置，以及当前记录的 selected-token LogP 比较位置。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8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1" Type="http://schemas.openxmlformats.org/officeDocument/2006/relationships/image" Target="../media/image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3" name="Rectangles 12"/>
          <p:cNvSpPr>
            <a:spLocks noGrp="1"/>
          </p:cNvSpPr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rgbClr val="111111"/>
          </a:solidFill>
          <a:ln w="0">
            <a:noFill/>
            <a:prstDash val="solid"/>
          </a:ln>
        </p:spPr>
      </p:sp>
      <p:sp>
        <p:nvSpPr>
          <p:cNvPr id="2" name="Rectangles 1"/>
          <p:cNvSpPr>
            <a:spLocks noGrp="1"/>
          </p:cNvSpPr>
          <p:nvPr/>
        </p:nvSpPr>
        <p:spPr>
          <a:xfrm>
            <a:off x="0" y="6667500"/>
            <a:ext cx="12192000" cy="190500"/>
          </a:xfrm>
          <a:prstGeom prst="rect">
            <a:avLst/>
          </a:prstGeom>
          <a:solidFill>
            <a:srgbClr val="111111"/>
          </a:solidFill>
          <a:ln w="0">
            <a:noFill/>
            <a:prstDash val="solid"/>
          </a:ln>
        </p:spPr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7705" y="457200"/>
            <a:ext cx="396240" cy="495300"/>
          </a:xfrm>
          <a:prstGeom prst="rect">
            <a:avLst/>
          </a:prstGeom>
        </p:spPr>
      </p:pic>
      <p:sp>
        <p:nvSpPr>
          <p:cNvPr id="4" name="Rectangles 3"/>
          <p:cNvSpPr>
            <a:spLocks noGrp="1"/>
          </p:cNvSpPr>
          <p:nvPr/>
        </p:nvSpPr>
        <p:spPr>
          <a:xfrm>
            <a:off x="1200150" y="571500"/>
            <a:ext cx="1905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200" b="1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rPr>
              <a:t>RL-ALIGN</a:t>
            </a:r>
            <a:endParaRPr sz="1200" b="1">
              <a:solidFill>
                <a:srgbClr val="17191D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" name="Straight Connector 4"/>
          <p:cNvSpPr>
            <a:spLocks noGrp="1"/>
          </p:cNvSpPr>
          <p:nvPr/>
        </p:nvSpPr>
        <p:spPr>
          <a:xfrm>
            <a:off x="685800" y="1524000"/>
            <a:ext cx="0" cy="3333750"/>
          </a:xfrm>
          <a:prstGeom prst="line">
            <a:avLst/>
          </a:prstGeom>
          <a:noFill/>
          <a:ln w="38100">
            <a:solidFill>
              <a:srgbClr val="E85D0F"/>
            </a:solidFill>
            <a:prstDash val="solid"/>
          </a:ln>
        </p:spPr>
      </p:sp>
      <p:sp>
        <p:nvSpPr>
          <p:cNvPr id="6" name="Rectangles 5"/>
          <p:cNvSpPr>
            <a:spLocks noGrp="1"/>
          </p:cNvSpPr>
          <p:nvPr/>
        </p:nvSpPr>
        <p:spPr>
          <a:xfrm>
            <a:off x="990600" y="1600200"/>
            <a:ext cx="59055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3750" b="1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750" b="1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rPr>
              <a:t>RL-Kernel</a:t>
            </a:r>
            <a:endParaRPr sz="3750" b="1">
              <a:solidFill>
                <a:srgbClr val="17191D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" name="Rectangles 6"/>
          <p:cNvSpPr>
            <a:spLocks noGrp="1"/>
          </p:cNvSpPr>
          <p:nvPr/>
        </p:nvSpPr>
        <p:spPr>
          <a:xfrm>
            <a:off x="990600" y="2457450"/>
            <a:ext cx="9334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2700" b="1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700" b="1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rPr>
              <a:t>大模型 RL 后训练中的训推一致性实践</a:t>
            </a:r>
            <a:endParaRPr sz="2700" b="1">
              <a:solidFill>
                <a:srgbClr val="17191D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8" name="Rectangles 7"/>
          <p:cNvSpPr>
            <a:spLocks noGrp="1"/>
          </p:cNvSpPr>
          <p:nvPr/>
        </p:nvSpPr>
        <p:spPr>
          <a:xfrm>
            <a:off x="990600" y="3352800"/>
            <a:ext cx="2095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425" b="1">
                <a:solidFill>
                  <a:srgbClr val="E85D0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1">
                <a:solidFill>
                  <a:srgbClr val="E85D0F"/>
                </a:solidFill>
                <a:latin typeface="Noto Sans CJK SC"/>
                <a:ea typeface="Noto Sans CJK SC"/>
                <a:cs typeface="Noto Sans CJK SC"/>
              </a:rPr>
              <a:t>v0.1.0</a:t>
            </a:r>
            <a:endParaRPr sz="1425" b="1">
              <a:solidFill>
                <a:srgbClr val="E85D0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" name="Rectangles 8"/>
          <p:cNvSpPr>
            <a:spLocks noGrp="1"/>
          </p:cNvSpPr>
          <p:nvPr/>
        </p:nvSpPr>
        <p:spPr>
          <a:xfrm>
            <a:off x="990600" y="4267200"/>
            <a:ext cx="2095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575" b="1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rPr>
              <a:t>Vensen Mu</a:t>
            </a:r>
            <a:endParaRPr sz="1575" b="1">
              <a:solidFill>
                <a:srgbClr val="17191D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" name="Rectangles 9"/>
          <p:cNvSpPr>
            <a:spLocks noGrp="1"/>
          </p:cNvSpPr>
          <p:nvPr/>
        </p:nvSpPr>
        <p:spPr>
          <a:xfrm>
            <a:off x="990600" y="4629150"/>
            <a:ext cx="3048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200" b="0">
                <a:solidFill>
                  <a:srgbClr val="62687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626871"/>
                </a:solidFill>
                <a:latin typeface="Noto Sans CJK SC"/>
                <a:ea typeface="Noto Sans CJK SC"/>
                <a:cs typeface="Noto Sans CJK SC"/>
              </a:rPr>
              <a:t>RL-Kernel 核心维护者</a:t>
            </a:r>
            <a:endParaRPr sz="1200" b="0">
              <a:solidFill>
                <a:srgbClr val="626871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1" name="Rectangles 10"/>
          <p:cNvSpPr>
            <a:spLocks noGrp="1"/>
          </p:cNvSpPr>
          <p:nvPr/>
        </p:nvSpPr>
        <p:spPr>
          <a:xfrm>
            <a:off x="990600" y="5048250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975" b="0">
                <a:solidFill>
                  <a:srgbClr val="989EA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989EA7"/>
                </a:solidFill>
                <a:latin typeface="Noto Sans CJK SC"/>
                <a:ea typeface="Noto Sans CJK SC"/>
                <a:cs typeface="Noto Sans CJK SC"/>
              </a:rPr>
              <a:t>2026.09.26</a:t>
            </a:r>
            <a:endParaRPr sz="975" b="0">
              <a:solidFill>
                <a:srgbClr val="989EA7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2" name="Rectangles 11"/>
          <p:cNvSpPr>
            <a:spLocks noGrp="1"/>
          </p:cNvSpPr>
          <p:nvPr/>
        </p:nvSpPr>
        <p:spPr>
          <a:xfrm>
            <a:off x="7524750" y="6248400"/>
            <a:ext cx="3905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r">
              <a:defRPr sz="1050" b="0">
                <a:solidFill>
                  <a:srgbClr val="E85D0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E85D0F"/>
                </a:solidFill>
                <a:latin typeface="Noto Sans CJK SC"/>
                <a:ea typeface="Noto Sans CJK SC"/>
                <a:cs typeface="Noto Sans CJK SC"/>
              </a:rPr>
              <a:t>github.com/RL-Align/RL-Kernel</a:t>
            </a:r>
            <a:endParaRPr sz="1050" b="0">
              <a:solidFill>
                <a:srgbClr val="E85D0F"/>
              </a:solidFill>
              <a:latin typeface="Noto Sans CJK SC"/>
              <a:ea typeface="Noto Sans CJK SC"/>
              <a:cs typeface="Noto Sans CJK SC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5" name="Rectangles 24"/>
          <p:cNvSpPr>
            <a:spLocks noGrp="1"/>
          </p:cNvSpPr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rgbClr val="111111"/>
          </a:solidFill>
          <a:ln w="0">
            <a:noFill/>
            <a:prstDash val="solid"/>
          </a:ln>
        </p:spPr>
      </p:sp>
      <p:sp>
        <p:nvSpPr>
          <p:cNvPr id="2" name="Rectangles 1"/>
          <p:cNvSpPr>
            <a:spLocks noGrp="1"/>
          </p:cNvSpPr>
          <p:nvPr/>
        </p:nvSpPr>
        <p:spPr>
          <a:xfrm>
            <a:off x="0" y="6667500"/>
            <a:ext cx="12192000" cy="190500"/>
          </a:xfrm>
          <a:prstGeom prst="rect">
            <a:avLst/>
          </a:prstGeom>
          <a:solidFill>
            <a:srgbClr val="111111"/>
          </a:solidFill>
          <a:ln w="0">
            <a:noFill/>
            <a:prstDash val="solid"/>
          </a:ln>
        </p:spPr>
      </p:sp>
      <p:sp>
        <p:nvSpPr>
          <p:cNvPr id="3" name="Straight Connector 2"/>
          <p:cNvSpPr>
            <a:spLocks noGrp="1"/>
          </p:cNvSpPr>
          <p:nvPr/>
        </p:nvSpPr>
        <p:spPr>
          <a:xfrm>
            <a:off x="609600" y="342900"/>
            <a:ext cx="0" cy="552450"/>
          </a:xfrm>
          <a:prstGeom prst="line">
            <a:avLst/>
          </a:prstGeom>
          <a:noFill/>
          <a:ln w="28575">
            <a:solidFill>
              <a:srgbClr val="E85D0F"/>
            </a:solidFill>
            <a:prstDash val="solid"/>
          </a:ln>
        </p:spPr>
      </p:sp>
      <p:sp>
        <p:nvSpPr>
          <p:cNvPr id="4" name="Rectangles 3"/>
          <p:cNvSpPr>
            <a:spLocks noGrp="1"/>
          </p:cNvSpPr>
          <p:nvPr/>
        </p:nvSpPr>
        <p:spPr>
          <a:xfrm>
            <a:off x="781050" y="323850"/>
            <a:ext cx="5429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975" b="0">
                <a:solidFill>
                  <a:srgbClr val="62687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626871"/>
                </a:solidFill>
                <a:latin typeface="Noto Sans CJK SC"/>
                <a:ea typeface="Noto Sans CJK SC"/>
                <a:cs typeface="Noto Sans CJK SC"/>
              </a:rPr>
              <a:t>概览</a:t>
            </a:r>
            <a:endParaRPr sz="975" b="0">
              <a:solidFill>
                <a:srgbClr val="626871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" name="Rectangles 4"/>
          <p:cNvSpPr>
            <a:spLocks noGrp="1"/>
          </p:cNvSpPr>
          <p:nvPr/>
        </p:nvSpPr>
        <p:spPr>
          <a:xfrm>
            <a:off x="781050" y="657225"/>
            <a:ext cx="107632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2700" b="1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700" b="1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rPr>
              <a:t>分享内容</a:t>
            </a:r>
            <a:endParaRPr sz="2700" b="1">
              <a:solidFill>
                <a:srgbClr val="17191D"/>
              </a:solidFill>
              <a:latin typeface="Noto Sans CJK SC"/>
              <a:ea typeface="Noto Sans CJK SC"/>
              <a:cs typeface="Noto Sans CJK SC"/>
            </a:endParaRPr>
          </a:p>
        </p:txBody>
      </p:sp>
      <p:pic>
        <p:nvPicPr>
          <p:cNvPr id="30" name="Picture 2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91750" y="6238875"/>
            <a:ext cx="228600" cy="285750"/>
          </a:xfrm>
          <a:prstGeom prst="rect">
            <a:avLst/>
          </a:prstGeom>
        </p:spPr>
      </p:pic>
      <p:sp>
        <p:nvSpPr>
          <p:cNvPr id="7" name="Rectangles 6"/>
          <p:cNvSpPr>
            <a:spLocks noGrp="1"/>
          </p:cNvSpPr>
          <p:nvPr/>
        </p:nvSpPr>
        <p:spPr>
          <a:xfrm>
            <a:off x="10487025" y="6286500"/>
            <a:ext cx="1047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750" b="1">
                <a:solidFill>
                  <a:srgbClr val="62687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50" b="1">
                <a:solidFill>
                  <a:srgbClr val="626871"/>
                </a:solidFill>
                <a:latin typeface="Noto Sans CJK SC"/>
                <a:ea typeface="Noto Sans CJK SC"/>
                <a:cs typeface="Noto Sans CJK SC"/>
              </a:rPr>
              <a:t>RL-ALIGN</a:t>
            </a:r>
            <a:endParaRPr sz="750" b="1">
              <a:solidFill>
                <a:srgbClr val="626871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8" name="Rectangles 7"/>
          <p:cNvSpPr>
            <a:spLocks noGrp="1"/>
          </p:cNvSpPr>
          <p:nvPr/>
        </p:nvSpPr>
        <p:spPr>
          <a:xfrm>
            <a:off x="609600" y="6343650"/>
            <a:ext cx="4000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750" b="0">
                <a:solidFill>
                  <a:srgbClr val="989EA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50" b="0">
                <a:solidFill>
                  <a:srgbClr val="989EA7"/>
                </a:solidFill>
                <a:latin typeface="Noto Sans CJK SC"/>
                <a:ea typeface="Noto Sans CJK SC"/>
                <a:cs typeface="Noto Sans CJK SC"/>
              </a:rPr>
              <a:t>02</a:t>
            </a:r>
            <a:endParaRPr sz="750" b="0">
              <a:solidFill>
                <a:srgbClr val="989EA7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" name="Rectangles 8"/>
          <p:cNvSpPr>
            <a:spLocks noGrp="1"/>
          </p:cNvSpPr>
          <p:nvPr/>
        </p:nvSpPr>
        <p:spPr>
          <a:xfrm>
            <a:off x="838200" y="1504950"/>
            <a:ext cx="7239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2550" b="1">
                <a:solidFill>
                  <a:srgbClr val="E85D0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E85D0F"/>
                </a:solidFill>
                <a:latin typeface="Noto Sans CJK SC"/>
                <a:ea typeface="Noto Sans CJK SC"/>
                <a:cs typeface="Noto Sans CJK SC"/>
              </a:rPr>
              <a:t>01</a:t>
            </a:r>
            <a:endParaRPr sz="2550" b="1">
              <a:solidFill>
                <a:srgbClr val="E85D0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" name="Rectangles 9"/>
          <p:cNvSpPr>
            <a:spLocks noGrp="1"/>
          </p:cNvSpPr>
          <p:nvPr/>
        </p:nvSpPr>
        <p:spPr>
          <a:xfrm>
            <a:off x="1828800" y="1524000"/>
            <a:ext cx="2952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875" b="1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rPr>
              <a:t>问题背景</a:t>
            </a:r>
            <a:endParaRPr sz="1875" b="1">
              <a:solidFill>
                <a:srgbClr val="17191D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1" name="Rectangles 10"/>
          <p:cNvSpPr>
            <a:spLocks noGrp="1"/>
          </p:cNvSpPr>
          <p:nvPr/>
        </p:nvSpPr>
        <p:spPr>
          <a:xfrm>
            <a:off x="5067300" y="1543050"/>
            <a:ext cx="59817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425" b="0">
                <a:solidFill>
                  <a:srgbClr val="62687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626871"/>
                </a:solidFill>
                <a:latin typeface="Noto Sans CJK SC"/>
                <a:ea typeface="Noto Sans CJK SC"/>
                <a:cs typeface="Noto Sans CJK SC"/>
              </a:rPr>
              <a:t>同一模型、同一批 token，为什么两套引擎的 LogP 仍会不同</a:t>
            </a:r>
            <a:endParaRPr sz="1425" b="0">
              <a:solidFill>
                <a:srgbClr val="626871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2" name="Straight Connector 11"/>
          <p:cNvSpPr>
            <a:spLocks noGrp="1"/>
          </p:cNvSpPr>
          <p:nvPr/>
        </p:nvSpPr>
        <p:spPr>
          <a:xfrm>
            <a:off x="1828800" y="2152650"/>
            <a:ext cx="9239250" cy="0"/>
          </a:xfrm>
          <a:prstGeom prst="line">
            <a:avLst/>
          </a:prstGeom>
          <a:noFill/>
          <a:ln w="9525">
            <a:solidFill>
              <a:srgbClr val="D6DAE0"/>
            </a:solidFill>
            <a:prstDash val="solid"/>
          </a:ln>
        </p:spPr>
      </p:sp>
      <p:sp>
        <p:nvSpPr>
          <p:cNvPr id="13" name="Rectangles 12"/>
          <p:cNvSpPr>
            <a:spLocks noGrp="1"/>
          </p:cNvSpPr>
          <p:nvPr/>
        </p:nvSpPr>
        <p:spPr>
          <a:xfrm>
            <a:off x="838200" y="2457450"/>
            <a:ext cx="7239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2550" b="1">
                <a:solidFill>
                  <a:srgbClr val="989EA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989EA7"/>
                </a:solidFill>
                <a:latin typeface="Noto Sans CJK SC"/>
                <a:ea typeface="Noto Sans CJK SC"/>
                <a:cs typeface="Noto Sans CJK SC"/>
              </a:rPr>
              <a:t>02</a:t>
            </a:r>
            <a:endParaRPr sz="2550" b="1">
              <a:solidFill>
                <a:srgbClr val="989EA7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4" name="Rectangles 13"/>
          <p:cNvSpPr>
            <a:spLocks noGrp="1"/>
          </p:cNvSpPr>
          <p:nvPr/>
        </p:nvSpPr>
        <p:spPr>
          <a:xfrm>
            <a:off x="1828800" y="2476500"/>
            <a:ext cx="2952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875" b="1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rPr>
              <a:t>项目定位</a:t>
            </a:r>
            <a:endParaRPr sz="1875" b="1">
              <a:solidFill>
                <a:srgbClr val="17191D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5" name="Rectangles 14"/>
          <p:cNvSpPr>
            <a:spLocks noGrp="1"/>
          </p:cNvSpPr>
          <p:nvPr/>
        </p:nvSpPr>
        <p:spPr>
          <a:xfrm>
            <a:off x="5067300" y="2495550"/>
            <a:ext cx="59817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425" b="0">
                <a:solidFill>
                  <a:srgbClr val="62687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626871"/>
                </a:solidFill>
                <a:latin typeface="Noto Sans CJK SC"/>
                <a:ea typeface="Noto Sans CJK SC"/>
                <a:cs typeface="Noto Sans CJK SC"/>
              </a:rPr>
              <a:t>vime 负责流程，RL-Kernel 对齐关键计算</a:t>
            </a:r>
            <a:endParaRPr sz="1425" b="0">
              <a:solidFill>
                <a:srgbClr val="626871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6" name="Straight Connector 15"/>
          <p:cNvSpPr>
            <a:spLocks noGrp="1"/>
          </p:cNvSpPr>
          <p:nvPr/>
        </p:nvSpPr>
        <p:spPr>
          <a:xfrm>
            <a:off x="1828800" y="3105150"/>
            <a:ext cx="9239250" cy="0"/>
          </a:xfrm>
          <a:prstGeom prst="line">
            <a:avLst/>
          </a:prstGeom>
          <a:noFill/>
          <a:ln w="9525">
            <a:solidFill>
              <a:srgbClr val="D6DAE0"/>
            </a:solidFill>
            <a:prstDash val="solid"/>
          </a:ln>
        </p:spPr>
      </p:sp>
      <p:sp>
        <p:nvSpPr>
          <p:cNvPr id="17" name="Rectangles 16"/>
          <p:cNvSpPr>
            <a:spLocks noGrp="1"/>
          </p:cNvSpPr>
          <p:nvPr/>
        </p:nvSpPr>
        <p:spPr>
          <a:xfrm>
            <a:off x="838200" y="3409950"/>
            <a:ext cx="7239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2550" b="1">
                <a:solidFill>
                  <a:srgbClr val="989EA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989EA7"/>
                </a:solidFill>
                <a:latin typeface="Noto Sans CJK SC"/>
                <a:ea typeface="Noto Sans CJK SC"/>
                <a:cs typeface="Noto Sans CJK SC"/>
              </a:rPr>
              <a:t>03</a:t>
            </a:r>
            <a:endParaRPr sz="2550" b="1">
              <a:solidFill>
                <a:srgbClr val="989EA7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8" name="Rectangles 17"/>
          <p:cNvSpPr>
            <a:spLocks noGrp="1"/>
          </p:cNvSpPr>
          <p:nvPr/>
        </p:nvSpPr>
        <p:spPr>
          <a:xfrm>
            <a:off x="1828800" y="3429000"/>
            <a:ext cx="2952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875" b="1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rPr>
              <a:t>v0.1.0</a:t>
            </a:r>
            <a:endParaRPr sz="1875" b="1">
              <a:solidFill>
                <a:srgbClr val="17191D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9" name="Rectangles 18"/>
          <p:cNvSpPr>
            <a:spLocks noGrp="1"/>
          </p:cNvSpPr>
          <p:nvPr/>
        </p:nvSpPr>
        <p:spPr>
          <a:xfrm>
            <a:off x="5067300" y="3448050"/>
            <a:ext cx="59817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425" b="0">
                <a:solidFill>
                  <a:srgbClr val="62687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626871"/>
                </a:solidFill>
                <a:latin typeface="Noto Sans CJK SC"/>
                <a:ea typeface="Noto Sans CJK SC"/>
                <a:cs typeface="Noto Sans CJK SC"/>
              </a:rPr>
              <a:t>CUDA 和 ROCm 的 200-step 验证结果</a:t>
            </a:r>
            <a:endParaRPr sz="1425" b="0">
              <a:solidFill>
                <a:srgbClr val="626871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0" name="Straight Connector 19"/>
          <p:cNvSpPr>
            <a:spLocks noGrp="1"/>
          </p:cNvSpPr>
          <p:nvPr/>
        </p:nvSpPr>
        <p:spPr>
          <a:xfrm>
            <a:off x="1828800" y="4057650"/>
            <a:ext cx="9239250" cy="0"/>
          </a:xfrm>
          <a:prstGeom prst="line">
            <a:avLst/>
          </a:prstGeom>
          <a:noFill/>
          <a:ln w="9525">
            <a:solidFill>
              <a:srgbClr val="D6DAE0"/>
            </a:solidFill>
            <a:prstDash val="solid"/>
          </a:ln>
        </p:spPr>
      </p:sp>
      <p:sp>
        <p:nvSpPr>
          <p:cNvPr id="21" name="Rectangles 20"/>
          <p:cNvSpPr>
            <a:spLocks noGrp="1"/>
          </p:cNvSpPr>
          <p:nvPr/>
        </p:nvSpPr>
        <p:spPr>
          <a:xfrm>
            <a:off x="838200" y="4362450"/>
            <a:ext cx="7239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2550" b="1">
                <a:solidFill>
                  <a:srgbClr val="989EA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989EA7"/>
                </a:solidFill>
                <a:latin typeface="Noto Sans CJK SC"/>
                <a:ea typeface="Noto Sans CJK SC"/>
                <a:cs typeface="Noto Sans CJK SC"/>
              </a:rPr>
              <a:t>04</a:t>
            </a:r>
            <a:endParaRPr sz="2550" b="1">
              <a:solidFill>
                <a:srgbClr val="989EA7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2" name="Rectangles 21"/>
          <p:cNvSpPr>
            <a:spLocks noGrp="1"/>
          </p:cNvSpPr>
          <p:nvPr/>
        </p:nvSpPr>
        <p:spPr>
          <a:xfrm>
            <a:off x="1828800" y="4381500"/>
            <a:ext cx="2952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875" b="1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lang="zh-CN" sz="1875" b="1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rPr>
              <a:t>当前</a:t>
            </a:r>
            <a:r>
              <a:rPr lang="zh-CN" sz="1875" b="1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rPr>
              <a:t>边界</a:t>
            </a:r>
            <a:endParaRPr lang="zh-CN" sz="1875" b="1">
              <a:solidFill>
                <a:srgbClr val="17191D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3" name="Rectangles 22"/>
          <p:cNvSpPr>
            <a:spLocks noGrp="1"/>
          </p:cNvSpPr>
          <p:nvPr/>
        </p:nvSpPr>
        <p:spPr>
          <a:xfrm>
            <a:off x="5067300" y="4400550"/>
            <a:ext cx="59817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425" b="0">
                <a:solidFill>
                  <a:srgbClr val="62687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626871"/>
                </a:solidFill>
                <a:latin typeface="Noto Sans CJK SC"/>
                <a:ea typeface="Noto Sans CJK SC"/>
                <a:cs typeface="Noto Sans CJK SC"/>
              </a:rPr>
              <a:t>已验证范围与下一阶段计划</a:t>
            </a:r>
            <a:endParaRPr sz="1425" b="0">
              <a:solidFill>
                <a:srgbClr val="626871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4" name="Straight Connector 23"/>
          <p:cNvSpPr>
            <a:spLocks noGrp="1"/>
          </p:cNvSpPr>
          <p:nvPr/>
        </p:nvSpPr>
        <p:spPr>
          <a:xfrm>
            <a:off x="1828800" y="5010150"/>
            <a:ext cx="9239250" cy="0"/>
          </a:xfrm>
          <a:prstGeom prst="line">
            <a:avLst/>
          </a:prstGeom>
          <a:noFill/>
          <a:ln w="9525">
            <a:solidFill>
              <a:srgbClr val="D6DAE0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6" name="Rectangles 35"/>
          <p:cNvSpPr>
            <a:spLocks noGrp="1"/>
          </p:cNvSpPr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rgbClr val="111111"/>
          </a:solidFill>
          <a:ln w="0">
            <a:noFill/>
            <a:prstDash val="solid"/>
          </a:ln>
        </p:spPr>
      </p:sp>
      <p:sp>
        <p:nvSpPr>
          <p:cNvPr id="2" name="Rectangles 1"/>
          <p:cNvSpPr>
            <a:spLocks noGrp="1"/>
          </p:cNvSpPr>
          <p:nvPr/>
        </p:nvSpPr>
        <p:spPr>
          <a:xfrm>
            <a:off x="0" y="6667500"/>
            <a:ext cx="12192000" cy="190500"/>
          </a:xfrm>
          <a:prstGeom prst="rect">
            <a:avLst/>
          </a:prstGeom>
          <a:solidFill>
            <a:srgbClr val="111111"/>
          </a:solidFill>
          <a:ln w="0">
            <a:noFill/>
            <a:prstDash val="solid"/>
          </a:ln>
        </p:spPr>
      </p:sp>
      <p:sp>
        <p:nvSpPr>
          <p:cNvPr id="3" name="Straight Connector 2"/>
          <p:cNvSpPr>
            <a:spLocks noGrp="1"/>
          </p:cNvSpPr>
          <p:nvPr/>
        </p:nvSpPr>
        <p:spPr>
          <a:xfrm>
            <a:off x="609600" y="342900"/>
            <a:ext cx="0" cy="552450"/>
          </a:xfrm>
          <a:prstGeom prst="line">
            <a:avLst/>
          </a:prstGeom>
          <a:noFill/>
          <a:ln w="28575">
            <a:solidFill>
              <a:srgbClr val="E85D0F"/>
            </a:solidFill>
            <a:prstDash val="solid"/>
          </a:ln>
        </p:spPr>
      </p:sp>
      <p:sp>
        <p:nvSpPr>
          <p:cNvPr id="4" name="Rectangles 3"/>
          <p:cNvSpPr>
            <a:spLocks noGrp="1"/>
          </p:cNvSpPr>
          <p:nvPr/>
        </p:nvSpPr>
        <p:spPr>
          <a:xfrm>
            <a:off x="781050" y="323850"/>
            <a:ext cx="5429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975" b="0">
                <a:solidFill>
                  <a:srgbClr val="62687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626871"/>
                </a:solidFill>
                <a:latin typeface="Noto Sans CJK SC"/>
                <a:ea typeface="Noto Sans CJK SC"/>
                <a:cs typeface="Noto Sans CJK SC"/>
              </a:rPr>
              <a:t>01  问题背景</a:t>
            </a:r>
            <a:endParaRPr sz="975" b="0">
              <a:solidFill>
                <a:srgbClr val="626871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" name="Rectangles 4"/>
          <p:cNvSpPr>
            <a:spLocks noGrp="1"/>
          </p:cNvSpPr>
          <p:nvPr/>
        </p:nvSpPr>
        <p:spPr>
          <a:xfrm>
            <a:off x="781050" y="657225"/>
            <a:ext cx="107632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2700" b="1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700" b="1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rPr>
              <a:t>Rollout LogP 与 Training LogP</a:t>
            </a:r>
            <a:endParaRPr sz="2700" b="1">
              <a:solidFill>
                <a:srgbClr val="17191D"/>
              </a:solidFill>
              <a:latin typeface="Noto Sans CJK SC"/>
              <a:ea typeface="Noto Sans CJK SC"/>
              <a:cs typeface="Noto Sans CJK SC"/>
            </a:endParaRPr>
          </a:p>
        </p:txBody>
      </p:sp>
      <p:pic>
        <p:nvPicPr>
          <p:cNvPr id="41" name="Picture 4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91750" y="6238875"/>
            <a:ext cx="228600" cy="285750"/>
          </a:xfrm>
          <a:prstGeom prst="rect">
            <a:avLst/>
          </a:prstGeom>
        </p:spPr>
      </p:pic>
      <p:sp>
        <p:nvSpPr>
          <p:cNvPr id="7" name="Rectangles 6"/>
          <p:cNvSpPr>
            <a:spLocks noGrp="1"/>
          </p:cNvSpPr>
          <p:nvPr/>
        </p:nvSpPr>
        <p:spPr>
          <a:xfrm>
            <a:off x="10487025" y="6286500"/>
            <a:ext cx="1047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750" b="1">
                <a:solidFill>
                  <a:srgbClr val="62687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50" b="1">
                <a:solidFill>
                  <a:srgbClr val="626871"/>
                </a:solidFill>
                <a:latin typeface="Noto Sans CJK SC"/>
                <a:ea typeface="Noto Sans CJK SC"/>
                <a:cs typeface="Noto Sans CJK SC"/>
              </a:rPr>
              <a:t>RL-ALIGN</a:t>
            </a:r>
            <a:endParaRPr sz="750" b="1">
              <a:solidFill>
                <a:srgbClr val="626871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8" name="Rectangles 7"/>
          <p:cNvSpPr>
            <a:spLocks noGrp="1"/>
          </p:cNvSpPr>
          <p:nvPr/>
        </p:nvSpPr>
        <p:spPr>
          <a:xfrm>
            <a:off x="609600" y="6343650"/>
            <a:ext cx="4000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750" b="0">
                <a:solidFill>
                  <a:srgbClr val="989EA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50" b="0">
                <a:solidFill>
                  <a:srgbClr val="989EA7"/>
                </a:solidFill>
                <a:latin typeface="Noto Sans CJK SC"/>
                <a:ea typeface="Noto Sans CJK SC"/>
                <a:cs typeface="Noto Sans CJK SC"/>
              </a:rPr>
              <a:t>03</a:t>
            </a:r>
            <a:endParaRPr sz="750" b="0">
              <a:solidFill>
                <a:srgbClr val="989EA7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" name="Rectangles 8"/>
          <p:cNvSpPr>
            <a:spLocks noGrp="1"/>
          </p:cNvSpPr>
          <p:nvPr/>
        </p:nvSpPr>
        <p:spPr>
          <a:xfrm>
            <a:off x="876300" y="1600200"/>
            <a:ext cx="1428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125" b="1">
                <a:solidFill>
                  <a:srgbClr val="989EA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989EA7"/>
                </a:solidFill>
                <a:latin typeface="Noto Sans CJK SC"/>
                <a:ea typeface="Noto Sans CJK SC"/>
                <a:cs typeface="Noto Sans CJK SC"/>
              </a:rPr>
              <a:t>阶段</a:t>
            </a:r>
            <a:endParaRPr sz="1125" b="1">
              <a:solidFill>
                <a:srgbClr val="989EA7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" name="Rectangles 9"/>
          <p:cNvSpPr>
            <a:spLocks noGrp="1"/>
          </p:cNvSpPr>
          <p:nvPr/>
        </p:nvSpPr>
        <p:spPr>
          <a:xfrm>
            <a:off x="3009900" y="1504950"/>
            <a:ext cx="3238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2025" b="1">
                <a:solidFill>
                  <a:srgbClr val="2E63D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2E63D9"/>
                </a:solidFill>
                <a:latin typeface="Noto Sans CJK SC"/>
                <a:ea typeface="Noto Sans CJK SC"/>
                <a:cs typeface="Noto Sans CJK SC"/>
              </a:rPr>
              <a:t>Rollout</a:t>
            </a:r>
            <a:endParaRPr sz="2025" b="1">
              <a:solidFill>
                <a:srgbClr val="2E63D9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1" name="Rectangles 10"/>
          <p:cNvSpPr>
            <a:spLocks noGrp="1"/>
          </p:cNvSpPr>
          <p:nvPr/>
        </p:nvSpPr>
        <p:spPr>
          <a:xfrm>
            <a:off x="7429500" y="1504950"/>
            <a:ext cx="3238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2025" b="1">
                <a:solidFill>
                  <a:srgbClr val="E85D0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E85D0F"/>
                </a:solidFill>
                <a:latin typeface="Noto Sans CJK SC"/>
                <a:ea typeface="Noto Sans CJK SC"/>
                <a:cs typeface="Noto Sans CJK SC"/>
              </a:rPr>
              <a:t>Training</a:t>
            </a:r>
            <a:endParaRPr sz="2025" b="1">
              <a:solidFill>
                <a:srgbClr val="E85D0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2" name="Straight Connector 11"/>
          <p:cNvSpPr>
            <a:spLocks noGrp="1"/>
          </p:cNvSpPr>
          <p:nvPr/>
        </p:nvSpPr>
        <p:spPr>
          <a:xfrm>
            <a:off x="838200" y="2019300"/>
            <a:ext cx="10439400" cy="0"/>
          </a:xfrm>
          <a:prstGeom prst="line">
            <a:avLst/>
          </a:prstGeom>
          <a:noFill/>
          <a:ln w="19050">
            <a:solidFill>
              <a:srgbClr val="17191D"/>
            </a:solidFill>
            <a:prstDash val="solid"/>
          </a:ln>
        </p:spPr>
      </p:sp>
      <p:sp>
        <p:nvSpPr>
          <p:cNvPr id="13" name="Straight Connector 12"/>
          <p:cNvSpPr>
            <a:spLocks noGrp="1"/>
          </p:cNvSpPr>
          <p:nvPr/>
        </p:nvSpPr>
        <p:spPr>
          <a:xfrm>
            <a:off x="2533650" y="1524000"/>
            <a:ext cx="0" cy="3657600"/>
          </a:xfrm>
          <a:prstGeom prst="line">
            <a:avLst/>
          </a:prstGeom>
          <a:noFill/>
          <a:ln w="9525">
            <a:solidFill>
              <a:srgbClr val="D6DAE0"/>
            </a:solidFill>
            <a:prstDash val="solid"/>
          </a:ln>
        </p:spPr>
      </p:sp>
      <p:sp>
        <p:nvSpPr>
          <p:cNvPr id="14" name="Straight Connector 13"/>
          <p:cNvSpPr>
            <a:spLocks noGrp="1"/>
          </p:cNvSpPr>
          <p:nvPr/>
        </p:nvSpPr>
        <p:spPr>
          <a:xfrm>
            <a:off x="6934200" y="1524000"/>
            <a:ext cx="0" cy="3657600"/>
          </a:xfrm>
          <a:prstGeom prst="line">
            <a:avLst/>
          </a:prstGeom>
          <a:noFill/>
          <a:ln w="9525">
            <a:solidFill>
              <a:srgbClr val="D6DAE0"/>
            </a:solidFill>
            <a:prstDash val="solid"/>
          </a:ln>
        </p:spPr>
      </p:sp>
      <p:sp>
        <p:nvSpPr>
          <p:cNvPr id="15" name="Rectangles 14"/>
          <p:cNvSpPr>
            <a:spLocks noGrp="1"/>
          </p:cNvSpPr>
          <p:nvPr/>
        </p:nvSpPr>
        <p:spPr>
          <a:xfrm>
            <a:off x="876300" y="2276475"/>
            <a:ext cx="1428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200" b="1">
                <a:solidFill>
                  <a:srgbClr val="62687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626871"/>
                </a:solidFill>
                <a:latin typeface="Noto Sans CJK SC"/>
                <a:ea typeface="Noto Sans CJK SC"/>
                <a:cs typeface="Noto Sans CJK SC"/>
              </a:rPr>
              <a:t>执行引擎</a:t>
            </a:r>
            <a:endParaRPr sz="1200" b="1">
              <a:solidFill>
                <a:srgbClr val="626871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6" name="Rectangles 15"/>
          <p:cNvSpPr>
            <a:spLocks noGrp="1"/>
          </p:cNvSpPr>
          <p:nvPr/>
        </p:nvSpPr>
        <p:spPr>
          <a:xfrm>
            <a:off x="3009900" y="2228850"/>
            <a:ext cx="35433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425" b="1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1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rPr>
              <a:t>vLLM</a:t>
            </a:r>
            <a:endParaRPr sz="1425" b="1">
              <a:solidFill>
                <a:srgbClr val="17191D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7" name="Rectangles 16"/>
          <p:cNvSpPr>
            <a:spLocks noGrp="1"/>
          </p:cNvSpPr>
          <p:nvPr/>
        </p:nvSpPr>
        <p:spPr>
          <a:xfrm>
            <a:off x="7429500" y="2228850"/>
            <a:ext cx="3619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425" b="1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1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rPr>
              <a:t>Megatron-LM</a:t>
            </a:r>
            <a:endParaRPr sz="1425" b="1">
              <a:solidFill>
                <a:srgbClr val="17191D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8" name="Straight Connector 17"/>
          <p:cNvSpPr>
            <a:spLocks noGrp="1"/>
          </p:cNvSpPr>
          <p:nvPr/>
        </p:nvSpPr>
        <p:spPr>
          <a:xfrm>
            <a:off x="838200" y="2771775"/>
            <a:ext cx="10439400" cy="0"/>
          </a:xfrm>
          <a:prstGeom prst="line">
            <a:avLst/>
          </a:prstGeom>
          <a:noFill/>
          <a:ln w="9525">
            <a:solidFill>
              <a:srgbClr val="D6DAE0"/>
            </a:solidFill>
            <a:prstDash val="solid"/>
          </a:ln>
        </p:spPr>
      </p:sp>
      <p:sp>
        <p:nvSpPr>
          <p:cNvPr id="19" name="Rectangles 18"/>
          <p:cNvSpPr>
            <a:spLocks noGrp="1"/>
          </p:cNvSpPr>
          <p:nvPr/>
        </p:nvSpPr>
        <p:spPr>
          <a:xfrm>
            <a:off x="876300" y="2924175"/>
            <a:ext cx="1428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200" b="1">
                <a:solidFill>
                  <a:srgbClr val="62687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626871"/>
                </a:solidFill>
                <a:latin typeface="Noto Sans CJK SC"/>
                <a:ea typeface="Noto Sans CJK SC"/>
                <a:cs typeface="Noto Sans CJK SC"/>
              </a:rPr>
              <a:t>输入</a:t>
            </a:r>
            <a:endParaRPr sz="1200" b="1">
              <a:solidFill>
                <a:srgbClr val="626871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0" name="Rectangles 19"/>
          <p:cNvSpPr>
            <a:spLocks noGrp="1"/>
          </p:cNvSpPr>
          <p:nvPr/>
        </p:nvSpPr>
        <p:spPr>
          <a:xfrm>
            <a:off x="3009900" y="2876550"/>
            <a:ext cx="35433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425" b="0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rPr>
              <a:t>当前权重 + prompt</a:t>
            </a:r>
            <a:endParaRPr sz="1425" b="0">
              <a:solidFill>
                <a:srgbClr val="17191D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1" name="Rectangles 20"/>
          <p:cNvSpPr>
            <a:spLocks noGrp="1"/>
          </p:cNvSpPr>
          <p:nvPr/>
        </p:nvSpPr>
        <p:spPr>
          <a:xfrm>
            <a:off x="7429500" y="2876550"/>
            <a:ext cx="3619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425" b="0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rPr>
              <a:t>同一版权重 + 完整 prompt、response tokens</a:t>
            </a:r>
            <a:endParaRPr sz="1425" b="0">
              <a:solidFill>
                <a:srgbClr val="17191D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2" name="Straight Connector 21"/>
          <p:cNvSpPr>
            <a:spLocks noGrp="1"/>
          </p:cNvSpPr>
          <p:nvPr/>
        </p:nvSpPr>
        <p:spPr>
          <a:xfrm>
            <a:off x="838200" y="3476625"/>
            <a:ext cx="10439400" cy="0"/>
          </a:xfrm>
          <a:prstGeom prst="line">
            <a:avLst/>
          </a:prstGeom>
          <a:noFill/>
          <a:ln w="9525">
            <a:solidFill>
              <a:srgbClr val="D6DAE0"/>
            </a:solidFill>
            <a:prstDash val="solid"/>
          </a:ln>
        </p:spPr>
      </p:sp>
      <p:sp>
        <p:nvSpPr>
          <p:cNvPr id="23" name="Rectangles 22"/>
          <p:cNvSpPr>
            <a:spLocks noGrp="1"/>
          </p:cNvSpPr>
          <p:nvPr/>
        </p:nvSpPr>
        <p:spPr>
          <a:xfrm>
            <a:off x="876300" y="3648075"/>
            <a:ext cx="14287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200" b="1">
                <a:solidFill>
                  <a:srgbClr val="62687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626871"/>
                </a:solidFill>
                <a:latin typeface="Noto Sans CJK SC"/>
                <a:ea typeface="Noto Sans CJK SC"/>
                <a:cs typeface="Noto Sans CJK SC"/>
              </a:rPr>
              <a:t>计算</a:t>
            </a:r>
            <a:endParaRPr sz="1200" b="1">
              <a:solidFill>
                <a:srgbClr val="626871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4" name="Rectangles 23"/>
          <p:cNvSpPr>
            <a:spLocks noGrp="1"/>
          </p:cNvSpPr>
          <p:nvPr/>
        </p:nvSpPr>
        <p:spPr>
          <a:xfrm>
            <a:off x="3009900" y="3600450"/>
            <a:ext cx="35433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425" b="0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rPr>
              <a:t>生成 response token</a:t>
            </a:r>
            <a:endParaRPr sz="1425" b="0">
              <a:solidFill>
                <a:srgbClr val="17191D"/>
              </a:solidFill>
              <a:latin typeface="Noto Sans CJK SC"/>
              <a:ea typeface="Noto Sans CJK SC"/>
              <a:cs typeface="Noto Sans CJK SC"/>
            </a:endParaRPr>
          </a:p>
          <a:p>
            <a:pPr algn="l">
              <a:defRPr sz="1425" b="0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rPr>
              <a:t>并记录 token LogP</a:t>
            </a:r>
            <a:endParaRPr sz="1425" b="0">
              <a:solidFill>
                <a:srgbClr val="17191D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5" name="Rectangles 24"/>
          <p:cNvSpPr>
            <a:spLocks noGrp="1"/>
          </p:cNvSpPr>
          <p:nvPr/>
        </p:nvSpPr>
        <p:spPr>
          <a:xfrm>
            <a:off x="7429500" y="3600450"/>
            <a:ext cx="36195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425" b="0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rPr>
              <a:t>对同一批 token</a:t>
            </a:r>
            <a:endParaRPr sz="1425" b="0">
              <a:solidFill>
                <a:srgbClr val="17191D"/>
              </a:solidFill>
              <a:latin typeface="Noto Sans CJK SC"/>
              <a:ea typeface="Noto Sans CJK SC"/>
              <a:cs typeface="Noto Sans CJK SC"/>
            </a:endParaRPr>
          </a:p>
          <a:p>
            <a:pPr algn="l">
              <a:defRPr sz="1425" b="0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rPr>
              <a:t>重新计算 selected-token LogP</a:t>
            </a:r>
            <a:endParaRPr sz="1425" b="0">
              <a:solidFill>
                <a:srgbClr val="17191D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6" name="Straight Connector 25"/>
          <p:cNvSpPr>
            <a:spLocks noGrp="1"/>
          </p:cNvSpPr>
          <p:nvPr/>
        </p:nvSpPr>
        <p:spPr>
          <a:xfrm>
            <a:off x="838200" y="4371975"/>
            <a:ext cx="10439400" cy="0"/>
          </a:xfrm>
          <a:prstGeom prst="line">
            <a:avLst/>
          </a:prstGeom>
          <a:noFill/>
          <a:ln w="9525">
            <a:solidFill>
              <a:srgbClr val="D6DAE0"/>
            </a:solidFill>
            <a:prstDash val="solid"/>
          </a:ln>
        </p:spPr>
      </p:sp>
      <p:sp>
        <p:nvSpPr>
          <p:cNvPr id="27" name="Rounded Rectangle 26"/>
          <p:cNvSpPr>
            <a:spLocks noGrp="1"/>
          </p:cNvSpPr>
          <p:nvPr/>
        </p:nvSpPr>
        <p:spPr>
          <a:xfrm>
            <a:off x="742950" y="4400550"/>
            <a:ext cx="10648950" cy="704850"/>
          </a:xfrm>
          <a:prstGeom prst="roundRect">
            <a:avLst>
              <a:gd name="adj" fmla="val 10811"/>
            </a:avLst>
          </a:prstGeom>
          <a:solidFill>
            <a:srgbClr val="F6F7F9"/>
          </a:solidFill>
          <a:ln w="9525">
            <a:solidFill>
              <a:srgbClr val="D6DAE0"/>
            </a:solidFill>
            <a:prstDash val="solid"/>
          </a:ln>
        </p:spPr>
      </p:sp>
      <p:sp>
        <p:nvSpPr>
          <p:cNvPr id="28" name="Rectangles 27"/>
          <p:cNvSpPr>
            <a:spLocks noGrp="1"/>
          </p:cNvSpPr>
          <p:nvPr/>
        </p:nvSpPr>
        <p:spPr>
          <a:xfrm>
            <a:off x="876300" y="4524375"/>
            <a:ext cx="1428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200" b="1">
                <a:solidFill>
                  <a:srgbClr val="62687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626871"/>
                </a:solidFill>
                <a:latin typeface="Noto Sans CJK SC"/>
                <a:ea typeface="Noto Sans CJK SC"/>
                <a:cs typeface="Noto Sans CJK SC"/>
              </a:rPr>
              <a:t>输出</a:t>
            </a:r>
            <a:endParaRPr sz="1200" b="1">
              <a:solidFill>
                <a:srgbClr val="626871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9" name="Rectangles 28"/>
          <p:cNvSpPr>
            <a:spLocks noGrp="1"/>
          </p:cNvSpPr>
          <p:nvPr/>
        </p:nvSpPr>
        <p:spPr>
          <a:xfrm>
            <a:off x="3009900" y="4476750"/>
            <a:ext cx="35433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800" b="1">
                <a:solidFill>
                  <a:srgbClr val="2E63D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2E63D9"/>
                </a:solidFill>
                <a:latin typeface="Noto Sans CJK SC"/>
                <a:ea typeface="Noto Sans CJK SC"/>
                <a:cs typeface="Noto Sans CJK SC"/>
              </a:rPr>
              <a:t>rollout_logp</a:t>
            </a:r>
            <a:endParaRPr sz="1800" b="1">
              <a:solidFill>
                <a:srgbClr val="2E63D9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0" name="Rectangles 29"/>
          <p:cNvSpPr>
            <a:spLocks noGrp="1"/>
          </p:cNvSpPr>
          <p:nvPr/>
        </p:nvSpPr>
        <p:spPr>
          <a:xfrm>
            <a:off x="7429500" y="4476750"/>
            <a:ext cx="36195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800" b="1">
                <a:solidFill>
                  <a:srgbClr val="E85D0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E85D0F"/>
                </a:solidFill>
                <a:latin typeface="Noto Sans CJK SC"/>
                <a:ea typeface="Noto Sans CJK SC"/>
                <a:cs typeface="Noto Sans CJK SC"/>
              </a:rPr>
              <a:t>train_logp</a:t>
            </a:r>
            <a:endParaRPr sz="1800" b="1">
              <a:solidFill>
                <a:srgbClr val="E85D0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1" name="Rectangles 30"/>
          <p:cNvSpPr>
            <a:spLocks noGrp="1"/>
          </p:cNvSpPr>
          <p:nvPr/>
        </p:nvSpPr>
        <p:spPr>
          <a:xfrm>
            <a:off x="876300" y="5486400"/>
            <a:ext cx="114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050" b="1">
                <a:solidFill>
                  <a:srgbClr val="989EA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989EA7"/>
                </a:solidFill>
                <a:latin typeface="Noto Sans CJK SC"/>
                <a:ea typeface="Noto Sans CJK SC"/>
                <a:cs typeface="Noto Sans CJK SC"/>
              </a:rPr>
              <a:t>比较位置</a:t>
            </a:r>
            <a:endParaRPr sz="1050" b="1">
              <a:solidFill>
                <a:srgbClr val="989EA7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2" name="Rectangles 31"/>
          <p:cNvSpPr>
            <a:spLocks noGrp="1"/>
          </p:cNvSpPr>
          <p:nvPr/>
        </p:nvSpPr>
        <p:spPr>
          <a:xfrm>
            <a:off x="3143250" y="5391150"/>
            <a:ext cx="2000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ctr">
              <a:defRPr sz="1725" b="1">
                <a:solidFill>
                  <a:srgbClr val="2E63D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2E63D9"/>
                </a:solidFill>
                <a:latin typeface="Noto Sans CJK SC"/>
                <a:ea typeface="Noto Sans CJK SC"/>
                <a:cs typeface="Noto Sans CJK SC"/>
              </a:rPr>
              <a:t>rollout_logp</a:t>
            </a:r>
            <a:endParaRPr sz="1725" b="1">
              <a:solidFill>
                <a:srgbClr val="2E63D9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3" name="Rectangles 32"/>
          <p:cNvSpPr>
            <a:spLocks noGrp="1"/>
          </p:cNvSpPr>
          <p:nvPr/>
        </p:nvSpPr>
        <p:spPr>
          <a:xfrm>
            <a:off x="5429250" y="5391150"/>
            <a:ext cx="1143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ctr">
              <a:defRPr sz="1875" b="1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rPr>
              <a:t>= ?</a:t>
            </a:r>
            <a:endParaRPr sz="1875" b="1">
              <a:solidFill>
                <a:srgbClr val="17191D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4" name="Rectangles 33"/>
          <p:cNvSpPr>
            <a:spLocks noGrp="1"/>
          </p:cNvSpPr>
          <p:nvPr/>
        </p:nvSpPr>
        <p:spPr>
          <a:xfrm>
            <a:off x="6858000" y="5391150"/>
            <a:ext cx="2000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ctr">
              <a:defRPr sz="1725" b="1">
                <a:solidFill>
                  <a:srgbClr val="E85D0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E85D0F"/>
                </a:solidFill>
                <a:latin typeface="Noto Sans CJK SC"/>
                <a:ea typeface="Noto Sans CJK SC"/>
                <a:cs typeface="Noto Sans CJK SC"/>
              </a:rPr>
              <a:t>train_logp</a:t>
            </a:r>
            <a:endParaRPr sz="1725" b="1">
              <a:solidFill>
                <a:srgbClr val="E85D0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5" name="Rectangles 34"/>
          <p:cNvSpPr>
            <a:spLocks noGrp="1"/>
          </p:cNvSpPr>
          <p:nvPr/>
        </p:nvSpPr>
        <p:spPr>
          <a:xfrm>
            <a:off x="9525000" y="5467350"/>
            <a:ext cx="1524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r">
              <a:defRPr sz="1200" b="1">
                <a:solidFill>
                  <a:srgbClr val="A8440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A8440D"/>
                </a:solidFill>
                <a:latin typeface="Noto Sans CJK SC"/>
                <a:ea typeface="Noto Sans CJK SC"/>
                <a:cs typeface="Noto Sans CJK SC"/>
              </a:rPr>
              <a:t>权重更新前</a:t>
            </a:r>
            <a:endParaRPr sz="1200" b="1">
              <a:solidFill>
                <a:srgbClr val="A8440D"/>
              </a:solidFill>
              <a:latin typeface="Noto Sans CJK SC"/>
              <a:ea typeface="Noto Sans CJK SC"/>
              <a:cs typeface="Noto Sans CJK SC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4" name="Rectangles 33"/>
          <p:cNvSpPr>
            <a:spLocks noGrp="1"/>
          </p:cNvSpPr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rgbClr val="111111"/>
          </a:solidFill>
          <a:ln w="0">
            <a:noFill/>
            <a:prstDash val="solid"/>
          </a:ln>
        </p:spPr>
      </p:sp>
      <p:sp>
        <p:nvSpPr>
          <p:cNvPr id="2" name="Rectangles 1"/>
          <p:cNvSpPr>
            <a:spLocks noGrp="1"/>
          </p:cNvSpPr>
          <p:nvPr/>
        </p:nvSpPr>
        <p:spPr>
          <a:xfrm>
            <a:off x="0" y="6667500"/>
            <a:ext cx="12192000" cy="190500"/>
          </a:xfrm>
          <a:prstGeom prst="rect">
            <a:avLst/>
          </a:prstGeom>
          <a:solidFill>
            <a:srgbClr val="111111"/>
          </a:solidFill>
          <a:ln w="0">
            <a:noFill/>
            <a:prstDash val="solid"/>
          </a:ln>
        </p:spPr>
      </p:sp>
      <p:sp>
        <p:nvSpPr>
          <p:cNvPr id="3" name="Straight Connector 2"/>
          <p:cNvSpPr>
            <a:spLocks noGrp="1"/>
          </p:cNvSpPr>
          <p:nvPr/>
        </p:nvSpPr>
        <p:spPr>
          <a:xfrm>
            <a:off x="609600" y="342900"/>
            <a:ext cx="0" cy="552450"/>
          </a:xfrm>
          <a:prstGeom prst="line">
            <a:avLst/>
          </a:prstGeom>
          <a:noFill/>
          <a:ln w="28575">
            <a:solidFill>
              <a:srgbClr val="E85D0F"/>
            </a:solidFill>
            <a:prstDash val="solid"/>
          </a:ln>
        </p:spPr>
      </p:sp>
      <p:sp>
        <p:nvSpPr>
          <p:cNvPr id="4" name="Rectangles 3"/>
          <p:cNvSpPr>
            <a:spLocks noGrp="1"/>
          </p:cNvSpPr>
          <p:nvPr/>
        </p:nvSpPr>
        <p:spPr>
          <a:xfrm>
            <a:off x="781050" y="323850"/>
            <a:ext cx="5429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975" b="0">
                <a:solidFill>
                  <a:srgbClr val="62687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626871"/>
                </a:solidFill>
                <a:latin typeface="Noto Sans CJK SC"/>
                <a:ea typeface="Noto Sans CJK SC"/>
                <a:cs typeface="Noto Sans CJK SC"/>
              </a:rPr>
              <a:t>01  问题背景</a:t>
            </a:r>
            <a:endParaRPr sz="975" b="0">
              <a:solidFill>
                <a:srgbClr val="626871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" name="Rectangles 4"/>
          <p:cNvSpPr>
            <a:spLocks noGrp="1"/>
          </p:cNvSpPr>
          <p:nvPr/>
        </p:nvSpPr>
        <p:spPr>
          <a:xfrm>
            <a:off x="781050" y="657225"/>
            <a:ext cx="107632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2700" b="1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700" b="1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rPr>
              <a:t>LogP 偏差会提前改变 importance ratio</a:t>
            </a:r>
            <a:endParaRPr sz="2700" b="1">
              <a:solidFill>
                <a:srgbClr val="17191D"/>
              </a:solidFill>
              <a:latin typeface="Noto Sans CJK SC"/>
              <a:ea typeface="Noto Sans CJK SC"/>
              <a:cs typeface="Noto Sans CJK SC"/>
            </a:endParaRPr>
          </a:p>
        </p:txBody>
      </p:sp>
      <p:pic>
        <p:nvPicPr>
          <p:cNvPr id="39" name="Picture 3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91750" y="6238875"/>
            <a:ext cx="228600" cy="285750"/>
          </a:xfrm>
          <a:prstGeom prst="rect">
            <a:avLst/>
          </a:prstGeom>
        </p:spPr>
      </p:pic>
      <p:sp>
        <p:nvSpPr>
          <p:cNvPr id="7" name="Rectangles 6"/>
          <p:cNvSpPr>
            <a:spLocks noGrp="1"/>
          </p:cNvSpPr>
          <p:nvPr/>
        </p:nvSpPr>
        <p:spPr>
          <a:xfrm>
            <a:off x="10487025" y="6286500"/>
            <a:ext cx="1047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750" b="1">
                <a:solidFill>
                  <a:srgbClr val="62687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50" b="1">
                <a:solidFill>
                  <a:srgbClr val="626871"/>
                </a:solidFill>
                <a:latin typeface="Noto Sans CJK SC"/>
                <a:ea typeface="Noto Sans CJK SC"/>
                <a:cs typeface="Noto Sans CJK SC"/>
              </a:rPr>
              <a:t>RL-ALIGN</a:t>
            </a:r>
            <a:endParaRPr sz="750" b="1">
              <a:solidFill>
                <a:srgbClr val="626871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8" name="Rectangles 7"/>
          <p:cNvSpPr>
            <a:spLocks noGrp="1"/>
          </p:cNvSpPr>
          <p:nvPr/>
        </p:nvSpPr>
        <p:spPr>
          <a:xfrm>
            <a:off x="609600" y="6343650"/>
            <a:ext cx="4000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750" b="0">
                <a:solidFill>
                  <a:srgbClr val="989EA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50" b="0">
                <a:solidFill>
                  <a:srgbClr val="989EA7"/>
                </a:solidFill>
                <a:latin typeface="Noto Sans CJK SC"/>
                <a:ea typeface="Noto Sans CJK SC"/>
                <a:cs typeface="Noto Sans CJK SC"/>
              </a:rPr>
              <a:t>04</a:t>
            </a:r>
            <a:endParaRPr sz="750" b="0">
              <a:solidFill>
                <a:srgbClr val="989EA7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" name="Rectangles 8"/>
          <p:cNvSpPr>
            <a:spLocks noGrp="1"/>
          </p:cNvSpPr>
          <p:nvPr/>
        </p:nvSpPr>
        <p:spPr>
          <a:xfrm>
            <a:off x="857250" y="1809750"/>
            <a:ext cx="1428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975" b="1">
                <a:solidFill>
                  <a:srgbClr val="2E63D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1">
                <a:solidFill>
                  <a:srgbClr val="2E63D9"/>
                </a:solidFill>
                <a:latin typeface="Noto Sans CJK SC"/>
                <a:ea typeface="Noto Sans CJK SC"/>
                <a:cs typeface="Noto Sans CJK SC"/>
              </a:rPr>
              <a:t>Rollout</a:t>
            </a:r>
            <a:endParaRPr sz="975" b="1">
              <a:solidFill>
                <a:srgbClr val="2E63D9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" name="Rectangles 9"/>
          <p:cNvSpPr>
            <a:spLocks noGrp="1"/>
          </p:cNvSpPr>
          <p:nvPr/>
        </p:nvSpPr>
        <p:spPr>
          <a:xfrm>
            <a:off x="857250" y="3352800"/>
            <a:ext cx="1428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975" b="1">
                <a:solidFill>
                  <a:srgbClr val="E85D0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1">
                <a:solidFill>
                  <a:srgbClr val="E85D0F"/>
                </a:solidFill>
                <a:latin typeface="Noto Sans CJK SC"/>
                <a:ea typeface="Noto Sans CJK SC"/>
                <a:cs typeface="Noto Sans CJK SC"/>
              </a:rPr>
              <a:t>Training</a:t>
            </a:r>
            <a:endParaRPr sz="975" b="1">
              <a:solidFill>
                <a:srgbClr val="E85D0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1" name="Straight Connector 10"/>
          <p:cNvSpPr>
            <a:spLocks noGrp="1"/>
          </p:cNvSpPr>
          <p:nvPr/>
        </p:nvSpPr>
        <p:spPr>
          <a:xfrm>
            <a:off x="2419350" y="2057400"/>
            <a:ext cx="7029450" cy="0"/>
          </a:xfrm>
          <a:prstGeom prst="line">
            <a:avLst/>
          </a:prstGeom>
          <a:noFill/>
          <a:ln w="57150">
            <a:solidFill>
              <a:srgbClr val="2E63D9"/>
            </a:solidFill>
            <a:prstDash val="solid"/>
          </a:ln>
        </p:spPr>
      </p:sp>
      <p:sp>
        <p:nvSpPr>
          <p:cNvPr id="12" name="Straight Connector 11"/>
          <p:cNvSpPr>
            <a:spLocks noGrp="1"/>
          </p:cNvSpPr>
          <p:nvPr/>
        </p:nvSpPr>
        <p:spPr>
          <a:xfrm>
            <a:off x="2419350" y="3600450"/>
            <a:ext cx="7029450" cy="0"/>
          </a:xfrm>
          <a:prstGeom prst="line">
            <a:avLst/>
          </a:prstGeom>
          <a:noFill/>
          <a:ln w="57150">
            <a:solidFill>
              <a:srgbClr val="E85D0F"/>
            </a:solidFill>
            <a:prstDash val="solid"/>
          </a:ln>
        </p:spPr>
      </p:sp>
      <p:sp>
        <p:nvSpPr>
          <p:cNvPr id="13" name="Oval 12"/>
          <p:cNvSpPr>
            <a:spLocks noGrp="1"/>
          </p:cNvSpPr>
          <p:nvPr/>
        </p:nvSpPr>
        <p:spPr>
          <a:xfrm>
            <a:off x="2590800" y="1838325"/>
            <a:ext cx="438150" cy="438150"/>
          </a:xfrm>
          <a:prstGeom prst="ellipse">
            <a:avLst/>
          </a:prstGeom>
          <a:solidFill>
            <a:srgbClr val="EEF3FF"/>
          </a:solidFill>
          <a:ln w="19050">
            <a:solidFill>
              <a:srgbClr val="2E63D9"/>
            </a:solidFill>
            <a:prstDash val="solid"/>
          </a:ln>
        </p:spPr>
      </p:sp>
      <p:sp>
        <p:nvSpPr>
          <p:cNvPr id="14" name="Oval 13"/>
          <p:cNvSpPr>
            <a:spLocks noGrp="1"/>
          </p:cNvSpPr>
          <p:nvPr/>
        </p:nvSpPr>
        <p:spPr>
          <a:xfrm>
            <a:off x="2590800" y="3381375"/>
            <a:ext cx="438150" cy="438150"/>
          </a:xfrm>
          <a:prstGeom prst="ellipse">
            <a:avLst/>
          </a:prstGeom>
          <a:solidFill>
            <a:srgbClr val="FFF1E8"/>
          </a:solidFill>
          <a:ln w="19050">
            <a:solidFill>
              <a:srgbClr val="E85D0F"/>
            </a:solidFill>
            <a:prstDash val="solid"/>
          </a:ln>
        </p:spPr>
      </p:sp>
      <p:sp>
        <p:nvSpPr>
          <p:cNvPr id="15" name="Oval 14"/>
          <p:cNvSpPr>
            <a:spLocks noGrp="1"/>
          </p:cNvSpPr>
          <p:nvPr/>
        </p:nvSpPr>
        <p:spPr>
          <a:xfrm>
            <a:off x="4229100" y="1838325"/>
            <a:ext cx="438150" cy="438150"/>
          </a:xfrm>
          <a:prstGeom prst="ellipse">
            <a:avLst/>
          </a:prstGeom>
          <a:solidFill>
            <a:srgbClr val="EEF3FF"/>
          </a:solidFill>
          <a:ln w="19050">
            <a:solidFill>
              <a:srgbClr val="2E63D9"/>
            </a:solidFill>
            <a:prstDash val="solid"/>
          </a:ln>
        </p:spPr>
      </p:sp>
      <p:sp>
        <p:nvSpPr>
          <p:cNvPr id="16" name="Oval 15"/>
          <p:cNvSpPr>
            <a:spLocks noGrp="1"/>
          </p:cNvSpPr>
          <p:nvPr/>
        </p:nvSpPr>
        <p:spPr>
          <a:xfrm>
            <a:off x="4229100" y="3381375"/>
            <a:ext cx="438150" cy="438150"/>
          </a:xfrm>
          <a:prstGeom prst="ellipse">
            <a:avLst/>
          </a:prstGeom>
          <a:solidFill>
            <a:srgbClr val="FFF1E8"/>
          </a:solidFill>
          <a:ln w="19050">
            <a:solidFill>
              <a:srgbClr val="E85D0F"/>
            </a:solidFill>
            <a:prstDash val="solid"/>
          </a:ln>
        </p:spPr>
      </p:sp>
      <p:sp>
        <p:nvSpPr>
          <p:cNvPr id="17" name="Oval 16"/>
          <p:cNvSpPr>
            <a:spLocks noGrp="1"/>
          </p:cNvSpPr>
          <p:nvPr/>
        </p:nvSpPr>
        <p:spPr>
          <a:xfrm>
            <a:off x="5867400" y="1838325"/>
            <a:ext cx="438150" cy="438150"/>
          </a:xfrm>
          <a:prstGeom prst="ellipse">
            <a:avLst/>
          </a:prstGeom>
          <a:solidFill>
            <a:srgbClr val="EEF3FF"/>
          </a:solidFill>
          <a:ln w="19050">
            <a:solidFill>
              <a:srgbClr val="2E63D9"/>
            </a:solidFill>
            <a:prstDash val="solid"/>
          </a:ln>
        </p:spPr>
      </p:sp>
      <p:sp>
        <p:nvSpPr>
          <p:cNvPr id="18" name="Oval 17"/>
          <p:cNvSpPr>
            <a:spLocks noGrp="1"/>
          </p:cNvSpPr>
          <p:nvPr/>
        </p:nvSpPr>
        <p:spPr>
          <a:xfrm>
            <a:off x="5867400" y="3381375"/>
            <a:ext cx="438150" cy="438150"/>
          </a:xfrm>
          <a:prstGeom prst="ellipse">
            <a:avLst/>
          </a:prstGeom>
          <a:solidFill>
            <a:srgbClr val="FFF1E8"/>
          </a:solidFill>
          <a:ln w="19050">
            <a:solidFill>
              <a:srgbClr val="E85D0F"/>
            </a:solidFill>
            <a:prstDash val="solid"/>
          </a:ln>
        </p:spPr>
      </p:sp>
      <p:sp>
        <p:nvSpPr>
          <p:cNvPr id="19" name="Oval 18"/>
          <p:cNvSpPr>
            <a:spLocks noGrp="1"/>
          </p:cNvSpPr>
          <p:nvPr/>
        </p:nvSpPr>
        <p:spPr>
          <a:xfrm>
            <a:off x="7505700" y="1838325"/>
            <a:ext cx="438150" cy="438150"/>
          </a:xfrm>
          <a:prstGeom prst="ellipse">
            <a:avLst/>
          </a:prstGeom>
          <a:solidFill>
            <a:srgbClr val="EEF3FF"/>
          </a:solidFill>
          <a:ln w="19050">
            <a:solidFill>
              <a:srgbClr val="2E63D9"/>
            </a:solidFill>
            <a:prstDash val="solid"/>
          </a:ln>
        </p:spPr>
      </p:sp>
      <p:sp>
        <p:nvSpPr>
          <p:cNvPr id="20" name="Oval 19"/>
          <p:cNvSpPr>
            <a:spLocks noGrp="1"/>
          </p:cNvSpPr>
          <p:nvPr/>
        </p:nvSpPr>
        <p:spPr>
          <a:xfrm>
            <a:off x="7505700" y="3381375"/>
            <a:ext cx="438150" cy="43815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84040"/>
            </a:solidFill>
            <a:prstDash val="solid"/>
          </a:ln>
        </p:spPr>
      </p:sp>
      <p:sp>
        <p:nvSpPr>
          <p:cNvPr id="21" name="Oval 20"/>
          <p:cNvSpPr>
            <a:spLocks noGrp="1"/>
          </p:cNvSpPr>
          <p:nvPr/>
        </p:nvSpPr>
        <p:spPr>
          <a:xfrm>
            <a:off x="9144000" y="1838325"/>
            <a:ext cx="438150" cy="438150"/>
          </a:xfrm>
          <a:prstGeom prst="ellipse">
            <a:avLst/>
          </a:prstGeom>
          <a:solidFill>
            <a:srgbClr val="EEF3FF"/>
          </a:solidFill>
          <a:ln w="19050">
            <a:solidFill>
              <a:srgbClr val="2E63D9"/>
            </a:solidFill>
            <a:prstDash val="solid"/>
          </a:ln>
        </p:spPr>
      </p:sp>
      <p:sp>
        <p:nvSpPr>
          <p:cNvPr id="22" name="Oval 21"/>
          <p:cNvSpPr>
            <a:spLocks noGrp="1"/>
          </p:cNvSpPr>
          <p:nvPr/>
        </p:nvSpPr>
        <p:spPr>
          <a:xfrm>
            <a:off x="9144000" y="3381375"/>
            <a:ext cx="438150" cy="43815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84040"/>
            </a:solidFill>
            <a:prstDash val="solid"/>
          </a:ln>
        </p:spPr>
      </p:sp>
      <p:sp>
        <p:nvSpPr>
          <p:cNvPr id="23" name="Straight Connector 22"/>
          <p:cNvSpPr>
            <a:spLocks noGrp="1"/>
          </p:cNvSpPr>
          <p:nvPr/>
        </p:nvSpPr>
        <p:spPr>
          <a:xfrm>
            <a:off x="2809875" y="2276475"/>
            <a:ext cx="0" cy="1104900"/>
          </a:xfrm>
          <a:prstGeom prst="line">
            <a:avLst/>
          </a:prstGeom>
          <a:noFill/>
          <a:ln w="9525">
            <a:solidFill>
              <a:srgbClr val="D6DAE0"/>
            </a:solidFill>
            <a:prstDash val="solid"/>
          </a:ln>
        </p:spPr>
      </p:sp>
      <p:sp>
        <p:nvSpPr>
          <p:cNvPr id="24" name="Straight Connector 23"/>
          <p:cNvSpPr>
            <a:spLocks noGrp="1"/>
          </p:cNvSpPr>
          <p:nvPr/>
        </p:nvSpPr>
        <p:spPr>
          <a:xfrm>
            <a:off x="4448175" y="2276475"/>
            <a:ext cx="0" cy="1104900"/>
          </a:xfrm>
          <a:prstGeom prst="line">
            <a:avLst/>
          </a:prstGeom>
          <a:noFill/>
          <a:ln w="9525">
            <a:solidFill>
              <a:srgbClr val="D6DAE0"/>
            </a:solidFill>
            <a:prstDash val="solid"/>
          </a:ln>
        </p:spPr>
      </p:sp>
      <p:sp>
        <p:nvSpPr>
          <p:cNvPr id="25" name="Straight Connector 24"/>
          <p:cNvSpPr>
            <a:spLocks noGrp="1"/>
          </p:cNvSpPr>
          <p:nvPr/>
        </p:nvSpPr>
        <p:spPr>
          <a:xfrm>
            <a:off x="6086475" y="2276475"/>
            <a:ext cx="0" cy="1104900"/>
          </a:xfrm>
          <a:prstGeom prst="line">
            <a:avLst/>
          </a:prstGeom>
          <a:noFill/>
          <a:ln w="9525">
            <a:solidFill>
              <a:srgbClr val="D6DAE0"/>
            </a:solidFill>
            <a:prstDash val="solid"/>
          </a:ln>
        </p:spPr>
      </p:sp>
      <p:sp>
        <p:nvSpPr>
          <p:cNvPr id="26" name="Straight Connector 25"/>
          <p:cNvSpPr>
            <a:spLocks noGrp="1"/>
          </p:cNvSpPr>
          <p:nvPr/>
        </p:nvSpPr>
        <p:spPr>
          <a:xfrm>
            <a:off x="7724775" y="2276475"/>
            <a:ext cx="0" cy="1104900"/>
          </a:xfrm>
          <a:prstGeom prst="line">
            <a:avLst/>
          </a:prstGeom>
          <a:noFill/>
          <a:ln w="19050">
            <a:solidFill>
              <a:srgbClr val="C84040"/>
            </a:solidFill>
            <a:prstDash val="solid"/>
          </a:ln>
        </p:spPr>
      </p:sp>
      <p:sp>
        <p:nvSpPr>
          <p:cNvPr id="27" name="Rectangles 26"/>
          <p:cNvSpPr>
            <a:spLocks noGrp="1"/>
          </p:cNvSpPr>
          <p:nvPr/>
        </p:nvSpPr>
        <p:spPr>
          <a:xfrm>
            <a:off x="7886700" y="2724150"/>
            <a:ext cx="1238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125" b="1">
                <a:solidFill>
                  <a:srgbClr val="C8404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C84040"/>
                </a:solidFill>
                <a:latin typeface="Noto Sans CJK SC"/>
                <a:ea typeface="Noto Sans CJK SC"/>
                <a:cs typeface="Noto Sans CJK SC"/>
              </a:rPr>
              <a:t>第一处差异</a:t>
            </a:r>
            <a:endParaRPr sz="1125" b="1">
              <a:solidFill>
                <a:srgbClr val="C84040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8" name="Rounded Rectangle 27"/>
          <p:cNvSpPr>
            <a:spLocks noGrp="1"/>
          </p:cNvSpPr>
          <p:nvPr/>
        </p:nvSpPr>
        <p:spPr>
          <a:xfrm>
            <a:off x="9772650" y="1809750"/>
            <a:ext cx="1657350" cy="2019300"/>
          </a:xfrm>
          <a:prstGeom prst="roundRect">
            <a:avLst>
              <a:gd name="adj" fmla="val 8046"/>
            </a:avLst>
          </a:prstGeom>
          <a:solidFill>
            <a:srgbClr val="F6F7F9"/>
          </a:solidFill>
          <a:ln w="9525">
            <a:solidFill>
              <a:srgbClr val="D6DAE0"/>
            </a:solidFill>
            <a:prstDash val="solid"/>
          </a:ln>
        </p:spPr>
      </p:sp>
      <p:sp>
        <p:nvSpPr>
          <p:cNvPr id="29" name="Rectangles 28"/>
          <p:cNvSpPr>
            <a:spLocks noGrp="1"/>
          </p:cNvSpPr>
          <p:nvPr/>
        </p:nvSpPr>
        <p:spPr>
          <a:xfrm>
            <a:off x="9886950" y="2133600"/>
            <a:ext cx="1428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ctr">
              <a:defRPr sz="1275" b="1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rPr>
              <a:t>importance ratio</a:t>
            </a:r>
            <a:endParaRPr sz="1275" b="1">
              <a:solidFill>
                <a:srgbClr val="17191D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0" name="Rectangles 29"/>
          <p:cNvSpPr>
            <a:spLocks noGrp="1"/>
          </p:cNvSpPr>
          <p:nvPr/>
        </p:nvSpPr>
        <p:spPr>
          <a:xfrm>
            <a:off x="9867900" y="2781300"/>
            <a:ext cx="14668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ctr">
              <a:defRPr sz="2400" b="1">
                <a:solidFill>
                  <a:srgbClr val="C8404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>
                <a:solidFill>
                  <a:srgbClr val="C84040"/>
                </a:solidFill>
                <a:latin typeface="Noto Sans CJK SC"/>
                <a:ea typeface="Noto Sans CJK SC"/>
                <a:cs typeface="Noto Sans CJK SC"/>
              </a:rPr>
              <a:t>远离 1</a:t>
            </a:r>
            <a:endParaRPr sz="2400" b="1">
              <a:solidFill>
                <a:srgbClr val="C84040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1" name="Rectangles 30"/>
          <p:cNvSpPr>
            <a:spLocks noGrp="1"/>
          </p:cNvSpPr>
          <p:nvPr/>
        </p:nvSpPr>
        <p:spPr>
          <a:xfrm>
            <a:off x="9886950" y="3352800"/>
            <a:ext cx="1428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ctr">
              <a:defRPr sz="1050" b="0">
                <a:solidFill>
                  <a:srgbClr val="62687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626871"/>
                </a:solidFill>
                <a:latin typeface="Noto Sans CJK SC"/>
                <a:ea typeface="Noto Sans CJK SC"/>
                <a:cs typeface="Noto Sans CJK SC"/>
              </a:rPr>
              <a:t>提前触发 clipping</a:t>
            </a:r>
            <a:endParaRPr sz="1050" b="0">
              <a:solidFill>
                <a:srgbClr val="626871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2" name="Straight Connector 31"/>
          <p:cNvSpPr>
            <a:spLocks noGrp="1"/>
          </p:cNvSpPr>
          <p:nvPr/>
        </p:nvSpPr>
        <p:spPr>
          <a:xfrm>
            <a:off x="1028700" y="4724400"/>
            <a:ext cx="495300" cy="0"/>
          </a:xfrm>
          <a:prstGeom prst="line">
            <a:avLst/>
          </a:prstGeom>
          <a:noFill/>
          <a:ln w="28575">
            <a:solidFill>
              <a:srgbClr val="E85D0F"/>
            </a:solidFill>
            <a:prstDash val="solid"/>
          </a:ln>
        </p:spPr>
      </p:sp>
      <p:sp>
        <p:nvSpPr>
          <p:cNvPr id="33" name="Rectangles 32"/>
          <p:cNvSpPr>
            <a:spLocks noGrp="1"/>
          </p:cNvSpPr>
          <p:nvPr/>
        </p:nvSpPr>
        <p:spPr>
          <a:xfrm>
            <a:off x="1714500" y="4629150"/>
            <a:ext cx="944880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l">
              <a:defRPr sz="1350" b="0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rPr>
              <a:t>权重更新前，train_logp 应与 rollout_logp 一致。但是，由于 train 和 rollout 引擎的底层算子路径不同，两者仍可能出现偏差。出现偏差后，importance ratio 会远离 1，并可能提前触发 clipping。</a:t>
            </a:r>
            <a:endParaRPr sz="1350" b="0">
              <a:solidFill>
                <a:srgbClr val="17191D"/>
              </a:solidFill>
              <a:latin typeface="Noto Sans CJK SC"/>
              <a:ea typeface="Noto Sans CJK SC"/>
              <a:cs typeface="Noto Sans CJK SC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9" name="Rectangles 28"/>
          <p:cNvSpPr>
            <a:spLocks noGrp="1"/>
          </p:cNvSpPr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rgbClr val="111111"/>
          </a:solidFill>
          <a:ln w="0">
            <a:noFill/>
            <a:prstDash val="solid"/>
          </a:ln>
        </p:spPr>
      </p:sp>
      <p:sp>
        <p:nvSpPr>
          <p:cNvPr id="2" name="Rectangles 1"/>
          <p:cNvSpPr>
            <a:spLocks noGrp="1"/>
          </p:cNvSpPr>
          <p:nvPr/>
        </p:nvSpPr>
        <p:spPr>
          <a:xfrm>
            <a:off x="0" y="6667500"/>
            <a:ext cx="12192000" cy="190500"/>
          </a:xfrm>
          <a:prstGeom prst="rect">
            <a:avLst/>
          </a:prstGeom>
          <a:solidFill>
            <a:srgbClr val="111111"/>
          </a:solidFill>
          <a:ln w="0">
            <a:noFill/>
            <a:prstDash val="solid"/>
          </a:ln>
        </p:spPr>
      </p:sp>
      <p:sp>
        <p:nvSpPr>
          <p:cNvPr id="3" name="Straight Connector 2"/>
          <p:cNvSpPr>
            <a:spLocks noGrp="1"/>
          </p:cNvSpPr>
          <p:nvPr/>
        </p:nvSpPr>
        <p:spPr>
          <a:xfrm>
            <a:off x="609600" y="342900"/>
            <a:ext cx="0" cy="552450"/>
          </a:xfrm>
          <a:prstGeom prst="line">
            <a:avLst/>
          </a:prstGeom>
          <a:noFill/>
          <a:ln w="28575">
            <a:solidFill>
              <a:srgbClr val="E85D0F"/>
            </a:solidFill>
            <a:prstDash val="solid"/>
          </a:ln>
        </p:spPr>
      </p:sp>
      <p:sp>
        <p:nvSpPr>
          <p:cNvPr id="4" name="Rectangles 3"/>
          <p:cNvSpPr>
            <a:spLocks noGrp="1"/>
          </p:cNvSpPr>
          <p:nvPr/>
        </p:nvSpPr>
        <p:spPr>
          <a:xfrm>
            <a:off x="781050" y="323850"/>
            <a:ext cx="5429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975" b="0">
                <a:solidFill>
                  <a:srgbClr val="62687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626871"/>
                </a:solidFill>
                <a:latin typeface="Noto Sans CJK SC"/>
                <a:ea typeface="Noto Sans CJK SC"/>
                <a:cs typeface="Noto Sans CJK SC"/>
              </a:rPr>
              <a:t>01  问题背景</a:t>
            </a:r>
            <a:endParaRPr sz="975" b="0">
              <a:solidFill>
                <a:srgbClr val="626871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" name="Rectangles 4"/>
          <p:cNvSpPr>
            <a:spLocks noGrp="1"/>
          </p:cNvSpPr>
          <p:nvPr/>
        </p:nvSpPr>
        <p:spPr>
          <a:xfrm>
            <a:off x="781050" y="657225"/>
            <a:ext cx="107632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2700" b="1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700" b="1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rPr>
              <a:t>浮点归约顺序会影响计算结果</a:t>
            </a:r>
            <a:endParaRPr sz="2700" b="1">
              <a:solidFill>
                <a:srgbClr val="17191D"/>
              </a:solidFill>
              <a:latin typeface="Noto Sans CJK SC"/>
              <a:ea typeface="Noto Sans CJK SC"/>
              <a:cs typeface="Noto Sans CJK SC"/>
            </a:endParaRPr>
          </a:p>
        </p:txBody>
      </p:sp>
      <p:pic>
        <p:nvPicPr>
          <p:cNvPr id="34" name="Picture 3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91750" y="6238875"/>
            <a:ext cx="228600" cy="285750"/>
          </a:xfrm>
          <a:prstGeom prst="rect">
            <a:avLst/>
          </a:prstGeom>
        </p:spPr>
      </p:pic>
      <p:sp>
        <p:nvSpPr>
          <p:cNvPr id="7" name="Rectangles 6"/>
          <p:cNvSpPr>
            <a:spLocks noGrp="1"/>
          </p:cNvSpPr>
          <p:nvPr/>
        </p:nvSpPr>
        <p:spPr>
          <a:xfrm>
            <a:off x="10487025" y="6286500"/>
            <a:ext cx="1047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750" b="1">
                <a:solidFill>
                  <a:srgbClr val="62687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50" b="1">
                <a:solidFill>
                  <a:srgbClr val="626871"/>
                </a:solidFill>
                <a:latin typeface="Noto Sans CJK SC"/>
                <a:ea typeface="Noto Sans CJK SC"/>
                <a:cs typeface="Noto Sans CJK SC"/>
              </a:rPr>
              <a:t>RL-ALIGN</a:t>
            </a:r>
            <a:endParaRPr sz="750" b="1">
              <a:solidFill>
                <a:srgbClr val="626871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8" name="Rectangles 7"/>
          <p:cNvSpPr>
            <a:spLocks noGrp="1"/>
          </p:cNvSpPr>
          <p:nvPr/>
        </p:nvSpPr>
        <p:spPr>
          <a:xfrm>
            <a:off x="609600" y="6343650"/>
            <a:ext cx="4000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750" b="0">
                <a:solidFill>
                  <a:srgbClr val="989EA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50" b="0">
                <a:solidFill>
                  <a:srgbClr val="989EA7"/>
                </a:solidFill>
                <a:latin typeface="Noto Sans CJK SC"/>
                <a:ea typeface="Noto Sans CJK SC"/>
                <a:cs typeface="Noto Sans CJK SC"/>
              </a:rPr>
              <a:t>05</a:t>
            </a:r>
            <a:endParaRPr sz="750" b="0">
              <a:solidFill>
                <a:srgbClr val="989EA7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" name="Rectangles 8"/>
          <p:cNvSpPr>
            <a:spLocks noGrp="1"/>
          </p:cNvSpPr>
          <p:nvPr/>
        </p:nvSpPr>
        <p:spPr>
          <a:xfrm>
            <a:off x="838200" y="1581150"/>
            <a:ext cx="2667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500" b="1">
                <a:solidFill>
                  <a:srgbClr val="62687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626871"/>
                </a:solidFill>
                <a:latin typeface="Noto Sans CJK SC"/>
                <a:ea typeface="Noto Sans CJK SC"/>
                <a:cs typeface="Noto Sans CJK SC"/>
              </a:rPr>
              <a:t>同样的四个输入</a:t>
            </a:r>
            <a:endParaRPr sz="1500" b="1">
              <a:solidFill>
                <a:srgbClr val="626871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" name="Oval 9"/>
          <p:cNvSpPr>
            <a:spLocks noGrp="1"/>
          </p:cNvSpPr>
          <p:nvPr/>
        </p:nvSpPr>
        <p:spPr>
          <a:xfrm>
            <a:off x="952500" y="2076450"/>
            <a:ext cx="609600" cy="6096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6DAE0"/>
            </a:solidFill>
            <a:prstDash val="solid"/>
          </a:ln>
        </p:spPr>
      </p:sp>
      <p:sp>
        <p:nvSpPr>
          <p:cNvPr id="11" name="Rectangles 10"/>
          <p:cNvSpPr>
            <a:spLocks noGrp="1"/>
          </p:cNvSpPr>
          <p:nvPr/>
        </p:nvSpPr>
        <p:spPr>
          <a:xfrm>
            <a:off x="952500" y="2219325"/>
            <a:ext cx="6096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ctr">
              <a:defRPr sz="1725" b="1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rPr>
              <a:t>a</a:t>
            </a:r>
            <a:endParaRPr sz="1725" b="1">
              <a:solidFill>
                <a:srgbClr val="17191D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2" name="Oval 11"/>
          <p:cNvSpPr>
            <a:spLocks noGrp="1"/>
          </p:cNvSpPr>
          <p:nvPr/>
        </p:nvSpPr>
        <p:spPr>
          <a:xfrm>
            <a:off x="2152650" y="2076450"/>
            <a:ext cx="609600" cy="6096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6DAE0"/>
            </a:solidFill>
            <a:prstDash val="solid"/>
          </a:ln>
        </p:spPr>
      </p:sp>
      <p:sp>
        <p:nvSpPr>
          <p:cNvPr id="13" name="Rectangles 12"/>
          <p:cNvSpPr>
            <a:spLocks noGrp="1"/>
          </p:cNvSpPr>
          <p:nvPr/>
        </p:nvSpPr>
        <p:spPr>
          <a:xfrm>
            <a:off x="2152650" y="2219325"/>
            <a:ext cx="6096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ctr">
              <a:defRPr sz="1725" b="1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rPr>
              <a:t>b</a:t>
            </a:r>
            <a:endParaRPr sz="1725" b="1">
              <a:solidFill>
                <a:srgbClr val="17191D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4" name="Oval 13"/>
          <p:cNvSpPr>
            <a:spLocks noGrp="1"/>
          </p:cNvSpPr>
          <p:nvPr/>
        </p:nvSpPr>
        <p:spPr>
          <a:xfrm>
            <a:off x="3352800" y="2076450"/>
            <a:ext cx="609600" cy="6096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6DAE0"/>
            </a:solidFill>
            <a:prstDash val="solid"/>
          </a:ln>
        </p:spPr>
      </p:sp>
      <p:sp>
        <p:nvSpPr>
          <p:cNvPr id="15" name="Rectangles 14"/>
          <p:cNvSpPr>
            <a:spLocks noGrp="1"/>
          </p:cNvSpPr>
          <p:nvPr/>
        </p:nvSpPr>
        <p:spPr>
          <a:xfrm>
            <a:off x="3352800" y="2219325"/>
            <a:ext cx="6096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ctr">
              <a:defRPr sz="1725" b="1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rPr>
              <a:t>c</a:t>
            </a:r>
            <a:endParaRPr sz="1725" b="1">
              <a:solidFill>
                <a:srgbClr val="17191D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6" name="Oval 15"/>
          <p:cNvSpPr>
            <a:spLocks noGrp="1"/>
          </p:cNvSpPr>
          <p:nvPr/>
        </p:nvSpPr>
        <p:spPr>
          <a:xfrm>
            <a:off x="4552950" y="2076450"/>
            <a:ext cx="609600" cy="6096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6DAE0"/>
            </a:solidFill>
            <a:prstDash val="solid"/>
          </a:ln>
        </p:spPr>
      </p:sp>
      <p:sp>
        <p:nvSpPr>
          <p:cNvPr id="17" name="Rectangles 16"/>
          <p:cNvSpPr>
            <a:spLocks noGrp="1"/>
          </p:cNvSpPr>
          <p:nvPr/>
        </p:nvSpPr>
        <p:spPr>
          <a:xfrm>
            <a:off x="4552950" y="2219325"/>
            <a:ext cx="6096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ctr">
              <a:defRPr sz="1725" b="1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rPr>
              <a:t>d</a:t>
            </a:r>
            <a:endParaRPr sz="1725" b="1">
              <a:solidFill>
                <a:srgbClr val="17191D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8" name="Rectangles 17"/>
          <p:cNvSpPr>
            <a:spLocks noGrp="1"/>
          </p:cNvSpPr>
          <p:nvPr/>
        </p:nvSpPr>
        <p:spPr>
          <a:xfrm>
            <a:off x="838200" y="3028950"/>
            <a:ext cx="857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125" b="1">
                <a:solidFill>
                  <a:srgbClr val="2E63D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2E63D9"/>
                </a:solidFill>
                <a:latin typeface="Noto Sans CJK SC"/>
                <a:ea typeface="Noto Sans CJK SC"/>
                <a:cs typeface="Noto Sans CJK SC"/>
              </a:rPr>
              <a:t>顺序一</a:t>
            </a:r>
            <a:endParaRPr sz="1125" b="1">
              <a:solidFill>
                <a:srgbClr val="2E63D9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9" name="Rectangles 18"/>
          <p:cNvSpPr>
            <a:spLocks noGrp="1"/>
          </p:cNvSpPr>
          <p:nvPr/>
        </p:nvSpPr>
        <p:spPr>
          <a:xfrm>
            <a:off x="1809750" y="2924175"/>
            <a:ext cx="3714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2025" b="1">
                <a:solidFill>
                  <a:srgbClr val="2E63D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2E63D9"/>
                </a:solidFill>
                <a:latin typeface="Noto Sans CJK SC"/>
                <a:ea typeface="Noto Sans CJK SC"/>
                <a:cs typeface="Noto Sans CJK SC"/>
              </a:rPr>
              <a:t>((a + b) + c) + d</a:t>
            </a:r>
            <a:endParaRPr sz="2025" b="1">
              <a:solidFill>
                <a:srgbClr val="2E63D9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0" name="Rectangles 19"/>
          <p:cNvSpPr>
            <a:spLocks noGrp="1"/>
          </p:cNvSpPr>
          <p:nvPr/>
        </p:nvSpPr>
        <p:spPr>
          <a:xfrm>
            <a:off x="838200" y="3733800"/>
            <a:ext cx="857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125" b="1">
                <a:solidFill>
                  <a:srgbClr val="E85D0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E85D0F"/>
                </a:solidFill>
                <a:latin typeface="Noto Sans CJK SC"/>
                <a:ea typeface="Noto Sans CJK SC"/>
                <a:cs typeface="Noto Sans CJK SC"/>
              </a:rPr>
              <a:t>顺序二</a:t>
            </a:r>
            <a:endParaRPr sz="1125" b="1">
              <a:solidFill>
                <a:srgbClr val="E85D0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1" name="Rectangles 20"/>
          <p:cNvSpPr>
            <a:spLocks noGrp="1"/>
          </p:cNvSpPr>
          <p:nvPr/>
        </p:nvSpPr>
        <p:spPr>
          <a:xfrm>
            <a:off x="1809750" y="3629025"/>
            <a:ext cx="3714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2025" b="1">
                <a:solidFill>
                  <a:srgbClr val="A8440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A8440D"/>
                </a:solidFill>
                <a:latin typeface="Noto Sans CJK SC"/>
                <a:ea typeface="Noto Sans CJK SC"/>
                <a:cs typeface="Noto Sans CJK SC"/>
              </a:rPr>
              <a:t>(a + b) + (c + d)</a:t>
            </a:r>
            <a:endParaRPr sz="2025" b="1">
              <a:solidFill>
                <a:srgbClr val="A8440D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2" name="Straight Connector 21"/>
          <p:cNvSpPr>
            <a:spLocks noGrp="1"/>
          </p:cNvSpPr>
          <p:nvPr/>
        </p:nvSpPr>
        <p:spPr>
          <a:xfrm>
            <a:off x="5962650" y="1524000"/>
            <a:ext cx="0" cy="3143250"/>
          </a:xfrm>
          <a:prstGeom prst="line">
            <a:avLst/>
          </a:prstGeom>
          <a:noFill/>
          <a:ln w="9525">
            <a:solidFill>
              <a:srgbClr val="D6DAE0"/>
            </a:solidFill>
            <a:prstDash val="solid"/>
          </a:ln>
        </p:spPr>
      </p:sp>
      <p:sp>
        <p:nvSpPr>
          <p:cNvPr id="23" name="Rectangles 22"/>
          <p:cNvSpPr>
            <a:spLocks noGrp="1"/>
          </p:cNvSpPr>
          <p:nvPr/>
        </p:nvSpPr>
        <p:spPr>
          <a:xfrm>
            <a:off x="6324600" y="1581150"/>
            <a:ext cx="2857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800" b="1">
                <a:solidFill>
                  <a:srgbClr val="E85D0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E85D0F"/>
                </a:solidFill>
                <a:latin typeface="Noto Sans CJK SC"/>
                <a:ea typeface="Noto Sans CJK SC"/>
                <a:cs typeface="Noto Sans CJK SC"/>
              </a:rPr>
              <a:t>差异来自哪里</a:t>
            </a:r>
            <a:endParaRPr sz="1800" b="1">
              <a:solidFill>
                <a:srgbClr val="E85D0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4" name="Rectangles 23"/>
          <p:cNvSpPr>
            <a:spLocks noGrp="1"/>
          </p:cNvSpPr>
          <p:nvPr/>
        </p:nvSpPr>
        <p:spPr>
          <a:xfrm>
            <a:off x="6324600" y="2133600"/>
            <a:ext cx="4953000" cy="1219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425" b="0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rPr>
              <a:t>GPU会把大规模计算拆成多个局部块。局部结果按不同顺序合并时，浮点舍入发生的位置也不同，所以数学上等价的两条路径，最后几位可能不一样。</a:t>
            </a:r>
            <a:endParaRPr sz="1425" b="0">
              <a:solidFill>
                <a:srgbClr val="17191D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5" name="Rectangles 24"/>
          <p:cNvSpPr>
            <a:spLocks noGrp="1"/>
          </p:cNvSpPr>
          <p:nvPr/>
        </p:nvSpPr>
        <p:spPr>
          <a:xfrm>
            <a:off x="6324600" y="3638550"/>
            <a:ext cx="1390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200" b="1">
                <a:solidFill>
                  <a:srgbClr val="62687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626871"/>
                </a:solidFill>
                <a:latin typeface="Noto Sans CJK SC"/>
                <a:ea typeface="Noto Sans CJK SC"/>
                <a:cs typeface="Noto Sans CJK SC"/>
              </a:rPr>
              <a:t>常见触发点</a:t>
            </a:r>
            <a:endParaRPr sz="1200" b="1">
              <a:solidFill>
                <a:srgbClr val="626871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6" name="Rectangles 25"/>
          <p:cNvSpPr>
            <a:spLocks noGrp="1"/>
          </p:cNvSpPr>
          <p:nvPr/>
        </p:nvSpPr>
        <p:spPr>
          <a:xfrm>
            <a:off x="6324600" y="4038600"/>
            <a:ext cx="49530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350" b="0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rPr>
              <a:t>GEMM 的 K 维累加    Attention 的 key 归一化</a:t>
            </a:r>
            <a:endParaRPr sz="1350" b="0">
              <a:solidFill>
                <a:srgbClr val="17191D"/>
              </a:solidFill>
              <a:latin typeface="Noto Sans CJK SC"/>
              <a:ea typeface="Noto Sans CJK SC"/>
              <a:cs typeface="Noto Sans CJK SC"/>
            </a:endParaRPr>
          </a:p>
          <a:p>
            <a:pPr algn="l">
              <a:defRPr sz="1350" b="0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rPr>
              <a:t>跨 rank 的结果合并    精度转换的位置</a:t>
            </a:r>
            <a:endParaRPr sz="1350" b="0">
              <a:solidFill>
                <a:srgbClr val="17191D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7" name="Straight Connector 26"/>
          <p:cNvSpPr>
            <a:spLocks noGrp="1"/>
          </p:cNvSpPr>
          <p:nvPr/>
        </p:nvSpPr>
        <p:spPr>
          <a:xfrm>
            <a:off x="1028700" y="5219700"/>
            <a:ext cx="495300" cy="0"/>
          </a:xfrm>
          <a:prstGeom prst="line">
            <a:avLst/>
          </a:prstGeom>
          <a:noFill/>
          <a:ln w="28575">
            <a:solidFill>
              <a:srgbClr val="E85D0F"/>
            </a:solidFill>
            <a:prstDash val="solid"/>
          </a:ln>
        </p:spPr>
      </p:sp>
      <p:sp>
        <p:nvSpPr>
          <p:cNvPr id="28" name="Rectangles 27"/>
          <p:cNvSpPr>
            <a:spLocks noGrp="1"/>
          </p:cNvSpPr>
          <p:nvPr/>
        </p:nvSpPr>
        <p:spPr>
          <a:xfrm>
            <a:off x="1714500" y="5124450"/>
            <a:ext cx="94488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l">
              <a:defRPr sz="1275" b="0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rPr>
              <a:t>LogP 的末位差异会继续影响 importance ratio、KL 和 clipping，RL-Kernel 对齐归约顺序和精度边界。</a:t>
            </a:r>
            <a:endParaRPr sz="1275" b="0">
              <a:solidFill>
                <a:srgbClr val="17191D"/>
              </a:solidFill>
              <a:latin typeface="Noto Sans CJK SC"/>
              <a:ea typeface="Noto Sans CJK SC"/>
              <a:cs typeface="Noto Sans CJK SC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6" name="Rectangles 35"/>
          <p:cNvSpPr>
            <a:spLocks noGrp="1"/>
          </p:cNvSpPr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rgbClr val="111111"/>
          </a:solidFill>
          <a:ln w="0">
            <a:noFill/>
            <a:prstDash val="solid"/>
          </a:ln>
        </p:spPr>
      </p:sp>
      <p:sp>
        <p:nvSpPr>
          <p:cNvPr id="2" name="Rectangles 1"/>
          <p:cNvSpPr>
            <a:spLocks noGrp="1"/>
          </p:cNvSpPr>
          <p:nvPr/>
        </p:nvSpPr>
        <p:spPr>
          <a:xfrm>
            <a:off x="0" y="6667500"/>
            <a:ext cx="12192000" cy="190500"/>
          </a:xfrm>
          <a:prstGeom prst="rect">
            <a:avLst/>
          </a:prstGeom>
          <a:solidFill>
            <a:srgbClr val="111111"/>
          </a:solidFill>
          <a:ln w="0">
            <a:noFill/>
            <a:prstDash val="solid"/>
          </a:ln>
        </p:spPr>
      </p:sp>
      <p:sp>
        <p:nvSpPr>
          <p:cNvPr id="3" name="Straight Connector 2"/>
          <p:cNvSpPr>
            <a:spLocks noGrp="1"/>
          </p:cNvSpPr>
          <p:nvPr/>
        </p:nvSpPr>
        <p:spPr>
          <a:xfrm>
            <a:off x="609600" y="342900"/>
            <a:ext cx="0" cy="552450"/>
          </a:xfrm>
          <a:prstGeom prst="line">
            <a:avLst/>
          </a:prstGeom>
          <a:noFill/>
          <a:ln w="28575">
            <a:solidFill>
              <a:srgbClr val="E85D0F"/>
            </a:solidFill>
            <a:prstDash val="solid"/>
          </a:ln>
        </p:spPr>
      </p:sp>
      <p:sp>
        <p:nvSpPr>
          <p:cNvPr id="4" name="Rectangles 3"/>
          <p:cNvSpPr>
            <a:spLocks noGrp="1"/>
          </p:cNvSpPr>
          <p:nvPr/>
        </p:nvSpPr>
        <p:spPr>
          <a:xfrm>
            <a:off x="781050" y="323850"/>
            <a:ext cx="5429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975" b="0">
                <a:solidFill>
                  <a:srgbClr val="62687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626871"/>
                </a:solidFill>
                <a:latin typeface="Noto Sans CJK SC"/>
                <a:ea typeface="Noto Sans CJK SC"/>
                <a:cs typeface="Noto Sans CJK SC"/>
              </a:rPr>
              <a:t>01  问题背景</a:t>
            </a:r>
            <a:endParaRPr sz="975" b="0">
              <a:solidFill>
                <a:srgbClr val="626871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" name="Rectangles 4"/>
          <p:cNvSpPr>
            <a:spLocks noGrp="1"/>
          </p:cNvSpPr>
          <p:nvPr/>
        </p:nvSpPr>
        <p:spPr>
          <a:xfrm>
            <a:off x="781050" y="657225"/>
            <a:ext cx="107632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2700" b="1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700" b="1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rPr>
              <a:t>比较 LogP 前需要对齐五项条件</a:t>
            </a:r>
            <a:endParaRPr sz="2700" b="1">
              <a:solidFill>
                <a:srgbClr val="17191D"/>
              </a:solidFill>
              <a:latin typeface="Noto Sans CJK SC"/>
              <a:ea typeface="Noto Sans CJK SC"/>
              <a:cs typeface="Noto Sans CJK SC"/>
            </a:endParaRPr>
          </a:p>
        </p:txBody>
      </p:sp>
      <p:pic>
        <p:nvPicPr>
          <p:cNvPr id="41" name="Picture 4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91750" y="6238875"/>
            <a:ext cx="228600" cy="285750"/>
          </a:xfrm>
          <a:prstGeom prst="rect">
            <a:avLst/>
          </a:prstGeom>
        </p:spPr>
      </p:pic>
      <p:sp>
        <p:nvSpPr>
          <p:cNvPr id="7" name="Rectangles 6"/>
          <p:cNvSpPr>
            <a:spLocks noGrp="1"/>
          </p:cNvSpPr>
          <p:nvPr/>
        </p:nvSpPr>
        <p:spPr>
          <a:xfrm>
            <a:off x="10487025" y="6286500"/>
            <a:ext cx="1047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750" b="1">
                <a:solidFill>
                  <a:srgbClr val="62687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50" b="1">
                <a:solidFill>
                  <a:srgbClr val="626871"/>
                </a:solidFill>
                <a:latin typeface="Noto Sans CJK SC"/>
                <a:ea typeface="Noto Sans CJK SC"/>
                <a:cs typeface="Noto Sans CJK SC"/>
              </a:rPr>
              <a:t>RL-ALIGN</a:t>
            </a:r>
            <a:endParaRPr sz="750" b="1">
              <a:solidFill>
                <a:srgbClr val="626871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8" name="Rectangles 7"/>
          <p:cNvSpPr>
            <a:spLocks noGrp="1"/>
          </p:cNvSpPr>
          <p:nvPr/>
        </p:nvSpPr>
        <p:spPr>
          <a:xfrm>
            <a:off x="609600" y="6343650"/>
            <a:ext cx="4000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750" b="0">
                <a:solidFill>
                  <a:srgbClr val="989EA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50" b="0">
                <a:solidFill>
                  <a:srgbClr val="989EA7"/>
                </a:solidFill>
                <a:latin typeface="Noto Sans CJK SC"/>
                <a:ea typeface="Noto Sans CJK SC"/>
                <a:cs typeface="Noto Sans CJK SC"/>
              </a:rPr>
              <a:t>06</a:t>
            </a:r>
            <a:endParaRPr sz="750" b="0">
              <a:solidFill>
                <a:srgbClr val="989EA7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" name="Rounded Rectangle 8"/>
          <p:cNvSpPr>
            <a:spLocks noGrp="1"/>
          </p:cNvSpPr>
          <p:nvPr/>
        </p:nvSpPr>
        <p:spPr>
          <a:xfrm>
            <a:off x="704850" y="2038350"/>
            <a:ext cx="1924050" cy="1771650"/>
          </a:xfrm>
          <a:prstGeom prst="roundRect">
            <a:avLst>
              <a:gd name="adj" fmla="val 7527"/>
            </a:avLst>
          </a:prstGeom>
          <a:solidFill>
            <a:srgbClr val="FFFFFF"/>
          </a:solidFill>
          <a:ln w="9525">
            <a:solidFill>
              <a:srgbClr val="D6DAE0"/>
            </a:solidFill>
            <a:prstDash val="solid"/>
          </a:ln>
        </p:spPr>
      </p:sp>
      <p:sp>
        <p:nvSpPr>
          <p:cNvPr id="10" name="Oval 9"/>
          <p:cNvSpPr>
            <a:spLocks noGrp="1"/>
          </p:cNvSpPr>
          <p:nvPr/>
        </p:nvSpPr>
        <p:spPr>
          <a:xfrm>
            <a:off x="1333500" y="1562100"/>
            <a:ext cx="666750" cy="666750"/>
          </a:xfrm>
          <a:prstGeom prst="ellipse">
            <a:avLst/>
          </a:prstGeom>
          <a:solidFill>
            <a:srgbClr val="F6F7F9"/>
          </a:solidFill>
          <a:ln w="9525">
            <a:solidFill>
              <a:srgbClr val="D6DAE0"/>
            </a:solidFill>
            <a:prstDash val="solid"/>
          </a:ln>
        </p:spPr>
      </p:sp>
      <p:sp>
        <p:nvSpPr>
          <p:cNvPr id="11" name="Rectangles 10"/>
          <p:cNvSpPr>
            <a:spLocks noGrp="1"/>
          </p:cNvSpPr>
          <p:nvPr/>
        </p:nvSpPr>
        <p:spPr>
          <a:xfrm>
            <a:off x="1333500" y="1752600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ctr">
              <a:defRPr sz="1275" b="1">
                <a:solidFill>
                  <a:srgbClr val="989EA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989EA7"/>
                </a:solidFill>
                <a:latin typeface="Noto Sans CJK SC"/>
                <a:ea typeface="Noto Sans CJK SC"/>
                <a:cs typeface="Noto Sans CJK SC"/>
              </a:rPr>
              <a:t>01</a:t>
            </a:r>
            <a:endParaRPr sz="1275" b="1">
              <a:solidFill>
                <a:srgbClr val="989EA7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2" name="Rectangles 11"/>
          <p:cNvSpPr>
            <a:spLocks noGrp="1"/>
          </p:cNvSpPr>
          <p:nvPr/>
        </p:nvSpPr>
        <p:spPr>
          <a:xfrm>
            <a:off x="876300" y="2419350"/>
            <a:ext cx="15811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ctr">
              <a:defRPr sz="1575" b="1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rPr>
              <a:t>权重版本</a:t>
            </a:r>
            <a:endParaRPr sz="1575" b="1">
              <a:solidFill>
                <a:srgbClr val="17191D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3" name="Rectangles 12"/>
          <p:cNvSpPr>
            <a:spLocks noGrp="1"/>
          </p:cNvSpPr>
          <p:nvPr/>
        </p:nvSpPr>
        <p:spPr>
          <a:xfrm>
            <a:off x="838200" y="2952750"/>
            <a:ext cx="16573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ctr">
              <a:defRPr sz="1050" b="0">
                <a:solidFill>
                  <a:srgbClr val="62687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626871"/>
                </a:solidFill>
                <a:latin typeface="Noto Sans CJK SC"/>
                <a:ea typeface="Noto Sans CJK SC"/>
                <a:cs typeface="Noto Sans CJK SC"/>
              </a:rPr>
              <a:t>同一权重和训练步</a:t>
            </a:r>
            <a:endParaRPr sz="1050" b="0">
              <a:solidFill>
                <a:srgbClr val="626871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4" name="Rounded Rectangle 13"/>
          <p:cNvSpPr>
            <a:spLocks noGrp="1"/>
          </p:cNvSpPr>
          <p:nvPr/>
        </p:nvSpPr>
        <p:spPr>
          <a:xfrm>
            <a:off x="2914650" y="2038350"/>
            <a:ext cx="1924050" cy="1771650"/>
          </a:xfrm>
          <a:prstGeom prst="roundRect">
            <a:avLst>
              <a:gd name="adj" fmla="val 7527"/>
            </a:avLst>
          </a:prstGeom>
          <a:solidFill>
            <a:srgbClr val="FFFFFF"/>
          </a:solidFill>
          <a:ln w="9525">
            <a:solidFill>
              <a:srgbClr val="D6DAE0"/>
            </a:solidFill>
            <a:prstDash val="solid"/>
          </a:ln>
        </p:spPr>
      </p:sp>
      <p:sp>
        <p:nvSpPr>
          <p:cNvPr id="15" name="Oval 14"/>
          <p:cNvSpPr>
            <a:spLocks noGrp="1"/>
          </p:cNvSpPr>
          <p:nvPr/>
        </p:nvSpPr>
        <p:spPr>
          <a:xfrm>
            <a:off x="3543300" y="1562100"/>
            <a:ext cx="666750" cy="666750"/>
          </a:xfrm>
          <a:prstGeom prst="ellipse">
            <a:avLst/>
          </a:prstGeom>
          <a:solidFill>
            <a:srgbClr val="F6F7F9"/>
          </a:solidFill>
          <a:ln w="9525">
            <a:solidFill>
              <a:srgbClr val="D6DAE0"/>
            </a:solidFill>
            <a:prstDash val="solid"/>
          </a:ln>
        </p:spPr>
      </p:sp>
      <p:sp>
        <p:nvSpPr>
          <p:cNvPr id="16" name="Rectangles 15"/>
          <p:cNvSpPr>
            <a:spLocks noGrp="1"/>
          </p:cNvSpPr>
          <p:nvPr/>
        </p:nvSpPr>
        <p:spPr>
          <a:xfrm>
            <a:off x="3543300" y="1752600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ctr">
              <a:defRPr sz="1275" b="1">
                <a:solidFill>
                  <a:srgbClr val="989EA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989EA7"/>
                </a:solidFill>
                <a:latin typeface="Noto Sans CJK SC"/>
                <a:ea typeface="Noto Sans CJK SC"/>
                <a:cs typeface="Noto Sans CJK SC"/>
              </a:rPr>
              <a:t>02</a:t>
            </a:r>
            <a:endParaRPr sz="1275" b="1">
              <a:solidFill>
                <a:srgbClr val="989EA7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7" name="Rectangles 16"/>
          <p:cNvSpPr>
            <a:spLocks noGrp="1"/>
          </p:cNvSpPr>
          <p:nvPr/>
        </p:nvSpPr>
        <p:spPr>
          <a:xfrm>
            <a:off x="3086100" y="2419350"/>
            <a:ext cx="15811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ctr">
              <a:defRPr sz="1575" b="1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rPr>
              <a:t>输入边界</a:t>
            </a:r>
            <a:endParaRPr sz="1575" b="1">
              <a:solidFill>
                <a:srgbClr val="17191D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8" name="Rectangles 17"/>
          <p:cNvSpPr>
            <a:spLocks noGrp="1"/>
          </p:cNvSpPr>
          <p:nvPr/>
        </p:nvSpPr>
        <p:spPr>
          <a:xfrm>
            <a:off x="3048000" y="2952750"/>
            <a:ext cx="16573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ctr">
              <a:defRPr sz="1050" b="0">
                <a:solidFill>
                  <a:srgbClr val="62687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626871"/>
                </a:solidFill>
                <a:latin typeface="Noto Sans CJK SC"/>
                <a:ea typeface="Noto Sans CJK SC"/>
                <a:cs typeface="Noto Sans CJK SC"/>
              </a:rPr>
              <a:t>prompt、response、目标 token 和有效 mask</a:t>
            </a:r>
            <a:endParaRPr sz="1050" b="0">
              <a:solidFill>
                <a:srgbClr val="626871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9" name="Rounded Rectangle 18"/>
          <p:cNvSpPr>
            <a:spLocks noGrp="1"/>
          </p:cNvSpPr>
          <p:nvPr/>
        </p:nvSpPr>
        <p:spPr>
          <a:xfrm>
            <a:off x="5124450" y="2038350"/>
            <a:ext cx="1924050" cy="1771650"/>
          </a:xfrm>
          <a:prstGeom prst="roundRect">
            <a:avLst>
              <a:gd name="adj" fmla="val 7527"/>
            </a:avLst>
          </a:prstGeom>
          <a:solidFill>
            <a:srgbClr val="FFFFFF"/>
          </a:solidFill>
          <a:ln w="9525">
            <a:solidFill>
              <a:srgbClr val="D6DAE0"/>
            </a:solidFill>
            <a:prstDash val="solid"/>
          </a:ln>
        </p:spPr>
      </p:sp>
      <p:sp>
        <p:nvSpPr>
          <p:cNvPr id="20" name="Oval 19"/>
          <p:cNvSpPr>
            <a:spLocks noGrp="1"/>
          </p:cNvSpPr>
          <p:nvPr/>
        </p:nvSpPr>
        <p:spPr>
          <a:xfrm>
            <a:off x="5753100" y="1562100"/>
            <a:ext cx="666750" cy="666750"/>
          </a:xfrm>
          <a:prstGeom prst="ellipse">
            <a:avLst/>
          </a:prstGeom>
          <a:solidFill>
            <a:srgbClr val="F6F7F9"/>
          </a:solidFill>
          <a:ln w="9525">
            <a:solidFill>
              <a:srgbClr val="D6DAE0"/>
            </a:solidFill>
            <a:prstDash val="solid"/>
          </a:ln>
        </p:spPr>
      </p:sp>
      <p:sp>
        <p:nvSpPr>
          <p:cNvPr id="21" name="Rectangles 20"/>
          <p:cNvSpPr>
            <a:spLocks noGrp="1"/>
          </p:cNvSpPr>
          <p:nvPr/>
        </p:nvSpPr>
        <p:spPr>
          <a:xfrm>
            <a:off x="5753100" y="1752600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ctr">
              <a:defRPr sz="1275" b="1">
                <a:solidFill>
                  <a:srgbClr val="989EA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989EA7"/>
                </a:solidFill>
                <a:latin typeface="Noto Sans CJK SC"/>
                <a:ea typeface="Noto Sans CJK SC"/>
                <a:cs typeface="Noto Sans CJK SC"/>
              </a:rPr>
              <a:t>03</a:t>
            </a:r>
            <a:endParaRPr sz="1275" b="1">
              <a:solidFill>
                <a:srgbClr val="989EA7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2" name="Rectangles 21"/>
          <p:cNvSpPr>
            <a:spLocks noGrp="1"/>
          </p:cNvSpPr>
          <p:nvPr/>
        </p:nvSpPr>
        <p:spPr>
          <a:xfrm>
            <a:off x="5295900" y="2419350"/>
            <a:ext cx="15811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ctr">
              <a:defRPr sz="1575" b="1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rPr>
              <a:t>位置信息</a:t>
            </a:r>
            <a:endParaRPr sz="1575" b="1">
              <a:solidFill>
                <a:srgbClr val="17191D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3" name="Rectangles 22"/>
          <p:cNvSpPr>
            <a:spLocks noGrp="1"/>
          </p:cNvSpPr>
          <p:nvPr/>
        </p:nvSpPr>
        <p:spPr>
          <a:xfrm>
            <a:off x="5257800" y="2952750"/>
            <a:ext cx="16573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ctr">
              <a:defRPr sz="1050" b="0">
                <a:solidFill>
                  <a:srgbClr val="62687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626871"/>
                </a:solidFill>
                <a:latin typeface="Noto Sans CJK SC"/>
                <a:ea typeface="Noto Sans CJK SC"/>
                <a:cs typeface="Noto Sans CJK SC"/>
              </a:rPr>
              <a:t>position、RoPE、causal mask、KV 可见范围。</a:t>
            </a:r>
            <a:endParaRPr sz="1050" b="0">
              <a:solidFill>
                <a:srgbClr val="626871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4" name="Rounded Rectangle 23"/>
          <p:cNvSpPr>
            <a:spLocks noGrp="1"/>
          </p:cNvSpPr>
          <p:nvPr/>
        </p:nvSpPr>
        <p:spPr>
          <a:xfrm>
            <a:off x="7334250" y="2038350"/>
            <a:ext cx="1924050" cy="1771650"/>
          </a:xfrm>
          <a:prstGeom prst="roundRect">
            <a:avLst>
              <a:gd name="adj" fmla="val 7527"/>
            </a:avLst>
          </a:prstGeom>
          <a:solidFill>
            <a:srgbClr val="FFFFFF"/>
          </a:solidFill>
          <a:ln w="9525">
            <a:solidFill>
              <a:srgbClr val="D6DAE0"/>
            </a:solidFill>
            <a:prstDash val="solid"/>
          </a:ln>
        </p:spPr>
      </p:sp>
      <p:sp>
        <p:nvSpPr>
          <p:cNvPr id="25" name="Oval 24"/>
          <p:cNvSpPr>
            <a:spLocks noGrp="1"/>
          </p:cNvSpPr>
          <p:nvPr/>
        </p:nvSpPr>
        <p:spPr>
          <a:xfrm>
            <a:off x="7962900" y="1562100"/>
            <a:ext cx="666750" cy="666750"/>
          </a:xfrm>
          <a:prstGeom prst="ellipse">
            <a:avLst/>
          </a:prstGeom>
          <a:solidFill>
            <a:srgbClr val="F6F7F9"/>
          </a:solidFill>
          <a:ln w="9525">
            <a:solidFill>
              <a:srgbClr val="D6DAE0"/>
            </a:solidFill>
            <a:prstDash val="solid"/>
          </a:ln>
        </p:spPr>
      </p:sp>
      <p:sp>
        <p:nvSpPr>
          <p:cNvPr id="26" name="Rectangles 25"/>
          <p:cNvSpPr>
            <a:spLocks noGrp="1"/>
          </p:cNvSpPr>
          <p:nvPr/>
        </p:nvSpPr>
        <p:spPr>
          <a:xfrm>
            <a:off x="7962900" y="1752600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ctr">
              <a:defRPr sz="1275" b="1">
                <a:solidFill>
                  <a:srgbClr val="989EA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989EA7"/>
                </a:solidFill>
                <a:latin typeface="Noto Sans CJK SC"/>
                <a:ea typeface="Noto Sans CJK SC"/>
                <a:cs typeface="Noto Sans CJK SC"/>
              </a:rPr>
              <a:t>04</a:t>
            </a:r>
            <a:endParaRPr sz="1275" b="1">
              <a:solidFill>
                <a:srgbClr val="989EA7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7" name="Rectangles 26"/>
          <p:cNvSpPr>
            <a:spLocks noGrp="1"/>
          </p:cNvSpPr>
          <p:nvPr/>
        </p:nvSpPr>
        <p:spPr>
          <a:xfrm>
            <a:off x="7505700" y="2419350"/>
            <a:ext cx="15811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ctr">
              <a:defRPr sz="1575" b="1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rPr>
              <a:t>逻辑状态</a:t>
            </a:r>
            <a:endParaRPr sz="1575" b="1">
              <a:solidFill>
                <a:srgbClr val="17191D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8" name="Rectangles 27"/>
          <p:cNvSpPr>
            <a:spLocks noGrp="1"/>
          </p:cNvSpPr>
          <p:nvPr/>
        </p:nvSpPr>
        <p:spPr>
          <a:xfrm>
            <a:off x="7467600" y="2952750"/>
            <a:ext cx="16573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ctr">
              <a:defRPr sz="1050" b="0">
                <a:solidFill>
                  <a:srgbClr val="62687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626871"/>
                </a:solidFill>
                <a:latin typeface="Noto Sans CJK SC"/>
                <a:ea typeface="Noto Sans CJK SC"/>
                <a:cs typeface="Noto Sans CJK SC"/>
              </a:rPr>
              <a:t>token / rank 归属、真实词表范围、分片映射。</a:t>
            </a:r>
            <a:endParaRPr sz="1050" b="0">
              <a:solidFill>
                <a:srgbClr val="626871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9" name="Rounded Rectangle 28"/>
          <p:cNvSpPr>
            <a:spLocks noGrp="1"/>
          </p:cNvSpPr>
          <p:nvPr/>
        </p:nvSpPr>
        <p:spPr>
          <a:xfrm>
            <a:off x="9544050" y="2038350"/>
            <a:ext cx="1924050" cy="1771650"/>
          </a:xfrm>
          <a:prstGeom prst="roundRect">
            <a:avLst>
              <a:gd name="adj" fmla="val 7527"/>
            </a:avLst>
          </a:prstGeom>
          <a:solidFill>
            <a:srgbClr val="FFFFFF"/>
          </a:solidFill>
          <a:ln w="9525">
            <a:solidFill>
              <a:srgbClr val="D6DAE0"/>
            </a:solidFill>
            <a:prstDash val="solid"/>
          </a:ln>
        </p:spPr>
      </p:sp>
      <p:sp>
        <p:nvSpPr>
          <p:cNvPr id="30" name="Oval 29"/>
          <p:cNvSpPr>
            <a:spLocks noGrp="1"/>
          </p:cNvSpPr>
          <p:nvPr/>
        </p:nvSpPr>
        <p:spPr>
          <a:xfrm>
            <a:off x="10172700" y="1562100"/>
            <a:ext cx="666750" cy="666750"/>
          </a:xfrm>
          <a:prstGeom prst="ellipse">
            <a:avLst/>
          </a:prstGeom>
          <a:solidFill>
            <a:srgbClr val="F6F7F9"/>
          </a:solidFill>
          <a:ln w="9525">
            <a:solidFill>
              <a:srgbClr val="D6DAE0"/>
            </a:solidFill>
            <a:prstDash val="solid"/>
          </a:ln>
        </p:spPr>
      </p:sp>
      <p:sp>
        <p:nvSpPr>
          <p:cNvPr id="31" name="Rectangles 30"/>
          <p:cNvSpPr>
            <a:spLocks noGrp="1"/>
          </p:cNvSpPr>
          <p:nvPr/>
        </p:nvSpPr>
        <p:spPr>
          <a:xfrm>
            <a:off x="10172700" y="1752600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ctr">
              <a:defRPr sz="1275" b="1">
                <a:solidFill>
                  <a:srgbClr val="989EA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989EA7"/>
                </a:solidFill>
                <a:latin typeface="Noto Sans CJK SC"/>
                <a:ea typeface="Noto Sans CJK SC"/>
                <a:cs typeface="Noto Sans CJK SC"/>
              </a:rPr>
              <a:t>05</a:t>
            </a:r>
            <a:endParaRPr sz="1275" b="1">
              <a:solidFill>
                <a:srgbClr val="989EA7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2" name="Rectangles 31"/>
          <p:cNvSpPr>
            <a:spLocks noGrp="1"/>
          </p:cNvSpPr>
          <p:nvPr/>
        </p:nvSpPr>
        <p:spPr>
          <a:xfrm>
            <a:off x="9715500" y="2419350"/>
            <a:ext cx="15811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ctr">
              <a:defRPr sz="1575" b="1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rPr>
              <a:t>随机条件</a:t>
            </a:r>
            <a:endParaRPr sz="1575" b="1">
              <a:solidFill>
                <a:srgbClr val="17191D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3" name="Rectangles 32"/>
          <p:cNvSpPr>
            <a:spLocks noGrp="1"/>
          </p:cNvSpPr>
          <p:nvPr/>
        </p:nvSpPr>
        <p:spPr>
          <a:xfrm>
            <a:off x="9677400" y="2952750"/>
            <a:ext cx="16573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ctr">
              <a:defRPr sz="1050" b="0">
                <a:solidFill>
                  <a:srgbClr val="62687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626871"/>
                </a:solidFill>
                <a:latin typeface="Noto Sans CJK SC"/>
                <a:ea typeface="Noto Sans CJK SC"/>
                <a:cs typeface="Noto Sans CJK SC"/>
              </a:rPr>
              <a:t>seed 与采样状态</a:t>
            </a:r>
            <a:endParaRPr sz="1050" b="0">
              <a:solidFill>
                <a:srgbClr val="626871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4" name="Straight Connector 33"/>
          <p:cNvSpPr>
            <a:spLocks noGrp="1"/>
          </p:cNvSpPr>
          <p:nvPr/>
        </p:nvSpPr>
        <p:spPr>
          <a:xfrm>
            <a:off x="1028700" y="4686300"/>
            <a:ext cx="495300" cy="0"/>
          </a:xfrm>
          <a:prstGeom prst="line">
            <a:avLst/>
          </a:prstGeom>
          <a:noFill/>
          <a:ln w="28575">
            <a:solidFill>
              <a:srgbClr val="E85D0F"/>
            </a:solidFill>
            <a:prstDash val="solid"/>
          </a:ln>
        </p:spPr>
      </p:sp>
      <p:sp>
        <p:nvSpPr>
          <p:cNvPr id="35" name="Rectangles 34"/>
          <p:cNvSpPr>
            <a:spLocks noGrp="1"/>
          </p:cNvSpPr>
          <p:nvPr/>
        </p:nvSpPr>
        <p:spPr>
          <a:xfrm>
            <a:off x="1714500" y="4591050"/>
            <a:ext cx="94488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l">
              <a:defRPr sz="1350" b="0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rPr>
              <a:t>完成这五项检查后，才能判断差异是否来自计算路径。vime 固定权重、数据和时序，RL-Kernel 对齐关键计算。</a:t>
            </a:r>
            <a:endParaRPr sz="1350" b="0">
              <a:solidFill>
                <a:srgbClr val="17191D"/>
              </a:solidFill>
              <a:latin typeface="Noto Sans CJK SC"/>
              <a:ea typeface="Noto Sans CJK SC"/>
              <a:cs typeface="Noto Sans CJK SC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8" name="Rectangles 27"/>
          <p:cNvSpPr>
            <a:spLocks noGrp="1"/>
          </p:cNvSpPr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rgbClr val="111111"/>
          </a:solidFill>
          <a:ln w="0">
            <a:noFill/>
            <a:prstDash val="solid"/>
          </a:ln>
        </p:spPr>
      </p:sp>
      <p:sp>
        <p:nvSpPr>
          <p:cNvPr id="2" name="Rectangles 1"/>
          <p:cNvSpPr>
            <a:spLocks noGrp="1"/>
          </p:cNvSpPr>
          <p:nvPr/>
        </p:nvSpPr>
        <p:spPr>
          <a:xfrm>
            <a:off x="0" y="6667500"/>
            <a:ext cx="12192000" cy="190500"/>
          </a:xfrm>
          <a:prstGeom prst="rect">
            <a:avLst/>
          </a:prstGeom>
          <a:solidFill>
            <a:srgbClr val="111111"/>
          </a:solidFill>
          <a:ln w="0">
            <a:noFill/>
            <a:prstDash val="solid"/>
          </a:ln>
        </p:spPr>
      </p:sp>
      <p:sp>
        <p:nvSpPr>
          <p:cNvPr id="3" name="Straight Connector 2"/>
          <p:cNvSpPr>
            <a:spLocks noGrp="1"/>
          </p:cNvSpPr>
          <p:nvPr/>
        </p:nvSpPr>
        <p:spPr>
          <a:xfrm>
            <a:off x="609600" y="342900"/>
            <a:ext cx="0" cy="552450"/>
          </a:xfrm>
          <a:prstGeom prst="line">
            <a:avLst/>
          </a:prstGeom>
          <a:noFill/>
          <a:ln w="28575">
            <a:solidFill>
              <a:srgbClr val="E85D0F"/>
            </a:solidFill>
            <a:prstDash val="solid"/>
          </a:ln>
        </p:spPr>
      </p:sp>
      <p:sp>
        <p:nvSpPr>
          <p:cNvPr id="4" name="Rectangles 3"/>
          <p:cNvSpPr>
            <a:spLocks noGrp="1"/>
          </p:cNvSpPr>
          <p:nvPr/>
        </p:nvSpPr>
        <p:spPr>
          <a:xfrm>
            <a:off x="781050" y="323850"/>
            <a:ext cx="5429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975" b="0">
                <a:solidFill>
                  <a:srgbClr val="62687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626871"/>
                </a:solidFill>
                <a:latin typeface="Noto Sans CJK SC"/>
                <a:ea typeface="Noto Sans CJK SC"/>
                <a:cs typeface="Noto Sans CJK SC"/>
              </a:rPr>
              <a:t>02  项目定位</a:t>
            </a:r>
            <a:endParaRPr sz="975" b="0">
              <a:solidFill>
                <a:srgbClr val="626871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" name="Rectangles 4"/>
          <p:cNvSpPr>
            <a:spLocks noGrp="1"/>
          </p:cNvSpPr>
          <p:nvPr/>
        </p:nvSpPr>
        <p:spPr>
          <a:xfrm>
            <a:off x="781050" y="657225"/>
            <a:ext cx="107632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2700" b="1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700" b="1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rPr>
              <a:t>vime 与 RL-Kernel 的分工</a:t>
            </a:r>
            <a:endParaRPr sz="2700" b="1">
              <a:solidFill>
                <a:srgbClr val="17191D"/>
              </a:solidFill>
              <a:latin typeface="Noto Sans CJK SC"/>
              <a:ea typeface="Noto Sans CJK SC"/>
              <a:cs typeface="Noto Sans CJK SC"/>
            </a:endParaRPr>
          </a:p>
        </p:txBody>
      </p:sp>
      <p:pic>
        <p:nvPicPr>
          <p:cNvPr id="33" name="Picture 3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91750" y="6238875"/>
            <a:ext cx="228600" cy="285750"/>
          </a:xfrm>
          <a:prstGeom prst="rect">
            <a:avLst/>
          </a:prstGeom>
        </p:spPr>
      </p:pic>
      <p:sp>
        <p:nvSpPr>
          <p:cNvPr id="7" name="Rectangles 6"/>
          <p:cNvSpPr>
            <a:spLocks noGrp="1"/>
          </p:cNvSpPr>
          <p:nvPr/>
        </p:nvSpPr>
        <p:spPr>
          <a:xfrm>
            <a:off x="10487025" y="6286500"/>
            <a:ext cx="1047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750" b="1">
                <a:solidFill>
                  <a:srgbClr val="62687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50" b="1">
                <a:solidFill>
                  <a:srgbClr val="626871"/>
                </a:solidFill>
                <a:latin typeface="Noto Sans CJK SC"/>
                <a:ea typeface="Noto Sans CJK SC"/>
                <a:cs typeface="Noto Sans CJK SC"/>
              </a:rPr>
              <a:t>RL-ALIGN</a:t>
            </a:r>
            <a:endParaRPr sz="750" b="1">
              <a:solidFill>
                <a:srgbClr val="626871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8" name="Rectangles 7"/>
          <p:cNvSpPr>
            <a:spLocks noGrp="1"/>
          </p:cNvSpPr>
          <p:nvPr/>
        </p:nvSpPr>
        <p:spPr>
          <a:xfrm>
            <a:off x="609600" y="6343650"/>
            <a:ext cx="4000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750" b="0">
                <a:solidFill>
                  <a:srgbClr val="989EA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50" b="0">
                <a:solidFill>
                  <a:srgbClr val="989EA7"/>
                </a:solidFill>
                <a:latin typeface="Noto Sans CJK SC"/>
                <a:ea typeface="Noto Sans CJK SC"/>
                <a:cs typeface="Noto Sans CJK SC"/>
              </a:rPr>
              <a:t>07</a:t>
            </a:r>
            <a:endParaRPr sz="750" b="0">
              <a:solidFill>
                <a:srgbClr val="989EA7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" name="Rectangles 8"/>
          <p:cNvSpPr>
            <a:spLocks noGrp="1"/>
          </p:cNvSpPr>
          <p:nvPr/>
        </p:nvSpPr>
        <p:spPr>
          <a:xfrm>
            <a:off x="952500" y="1619250"/>
            <a:ext cx="3238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2325" b="1">
                <a:solidFill>
                  <a:srgbClr val="2E63D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1">
                <a:solidFill>
                  <a:srgbClr val="2E63D9"/>
                </a:solidFill>
                <a:latin typeface="Noto Sans CJK SC"/>
                <a:ea typeface="Noto Sans CJK SC"/>
                <a:cs typeface="Noto Sans CJK SC"/>
              </a:rPr>
              <a:t>vime</a:t>
            </a:r>
            <a:endParaRPr sz="2325" b="1">
              <a:solidFill>
                <a:srgbClr val="2E63D9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" name="Rectangles 9"/>
          <p:cNvSpPr>
            <a:spLocks noGrp="1"/>
          </p:cNvSpPr>
          <p:nvPr/>
        </p:nvSpPr>
        <p:spPr>
          <a:xfrm>
            <a:off x="952500" y="2095500"/>
            <a:ext cx="4000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650" b="1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rPr>
              <a:t>负责工作流时序</a:t>
            </a:r>
            <a:endParaRPr sz="1650" b="1">
              <a:solidFill>
                <a:srgbClr val="17191D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1" name="Rectangles 10"/>
          <p:cNvSpPr>
            <a:spLocks noGrp="1"/>
          </p:cNvSpPr>
          <p:nvPr/>
        </p:nvSpPr>
        <p:spPr>
          <a:xfrm>
            <a:off x="952500" y="2724150"/>
            <a:ext cx="419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050" b="1">
                <a:solidFill>
                  <a:srgbClr val="2E63D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2E63D9"/>
                </a:solidFill>
                <a:latin typeface="Noto Sans CJK SC"/>
                <a:ea typeface="Noto Sans CJK SC"/>
                <a:cs typeface="Noto Sans CJK SC"/>
              </a:rPr>
              <a:t>01</a:t>
            </a:r>
            <a:endParaRPr sz="1050" b="1">
              <a:solidFill>
                <a:srgbClr val="2E63D9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2" name="Rectangles 11"/>
          <p:cNvSpPr>
            <a:spLocks noGrp="1"/>
          </p:cNvSpPr>
          <p:nvPr/>
        </p:nvSpPr>
        <p:spPr>
          <a:xfrm>
            <a:off x="1466850" y="2667000"/>
            <a:ext cx="39624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350" b="0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rPr>
              <a:t>组织 rollout、reference 和 actor train 的先后顺序</a:t>
            </a:r>
            <a:endParaRPr sz="1350" b="0">
              <a:solidFill>
                <a:srgbClr val="17191D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3" name="Rectangles 12"/>
          <p:cNvSpPr>
            <a:spLocks noGrp="1"/>
          </p:cNvSpPr>
          <p:nvPr/>
        </p:nvSpPr>
        <p:spPr>
          <a:xfrm>
            <a:off x="952500" y="3409950"/>
            <a:ext cx="419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050" b="1">
                <a:solidFill>
                  <a:srgbClr val="2E63D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2E63D9"/>
                </a:solidFill>
                <a:latin typeface="Noto Sans CJK SC"/>
                <a:ea typeface="Noto Sans CJK SC"/>
                <a:cs typeface="Noto Sans CJK SC"/>
              </a:rPr>
              <a:t>02</a:t>
            </a:r>
            <a:endParaRPr sz="1050" b="1">
              <a:solidFill>
                <a:srgbClr val="2E63D9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4" name="Rectangles 13"/>
          <p:cNvSpPr>
            <a:spLocks noGrp="1"/>
          </p:cNvSpPr>
          <p:nvPr/>
        </p:nvSpPr>
        <p:spPr>
          <a:xfrm>
            <a:off x="1466850" y="3352800"/>
            <a:ext cx="39624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350" b="0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rPr>
              <a:t>记录每一轮使用的权重版本和数据流</a:t>
            </a:r>
            <a:endParaRPr sz="1350" b="0">
              <a:solidFill>
                <a:srgbClr val="17191D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5" name="Rectangles 14"/>
          <p:cNvSpPr>
            <a:spLocks noGrp="1"/>
          </p:cNvSpPr>
          <p:nvPr/>
        </p:nvSpPr>
        <p:spPr>
          <a:xfrm>
            <a:off x="952500" y="4095750"/>
            <a:ext cx="419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050" b="1">
                <a:solidFill>
                  <a:srgbClr val="2E63D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2E63D9"/>
                </a:solidFill>
                <a:latin typeface="Noto Sans CJK SC"/>
                <a:ea typeface="Noto Sans CJK SC"/>
                <a:cs typeface="Noto Sans CJK SC"/>
              </a:rPr>
              <a:t>03</a:t>
            </a:r>
            <a:endParaRPr sz="1050" b="1">
              <a:solidFill>
                <a:srgbClr val="2E63D9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6" name="Rectangles 15"/>
          <p:cNvSpPr>
            <a:spLocks noGrp="1"/>
          </p:cNvSpPr>
          <p:nvPr/>
        </p:nvSpPr>
        <p:spPr>
          <a:xfrm>
            <a:off x="1466850" y="4038600"/>
            <a:ext cx="39624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350" b="0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rPr>
              <a:t>完成采样、训练、更新和权重同步的闭环</a:t>
            </a:r>
            <a:endParaRPr sz="1350" b="0">
              <a:solidFill>
                <a:srgbClr val="17191D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7" name="Straight Connector 16"/>
          <p:cNvSpPr>
            <a:spLocks noGrp="1"/>
          </p:cNvSpPr>
          <p:nvPr/>
        </p:nvSpPr>
        <p:spPr>
          <a:xfrm>
            <a:off x="6000750" y="1524000"/>
            <a:ext cx="0" cy="3371850"/>
          </a:xfrm>
          <a:prstGeom prst="line">
            <a:avLst/>
          </a:prstGeom>
          <a:noFill/>
          <a:ln w="9525">
            <a:solidFill>
              <a:srgbClr val="D6DAE0"/>
            </a:solidFill>
            <a:prstDash val="solid"/>
          </a:ln>
        </p:spPr>
      </p:sp>
      <p:sp>
        <p:nvSpPr>
          <p:cNvPr id="18" name="Rectangles 17"/>
          <p:cNvSpPr>
            <a:spLocks noGrp="1"/>
          </p:cNvSpPr>
          <p:nvPr/>
        </p:nvSpPr>
        <p:spPr>
          <a:xfrm>
            <a:off x="6629400" y="1619250"/>
            <a:ext cx="4000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2325" b="1">
                <a:solidFill>
                  <a:srgbClr val="E85D0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1">
                <a:solidFill>
                  <a:srgbClr val="E85D0F"/>
                </a:solidFill>
                <a:latin typeface="Noto Sans CJK SC"/>
                <a:ea typeface="Noto Sans CJK SC"/>
                <a:cs typeface="Noto Sans CJK SC"/>
              </a:rPr>
              <a:t>RL-Kernel</a:t>
            </a:r>
            <a:endParaRPr sz="2325" b="1">
              <a:solidFill>
                <a:srgbClr val="E85D0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9" name="Rectangles 18"/>
          <p:cNvSpPr>
            <a:spLocks noGrp="1"/>
          </p:cNvSpPr>
          <p:nvPr/>
        </p:nvSpPr>
        <p:spPr>
          <a:xfrm>
            <a:off x="6629400" y="2095500"/>
            <a:ext cx="4191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650" b="1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rPr>
              <a:t>负责关键计算的数值对齐</a:t>
            </a:r>
            <a:endParaRPr sz="1650" b="1">
              <a:solidFill>
                <a:srgbClr val="17191D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0" name="Rectangles 19"/>
          <p:cNvSpPr>
            <a:spLocks noGrp="1"/>
          </p:cNvSpPr>
          <p:nvPr/>
        </p:nvSpPr>
        <p:spPr>
          <a:xfrm>
            <a:off x="6629400" y="2724150"/>
            <a:ext cx="419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050" b="1">
                <a:solidFill>
                  <a:srgbClr val="E85D0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E85D0F"/>
                </a:solidFill>
                <a:latin typeface="Noto Sans CJK SC"/>
                <a:ea typeface="Noto Sans CJK SC"/>
                <a:cs typeface="Noto Sans CJK SC"/>
              </a:rPr>
              <a:t>01</a:t>
            </a:r>
            <a:endParaRPr sz="1050" b="1">
              <a:solidFill>
                <a:srgbClr val="E85D0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1" name="Rectangles 20"/>
          <p:cNvSpPr>
            <a:spLocks noGrp="1"/>
          </p:cNvSpPr>
          <p:nvPr/>
        </p:nvSpPr>
        <p:spPr>
          <a:xfrm>
            <a:off x="7143750" y="2667000"/>
            <a:ext cx="4095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350" b="0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rPr>
              <a:t>算术契约</a:t>
            </a:r>
            <a:endParaRPr sz="1350" b="0">
              <a:solidFill>
                <a:srgbClr val="17191D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2" name="Rectangles 21"/>
          <p:cNvSpPr>
            <a:spLocks noGrp="1"/>
          </p:cNvSpPr>
          <p:nvPr/>
        </p:nvSpPr>
        <p:spPr>
          <a:xfrm>
            <a:off x="6629400" y="3409950"/>
            <a:ext cx="419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050" b="1">
                <a:solidFill>
                  <a:srgbClr val="E85D0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E85D0F"/>
                </a:solidFill>
                <a:latin typeface="Noto Sans CJK SC"/>
                <a:ea typeface="Noto Sans CJK SC"/>
                <a:cs typeface="Noto Sans CJK SC"/>
              </a:rPr>
              <a:t>02</a:t>
            </a:r>
            <a:endParaRPr sz="1050" b="1">
              <a:solidFill>
                <a:srgbClr val="E85D0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3" name="Rectangles 22"/>
          <p:cNvSpPr>
            <a:spLocks noGrp="1"/>
          </p:cNvSpPr>
          <p:nvPr/>
        </p:nvSpPr>
        <p:spPr>
          <a:xfrm>
            <a:off x="7143750" y="3352800"/>
            <a:ext cx="4095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350" b="0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rPr>
              <a:t>恢复 token 顺序并固定结果合并顺序</a:t>
            </a:r>
            <a:endParaRPr sz="1350" b="0">
              <a:solidFill>
                <a:srgbClr val="17191D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4" name="Rectangles 23"/>
          <p:cNvSpPr>
            <a:spLocks noGrp="1"/>
          </p:cNvSpPr>
          <p:nvPr/>
        </p:nvSpPr>
        <p:spPr>
          <a:xfrm>
            <a:off x="6629400" y="4095750"/>
            <a:ext cx="419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050" b="1">
                <a:solidFill>
                  <a:srgbClr val="E85D0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E85D0F"/>
                </a:solidFill>
                <a:latin typeface="Noto Sans CJK SC"/>
                <a:ea typeface="Noto Sans CJK SC"/>
                <a:cs typeface="Noto Sans CJK SC"/>
              </a:rPr>
              <a:t>03</a:t>
            </a:r>
            <a:endParaRPr sz="1050" b="1">
              <a:solidFill>
                <a:srgbClr val="E85D0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5" name="Rectangles 24"/>
          <p:cNvSpPr>
            <a:spLocks noGrp="1"/>
          </p:cNvSpPr>
          <p:nvPr/>
        </p:nvSpPr>
        <p:spPr>
          <a:xfrm>
            <a:off x="7143750" y="4038600"/>
            <a:ext cx="4095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350" b="0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rPr>
              <a:t>比较 selected-token LogP 并保存运行记录</a:t>
            </a:r>
            <a:endParaRPr sz="1350" b="0">
              <a:solidFill>
                <a:srgbClr val="17191D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6" name="Straight Connector 25"/>
          <p:cNvSpPr>
            <a:spLocks noGrp="1"/>
          </p:cNvSpPr>
          <p:nvPr/>
        </p:nvSpPr>
        <p:spPr>
          <a:xfrm>
            <a:off x="1028700" y="5219700"/>
            <a:ext cx="495300" cy="0"/>
          </a:xfrm>
          <a:prstGeom prst="line">
            <a:avLst/>
          </a:prstGeom>
          <a:noFill/>
          <a:ln w="28575">
            <a:solidFill>
              <a:srgbClr val="E85D0F"/>
            </a:solidFill>
            <a:prstDash val="solid"/>
          </a:ln>
        </p:spPr>
      </p:sp>
      <p:sp>
        <p:nvSpPr>
          <p:cNvPr id="27" name="Rectangles 26"/>
          <p:cNvSpPr>
            <a:spLocks noGrp="1"/>
          </p:cNvSpPr>
          <p:nvPr/>
        </p:nvSpPr>
        <p:spPr>
          <a:xfrm>
            <a:off x="1714500" y="5124450"/>
            <a:ext cx="94488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l">
              <a:defRPr sz="1500" b="1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rPr>
              <a:t>vime 保证两边在同一个训练时刻处理同一批数据。RL-Kernel 再保证两边对这批 token 算出相同的 LogP。</a:t>
            </a:r>
            <a:endParaRPr sz="1500" b="1">
              <a:solidFill>
                <a:srgbClr val="17191D"/>
              </a:solidFill>
              <a:latin typeface="Noto Sans CJK SC"/>
              <a:ea typeface="Noto Sans CJK SC"/>
              <a:cs typeface="Noto Sans CJK SC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8" name="Rectangles 27"/>
          <p:cNvSpPr>
            <a:spLocks noGrp="1"/>
          </p:cNvSpPr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rgbClr val="111111"/>
          </a:solidFill>
          <a:ln w="0">
            <a:noFill/>
            <a:prstDash val="solid"/>
          </a:ln>
        </p:spPr>
      </p:sp>
      <p:sp>
        <p:nvSpPr>
          <p:cNvPr id="2" name="Rectangles 1"/>
          <p:cNvSpPr>
            <a:spLocks noGrp="1"/>
          </p:cNvSpPr>
          <p:nvPr/>
        </p:nvSpPr>
        <p:spPr>
          <a:xfrm>
            <a:off x="0" y="6667500"/>
            <a:ext cx="12192000" cy="190500"/>
          </a:xfrm>
          <a:prstGeom prst="rect">
            <a:avLst/>
          </a:prstGeom>
          <a:solidFill>
            <a:srgbClr val="111111"/>
          </a:solidFill>
          <a:ln w="0">
            <a:noFill/>
            <a:prstDash val="solid"/>
          </a:ln>
        </p:spPr>
      </p:sp>
      <p:sp>
        <p:nvSpPr>
          <p:cNvPr id="3" name="Straight Connector 2"/>
          <p:cNvSpPr>
            <a:spLocks noGrp="1"/>
          </p:cNvSpPr>
          <p:nvPr/>
        </p:nvSpPr>
        <p:spPr>
          <a:xfrm>
            <a:off x="609600" y="342900"/>
            <a:ext cx="0" cy="552450"/>
          </a:xfrm>
          <a:prstGeom prst="line">
            <a:avLst/>
          </a:prstGeom>
          <a:noFill/>
          <a:ln w="28575">
            <a:solidFill>
              <a:srgbClr val="E85D0F"/>
            </a:solidFill>
            <a:prstDash val="solid"/>
          </a:ln>
        </p:spPr>
      </p:sp>
      <p:sp>
        <p:nvSpPr>
          <p:cNvPr id="4" name="Rectangles 3"/>
          <p:cNvSpPr>
            <a:spLocks noGrp="1"/>
          </p:cNvSpPr>
          <p:nvPr/>
        </p:nvSpPr>
        <p:spPr>
          <a:xfrm>
            <a:off x="781050" y="323850"/>
            <a:ext cx="5429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975" b="0">
                <a:solidFill>
                  <a:srgbClr val="62687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626871"/>
                </a:solidFill>
                <a:latin typeface="Noto Sans CJK SC"/>
                <a:ea typeface="Noto Sans CJK SC"/>
                <a:cs typeface="Noto Sans CJK SC"/>
              </a:rPr>
              <a:t>02  项目定位</a:t>
            </a:r>
            <a:endParaRPr sz="975" b="0">
              <a:solidFill>
                <a:srgbClr val="626871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" name="Rectangles 4"/>
          <p:cNvSpPr>
            <a:spLocks noGrp="1"/>
          </p:cNvSpPr>
          <p:nvPr/>
        </p:nvSpPr>
        <p:spPr>
          <a:xfrm>
            <a:off x="781050" y="657225"/>
            <a:ext cx="107632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2700" b="1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700" b="1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rPr>
              <a:t>RL-Kernel 整体架构</a:t>
            </a:r>
            <a:endParaRPr sz="2700" b="1">
              <a:solidFill>
                <a:srgbClr val="17191D"/>
              </a:solidFill>
              <a:latin typeface="Noto Sans CJK SC"/>
              <a:ea typeface="Noto Sans CJK SC"/>
              <a:cs typeface="Noto Sans CJK SC"/>
            </a:endParaRPr>
          </a:p>
        </p:txBody>
      </p:sp>
      <p:pic>
        <p:nvPicPr>
          <p:cNvPr id="33" name="Picture 3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91750" y="6238875"/>
            <a:ext cx="228600" cy="285750"/>
          </a:xfrm>
          <a:prstGeom prst="rect">
            <a:avLst/>
          </a:prstGeom>
        </p:spPr>
      </p:pic>
      <p:sp>
        <p:nvSpPr>
          <p:cNvPr id="7" name="Rectangles 6"/>
          <p:cNvSpPr>
            <a:spLocks noGrp="1"/>
          </p:cNvSpPr>
          <p:nvPr/>
        </p:nvSpPr>
        <p:spPr>
          <a:xfrm>
            <a:off x="10487025" y="6286500"/>
            <a:ext cx="1047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750" b="1">
                <a:solidFill>
                  <a:srgbClr val="62687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50" b="1">
                <a:solidFill>
                  <a:srgbClr val="626871"/>
                </a:solidFill>
                <a:latin typeface="Noto Sans CJK SC"/>
                <a:ea typeface="Noto Sans CJK SC"/>
                <a:cs typeface="Noto Sans CJK SC"/>
              </a:rPr>
              <a:t>RL-ALIGN</a:t>
            </a:r>
            <a:endParaRPr sz="750" b="1">
              <a:solidFill>
                <a:srgbClr val="626871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8" name="Rectangles 7"/>
          <p:cNvSpPr>
            <a:spLocks noGrp="1"/>
          </p:cNvSpPr>
          <p:nvPr/>
        </p:nvSpPr>
        <p:spPr>
          <a:xfrm>
            <a:off x="609600" y="6343650"/>
            <a:ext cx="4000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750" b="0">
                <a:solidFill>
                  <a:srgbClr val="989EA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50" b="0">
                <a:solidFill>
                  <a:srgbClr val="989EA7"/>
                </a:solidFill>
                <a:latin typeface="Noto Sans CJK SC"/>
                <a:ea typeface="Noto Sans CJK SC"/>
                <a:cs typeface="Noto Sans CJK SC"/>
              </a:rPr>
              <a:t>08</a:t>
            </a:r>
            <a:endParaRPr sz="750" b="0">
              <a:solidFill>
                <a:srgbClr val="989EA7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" name="Rounded Rectangle 8"/>
          <p:cNvSpPr>
            <a:spLocks noGrp="1"/>
          </p:cNvSpPr>
          <p:nvPr/>
        </p:nvSpPr>
        <p:spPr>
          <a:xfrm>
            <a:off x="552450" y="1390650"/>
            <a:ext cx="7086600" cy="4248150"/>
          </a:xfrm>
          <a:prstGeom prst="roundRect">
            <a:avLst>
              <a:gd name="adj" fmla="val 2242"/>
            </a:avLst>
          </a:prstGeom>
          <a:solidFill>
            <a:srgbClr val="FFFFFF"/>
          </a:solidFill>
          <a:ln w="9525">
            <a:solidFill>
              <a:srgbClr val="E85D0F"/>
            </a:solidFill>
            <a:prstDash val="solid"/>
          </a:ln>
        </p:spPr>
      </p:sp>
      <p:pic>
        <p:nvPicPr>
          <p:cNvPr id="37" name="Picture 3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8057" y="1466850"/>
            <a:ext cx="4055385" cy="4095750"/>
          </a:xfrm>
          <a:prstGeom prst="rect">
            <a:avLst/>
          </a:prstGeom>
        </p:spPr>
      </p:pic>
      <p:sp>
        <p:nvSpPr>
          <p:cNvPr id="11" name="Rectangles 10"/>
          <p:cNvSpPr>
            <a:spLocks noGrp="1"/>
          </p:cNvSpPr>
          <p:nvPr/>
        </p:nvSpPr>
        <p:spPr>
          <a:xfrm>
            <a:off x="8229600" y="1581150"/>
            <a:ext cx="2381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725" b="1">
                <a:solidFill>
                  <a:srgbClr val="E85D0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E85D0F"/>
                </a:solidFill>
                <a:latin typeface="Noto Sans CJK SC"/>
                <a:ea typeface="Noto Sans CJK SC"/>
                <a:cs typeface="Noto Sans CJK SC"/>
              </a:rPr>
              <a:t>四层关系</a:t>
            </a:r>
            <a:endParaRPr sz="1725" b="1">
              <a:solidFill>
                <a:srgbClr val="E85D0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2" name="Rectangles 11"/>
          <p:cNvSpPr>
            <a:spLocks noGrp="1"/>
          </p:cNvSpPr>
          <p:nvPr/>
        </p:nvSpPr>
        <p:spPr>
          <a:xfrm>
            <a:off x="8229600" y="2133600"/>
            <a:ext cx="4000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975" b="1">
                <a:solidFill>
                  <a:srgbClr val="989EA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1">
                <a:solidFill>
                  <a:srgbClr val="989EA7"/>
                </a:solidFill>
                <a:latin typeface="Noto Sans CJK SC"/>
                <a:ea typeface="Noto Sans CJK SC"/>
                <a:cs typeface="Noto Sans CJK SC"/>
              </a:rPr>
              <a:t>01</a:t>
            </a:r>
            <a:endParaRPr sz="975" b="1">
              <a:solidFill>
                <a:srgbClr val="989EA7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3" name="Rectangles 12"/>
          <p:cNvSpPr>
            <a:spLocks noGrp="1"/>
          </p:cNvSpPr>
          <p:nvPr/>
        </p:nvSpPr>
        <p:spPr>
          <a:xfrm>
            <a:off x="8763000" y="2105025"/>
            <a:ext cx="2381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500" b="1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rPr>
              <a:t>调度框架</a:t>
            </a:r>
            <a:endParaRPr sz="1500" b="1">
              <a:solidFill>
                <a:srgbClr val="17191D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4" name="Rectangles 13"/>
          <p:cNvSpPr>
            <a:spLocks noGrp="1"/>
          </p:cNvSpPr>
          <p:nvPr/>
        </p:nvSpPr>
        <p:spPr>
          <a:xfrm>
            <a:off x="8763000" y="2419350"/>
            <a:ext cx="25527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125" b="0">
                <a:solidFill>
                  <a:srgbClr val="62687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626871"/>
                </a:solidFill>
                <a:latin typeface="Noto Sans CJK SC"/>
                <a:ea typeface="Noto Sans CJK SC"/>
                <a:cs typeface="Noto Sans CJK SC"/>
              </a:rPr>
              <a:t>vime、slime、verl</a:t>
            </a:r>
            <a:endParaRPr sz="1125" b="0">
              <a:solidFill>
                <a:srgbClr val="626871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5" name="Straight Connector 14"/>
          <p:cNvSpPr>
            <a:spLocks noGrp="1"/>
          </p:cNvSpPr>
          <p:nvPr/>
        </p:nvSpPr>
        <p:spPr>
          <a:xfrm>
            <a:off x="8229600" y="2762250"/>
            <a:ext cx="3048000" cy="0"/>
          </a:xfrm>
          <a:prstGeom prst="line">
            <a:avLst/>
          </a:prstGeom>
          <a:noFill/>
          <a:ln w="9525">
            <a:solidFill>
              <a:srgbClr val="D6DAE0"/>
            </a:solidFill>
            <a:prstDash val="solid"/>
          </a:ln>
        </p:spPr>
      </p:sp>
      <p:sp>
        <p:nvSpPr>
          <p:cNvPr id="16" name="Rectangles 15"/>
          <p:cNvSpPr>
            <a:spLocks noGrp="1"/>
          </p:cNvSpPr>
          <p:nvPr/>
        </p:nvSpPr>
        <p:spPr>
          <a:xfrm>
            <a:off x="8229600" y="2971800"/>
            <a:ext cx="4000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975" b="1">
                <a:solidFill>
                  <a:srgbClr val="989EA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1">
                <a:solidFill>
                  <a:srgbClr val="989EA7"/>
                </a:solidFill>
                <a:latin typeface="Noto Sans CJK SC"/>
                <a:ea typeface="Noto Sans CJK SC"/>
                <a:cs typeface="Noto Sans CJK SC"/>
              </a:rPr>
              <a:t>02</a:t>
            </a:r>
            <a:endParaRPr sz="975" b="1">
              <a:solidFill>
                <a:srgbClr val="989EA7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7" name="Rectangles 16"/>
          <p:cNvSpPr>
            <a:spLocks noGrp="1"/>
          </p:cNvSpPr>
          <p:nvPr/>
        </p:nvSpPr>
        <p:spPr>
          <a:xfrm>
            <a:off x="8763000" y="2943225"/>
            <a:ext cx="2381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500" b="1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rPr>
              <a:t>执行引擎</a:t>
            </a:r>
            <a:endParaRPr sz="1500" b="1">
              <a:solidFill>
                <a:srgbClr val="17191D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8" name="Rectangles 17"/>
          <p:cNvSpPr>
            <a:spLocks noGrp="1"/>
          </p:cNvSpPr>
          <p:nvPr/>
        </p:nvSpPr>
        <p:spPr>
          <a:xfrm>
            <a:off x="8763000" y="3257550"/>
            <a:ext cx="25527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125" b="0">
                <a:solidFill>
                  <a:srgbClr val="62687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626871"/>
                </a:solidFill>
                <a:latin typeface="Noto Sans CJK SC"/>
                <a:ea typeface="Noto Sans CJK SC"/>
                <a:cs typeface="Noto Sans CJK SC"/>
              </a:rPr>
              <a:t>rollout 和 training</a:t>
            </a:r>
            <a:endParaRPr sz="1125" b="0">
              <a:solidFill>
                <a:srgbClr val="626871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9" name="Straight Connector 18"/>
          <p:cNvSpPr>
            <a:spLocks noGrp="1"/>
          </p:cNvSpPr>
          <p:nvPr/>
        </p:nvSpPr>
        <p:spPr>
          <a:xfrm>
            <a:off x="8229600" y="3600450"/>
            <a:ext cx="3048000" cy="0"/>
          </a:xfrm>
          <a:prstGeom prst="line">
            <a:avLst/>
          </a:prstGeom>
          <a:noFill/>
          <a:ln w="9525">
            <a:solidFill>
              <a:srgbClr val="D6DAE0"/>
            </a:solidFill>
            <a:prstDash val="solid"/>
          </a:ln>
        </p:spPr>
      </p:sp>
      <p:sp>
        <p:nvSpPr>
          <p:cNvPr id="20" name="Rectangles 19"/>
          <p:cNvSpPr>
            <a:spLocks noGrp="1"/>
          </p:cNvSpPr>
          <p:nvPr/>
        </p:nvSpPr>
        <p:spPr>
          <a:xfrm>
            <a:off x="8229600" y="3810000"/>
            <a:ext cx="4000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975" b="1">
                <a:solidFill>
                  <a:srgbClr val="E85D0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1">
                <a:solidFill>
                  <a:srgbClr val="E85D0F"/>
                </a:solidFill>
                <a:latin typeface="Noto Sans CJK SC"/>
                <a:ea typeface="Noto Sans CJK SC"/>
                <a:cs typeface="Noto Sans CJK SC"/>
              </a:rPr>
              <a:t>03</a:t>
            </a:r>
            <a:endParaRPr sz="975" b="1">
              <a:solidFill>
                <a:srgbClr val="E85D0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1" name="Rectangles 20"/>
          <p:cNvSpPr>
            <a:spLocks noGrp="1"/>
          </p:cNvSpPr>
          <p:nvPr/>
        </p:nvSpPr>
        <p:spPr>
          <a:xfrm>
            <a:off x="8763000" y="3781425"/>
            <a:ext cx="2381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500" b="1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rPr>
              <a:t>一致性算子</a:t>
            </a:r>
            <a:endParaRPr sz="1500" b="1">
              <a:solidFill>
                <a:srgbClr val="17191D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2" name="Rectangles 21"/>
          <p:cNvSpPr>
            <a:spLocks noGrp="1"/>
          </p:cNvSpPr>
          <p:nvPr/>
        </p:nvSpPr>
        <p:spPr>
          <a:xfrm>
            <a:off x="8763000" y="4095750"/>
            <a:ext cx="25527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125" b="0">
                <a:solidFill>
                  <a:srgbClr val="62687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626871"/>
                </a:solidFill>
                <a:latin typeface="Noto Sans CJK SC"/>
                <a:ea typeface="Noto Sans CJK SC"/>
                <a:cs typeface="Noto Sans CJK SC"/>
              </a:rPr>
              <a:t>RL-Kernel</a:t>
            </a:r>
            <a:endParaRPr sz="1125" b="0">
              <a:solidFill>
                <a:srgbClr val="626871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3" name="Straight Connector 22"/>
          <p:cNvSpPr>
            <a:spLocks noGrp="1"/>
          </p:cNvSpPr>
          <p:nvPr/>
        </p:nvSpPr>
        <p:spPr>
          <a:xfrm>
            <a:off x="8229600" y="4438650"/>
            <a:ext cx="3048000" cy="0"/>
          </a:xfrm>
          <a:prstGeom prst="line">
            <a:avLst/>
          </a:prstGeom>
          <a:noFill/>
          <a:ln w="9525">
            <a:solidFill>
              <a:srgbClr val="D6DAE0"/>
            </a:solidFill>
            <a:prstDash val="solid"/>
          </a:ln>
        </p:spPr>
      </p:sp>
      <p:sp>
        <p:nvSpPr>
          <p:cNvPr id="24" name="Rectangles 23"/>
          <p:cNvSpPr>
            <a:spLocks noGrp="1"/>
          </p:cNvSpPr>
          <p:nvPr/>
        </p:nvSpPr>
        <p:spPr>
          <a:xfrm>
            <a:off x="8229600" y="4648200"/>
            <a:ext cx="4000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975" b="1">
                <a:solidFill>
                  <a:srgbClr val="989EA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1">
                <a:solidFill>
                  <a:srgbClr val="989EA7"/>
                </a:solidFill>
                <a:latin typeface="Noto Sans CJK SC"/>
                <a:ea typeface="Noto Sans CJK SC"/>
                <a:cs typeface="Noto Sans CJK SC"/>
              </a:rPr>
              <a:t>04</a:t>
            </a:r>
            <a:endParaRPr sz="975" b="1">
              <a:solidFill>
                <a:srgbClr val="989EA7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5" name="Rectangles 24"/>
          <p:cNvSpPr>
            <a:spLocks noGrp="1"/>
          </p:cNvSpPr>
          <p:nvPr/>
        </p:nvSpPr>
        <p:spPr>
          <a:xfrm>
            <a:off x="8763000" y="4619625"/>
            <a:ext cx="2381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500" b="1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rPr>
              <a:t>硬件后端</a:t>
            </a:r>
            <a:endParaRPr sz="1500" b="1">
              <a:solidFill>
                <a:srgbClr val="17191D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6" name="Rectangles 25"/>
          <p:cNvSpPr>
            <a:spLocks noGrp="1"/>
          </p:cNvSpPr>
          <p:nvPr/>
        </p:nvSpPr>
        <p:spPr>
          <a:xfrm>
            <a:off x="8763000" y="4933950"/>
            <a:ext cx="25527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125" b="0">
                <a:solidFill>
                  <a:srgbClr val="62687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626871"/>
                </a:solidFill>
                <a:latin typeface="Noto Sans CJK SC"/>
                <a:ea typeface="Noto Sans CJK SC"/>
                <a:cs typeface="Noto Sans CJK SC"/>
              </a:rPr>
              <a:t>CUDA、ROCm 等</a:t>
            </a:r>
            <a:endParaRPr sz="1125" b="0">
              <a:solidFill>
                <a:srgbClr val="626871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7" name="Rectangles 26"/>
          <p:cNvSpPr>
            <a:spLocks noGrp="1"/>
          </p:cNvSpPr>
          <p:nvPr/>
        </p:nvSpPr>
        <p:spPr>
          <a:xfrm>
            <a:off x="7715250" y="5219700"/>
            <a:ext cx="38671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050" b="0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rPr>
              <a:t>调度框架组织 RL 工作流，rollout 与 training 引擎分别完成生成和训练。RL-Kernel 位于执行引擎与硬件后端之间，提供运行时适配和关键算子。</a:t>
            </a:r>
            <a:endParaRPr sz="1050" b="0">
              <a:solidFill>
                <a:srgbClr val="17191D"/>
              </a:solidFill>
              <a:latin typeface="Noto Sans CJK SC"/>
              <a:ea typeface="Noto Sans CJK SC"/>
              <a:cs typeface="Noto Sans CJK SC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2" name="Rectangles 31"/>
          <p:cNvSpPr>
            <a:spLocks noGrp="1"/>
          </p:cNvSpPr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rgbClr val="111111"/>
          </a:solidFill>
          <a:ln w="0">
            <a:noFill/>
            <a:prstDash val="solid"/>
          </a:ln>
        </p:spPr>
      </p:sp>
      <p:sp>
        <p:nvSpPr>
          <p:cNvPr id="2" name="Rectangles 1"/>
          <p:cNvSpPr>
            <a:spLocks noGrp="1"/>
          </p:cNvSpPr>
          <p:nvPr/>
        </p:nvSpPr>
        <p:spPr>
          <a:xfrm>
            <a:off x="0" y="6667500"/>
            <a:ext cx="12192000" cy="190500"/>
          </a:xfrm>
          <a:prstGeom prst="rect">
            <a:avLst/>
          </a:prstGeom>
          <a:solidFill>
            <a:srgbClr val="111111"/>
          </a:solidFill>
          <a:ln w="0">
            <a:noFill/>
            <a:prstDash val="solid"/>
          </a:ln>
        </p:spPr>
      </p:sp>
      <p:sp>
        <p:nvSpPr>
          <p:cNvPr id="3" name="Straight Connector 2"/>
          <p:cNvSpPr>
            <a:spLocks noGrp="1"/>
          </p:cNvSpPr>
          <p:nvPr/>
        </p:nvSpPr>
        <p:spPr>
          <a:xfrm>
            <a:off x="609600" y="342900"/>
            <a:ext cx="0" cy="552450"/>
          </a:xfrm>
          <a:prstGeom prst="line">
            <a:avLst/>
          </a:prstGeom>
          <a:noFill/>
          <a:ln w="28575">
            <a:solidFill>
              <a:srgbClr val="E85D0F"/>
            </a:solidFill>
            <a:prstDash val="solid"/>
          </a:ln>
        </p:spPr>
      </p:sp>
      <p:sp>
        <p:nvSpPr>
          <p:cNvPr id="4" name="Rectangles 3"/>
          <p:cNvSpPr>
            <a:spLocks noGrp="1"/>
          </p:cNvSpPr>
          <p:nvPr/>
        </p:nvSpPr>
        <p:spPr>
          <a:xfrm>
            <a:off x="781050" y="323850"/>
            <a:ext cx="5429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975" b="0">
                <a:solidFill>
                  <a:srgbClr val="62687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626871"/>
                </a:solidFill>
                <a:latin typeface="Noto Sans CJK SC"/>
                <a:ea typeface="Noto Sans CJK SC"/>
                <a:cs typeface="Noto Sans CJK SC"/>
              </a:rPr>
              <a:t>02  项目定位</a:t>
            </a:r>
            <a:endParaRPr sz="975" b="0">
              <a:solidFill>
                <a:srgbClr val="626871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" name="Rectangles 4"/>
          <p:cNvSpPr>
            <a:spLocks noGrp="1"/>
          </p:cNvSpPr>
          <p:nvPr/>
        </p:nvSpPr>
        <p:spPr>
          <a:xfrm>
            <a:off x="781050" y="657225"/>
            <a:ext cx="107632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2700" b="1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700" b="1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rPr>
              <a:t>RL-Kernel 在单个 RL step 中的位置</a:t>
            </a:r>
            <a:endParaRPr sz="2700" b="1">
              <a:solidFill>
                <a:srgbClr val="17191D"/>
              </a:solidFill>
              <a:latin typeface="Noto Sans CJK SC"/>
              <a:ea typeface="Noto Sans CJK SC"/>
              <a:cs typeface="Noto Sans CJK SC"/>
            </a:endParaRPr>
          </a:p>
        </p:txBody>
      </p:sp>
      <p:pic>
        <p:nvPicPr>
          <p:cNvPr id="37" name="Picture 3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91750" y="6238875"/>
            <a:ext cx="228600" cy="285750"/>
          </a:xfrm>
          <a:prstGeom prst="rect">
            <a:avLst/>
          </a:prstGeom>
        </p:spPr>
      </p:pic>
      <p:sp>
        <p:nvSpPr>
          <p:cNvPr id="7" name="Rectangles 6"/>
          <p:cNvSpPr>
            <a:spLocks noGrp="1"/>
          </p:cNvSpPr>
          <p:nvPr/>
        </p:nvSpPr>
        <p:spPr>
          <a:xfrm>
            <a:off x="10487025" y="6286500"/>
            <a:ext cx="1047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750" b="1">
                <a:solidFill>
                  <a:srgbClr val="62687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50" b="1">
                <a:solidFill>
                  <a:srgbClr val="626871"/>
                </a:solidFill>
                <a:latin typeface="Noto Sans CJK SC"/>
                <a:ea typeface="Noto Sans CJK SC"/>
                <a:cs typeface="Noto Sans CJK SC"/>
              </a:rPr>
              <a:t>RL-ALIGN</a:t>
            </a:r>
            <a:endParaRPr sz="750" b="1">
              <a:solidFill>
                <a:srgbClr val="626871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8" name="Rectangles 7"/>
          <p:cNvSpPr>
            <a:spLocks noGrp="1"/>
          </p:cNvSpPr>
          <p:nvPr/>
        </p:nvSpPr>
        <p:spPr>
          <a:xfrm>
            <a:off x="609600" y="6343650"/>
            <a:ext cx="4000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750" b="0">
                <a:solidFill>
                  <a:srgbClr val="989EA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50" b="0">
                <a:solidFill>
                  <a:srgbClr val="989EA7"/>
                </a:solidFill>
                <a:latin typeface="Noto Sans CJK SC"/>
                <a:ea typeface="Noto Sans CJK SC"/>
                <a:cs typeface="Noto Sans CJK SC"/>
              </a:rPr>
              <a:t>09</a:t>
            </a:r>
            <a:endParaRPr sz="750" b="0">
              <a:solidFill>
                <a:srgbClr val="989EA7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" name="Rounded Rectangle 8"/>
          <p:cNvSpPr>
            <a:spLocks noGrp="1"/>
          </p:cNvSpPr>
          <p:nvPr/>
        </p:nvSpPr>
        <p:spPr>
          <a:xfrm>
            <a:off x="533400" y="2228850"/>
            <a:ext cx="1924050" cy="1352550"/>
          </a:xfrm>
          <a:prstGeom prst="roundRect">
            <a:avLst>
              <a:gd name="adj" fmla="val 9859"/>
            </a:avLst>
          </a:prstGeom>
          <a:solidFill>
            <a:srgbClr val="F6F7F9"/>
          </a:solidFill>
          <a:ln w="9525">
            <a:solidFill>
              <a:srgbClr val="D6DAE0"/>
            </a:solidFill>
            <a:prstDash val="solid"/>
          </a:ln>
        </p:spPr>
      </p:sp>
      <p:sp>
        <p:nvSpPr>
          <p:cNvPr id="10" name="Rectangles 9"/>
          <p:cNvSpPr>
            <a:spLocks noGrp="1"/>
          </p:cNvSpPr>
          <p:nvPr/>
        </p:nvSpPr>
        <p:spPr>
          <a:xfrm>
            <a:off x="704850" y="2400300"/>
            <a:ext cx="15811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ctr">
              <a:defRPr sz="975" b="1">
                <a:solidFill>
                  <a:srgbClr val="989EA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1">
                <a:solidFill>
                  <a:srgbClr val="989EA7"/>
                </a:solidFill>
                <a:latin typeface="Noto Sans CJK SC"/>
                <a:ea typeface="Noto Sans CJK SC"/>
                <a:cs typeface="Noto Sans CJK SC"/>
              </a:rPr>
              <a:t>Prompt</a:t>
            </a:r>
            <a:endParaRPr sz="975" b="1">
              <a:solidFill>
                <a:srgbClr val="989EA7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1" name="Rectangles 10"/>
          <p:cNvSpPr>
            <a:spLocks noGrp="1"/>
          </p:cNvSpPr>
          <p:nvPr/>
        </p:nvSpPr>
        <p:spPr>
          <a:xfrm>
            <a:off x="704850" y="2800350"/>
            <a:ext cx="15811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ctr">
              <a:defRPr sz="1425" b="1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1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rPr>
              <a:t>输入</a:t>
            </a:r>
            <a:endParaRPr sz="1425" b="1">
              <a:solidFill>
                <a:srgbClr val="17191D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2" name="Right Arrow 11"/>
          <p:cNvSpPr>
            <a:spLocks noGrp="1"/>
          </p:cNvSpPr>
          <p:nvPr/>
        </p:nvSpPr>
        <p:spPr>
          <a:xfrm>
            <a:off x="2486025" y="2800350"/>
            <a:ext cx="361950" cy="142875"/>
          </a:xfrm>
          <a:prstGeom prst="rightArrow">
            <a:avLst/>
          </a:prstGeom>
          <a:solidFill>
            <a:srgbClr val="D6DAE0"/>
          </a:solidFill>
          <a:ln w="0">
            <a:solidFill>
              <a:srgbClr val="D6DAE0"/>
            </a:solidFill>
            <a:prstDash val="solid"/>
          </a:ln>
        </p:spPr>
      </p:sp>
      <p:sp>
        <p:nvSpPr>
          <p:cNvPr id="13" name="Rounded Rectangle 12"/>
          <p:cNvSpPr>
            <a:spLocks noGrp="1"/>
          </p:cNvSpPr>
          <p:nvPr/>
        </p:nvSpPr>
        <p:spPr>
          <a:xfrm>
            <a:off x="2876550" y="2228850"/>
            <a:ext cx="1924050" cy="1352550"/>
          </a:xfrm>
          <a:prstGeom prst="roundRect">
            <a:avLst>
              <a:gd name="adj" fmla="val 9859"/>
            </a:avLst>
          </a:prstGeom>
          <a:solidFill>
            <a:srgbClr val="FFF1E8"/>
          </a:solidFill>
          <a:ln w="19050">
            <a:solidFill>
              <a:srgbClr val="E85D0F"/>
            </a:solidFill>
            <a:prstDash val="solid"/>
          </a:ln>
        </p:spPr>
      </p:sp>
      <p:sp>
        <p:nvSpPr>
          <p:cNvPr id="14" name="Rectangles 13"/>
          <p:cNvSpPr>
            <a:spLocks noGrp="1"/>
          </p:cNvSpPr>
          <p:nvPr/>
        </p:nvSpPr>
        <p:spPr>
          <a:xfrm>
            <a:off x="3048000" y="2400300"/>
            <a:ext cx="15811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ctr">
              <a:defRPr sz="975" b="1">
                <a:solidFill>
                  <a:srgbClr val="E85D0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1">
                <a:solidFill>
                  <a:srgbClr val="E85D0F"/>
                </a:solidFill>
                <a:latin typeface="Noto Sans CJK SC"/>
                <a:ea typeface="Noto Sans CJK SC"/>
                <a:cs typeface="Noto Sans CJK SC"/>
              </a:rPr>
              <a:t>Rollout</a:t>
            </a:r>
            <a:endParaRPr sz="975" b="1">
              <a:solidFill>
                <a:srgbClr val="E85D0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5" name="Rectangles 14"/>
          <p:cNvSpPr>
            <a:spLocks noGrp="1"/>
          </p:cNvSpPr>
          <p:nvPr/>
        </p:nvSpPr>
        <p:spPr>
          <a:xfrm>
            <a:off x="3048000" y="2800350"/>
            <a:ext cx="15811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ctr">
              <a:defRPr sz="1425" b="1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1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rPr>
              <a:t>生成 token + LogP</a:t>
            </a:r>
            <a:endParaRPr sz="1425" b="1">
              <a:solidFill>
                <a:srgbClr val="17191D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6" name="Right Arrow 15"/>
          <p:cNvSpPr>
            <a:spLocks noGrp="1"/>
          </p:cNvSpPr>
          <p:nvPr/>
        </p:nvSpPr>
        <p:spPr>
          <a:xfrm>
            <a:off x="4829175" y="2800350"/>
            <a:ext cx="361950" cy="142875"/>
          </a:xfrm>
          <a:prstGeom prst="rightArrow">
            <a:avLst/>
          </a:prstGeom>
          <a:solidFill>
            <a:srgbClr val="D6DAE0"/>
          </a:solidFill>
          <a:ln w="0">
            <a:solidFill>
              <a:srgbClr val="D6DAE0"/>
            </a:solidFill>
            <a:prstDash val="solid"/>
          </a:ln>
        </p:spPr>
      </p:sp>
      <p:sp>
        <p:nvSpPr>
          <p:cNvPr id="17" name="Rounded Rectangle 16"/>
          <p:cNvSpPr>
            <a:spLocks noGrp="1"/>
          </p:cNvSpPr>
          <p:nvPr/>
        </p:nvSpPr>
        <p:spPr>
          <a:xfrm>
            <a:off x="5219700" y="2228850"/>
            <a:ext cx="1924050" cy="1352550"/>
          </a:xfrm>
          <a:prstGeom prst="roundRect">
            <a:avLst>
              <a:gd name="adj" fmla="val 9859"/>
            </a:avLst>
          </a:prstGeom>
          <a:solidFill>
            <a:srgbClr val="F6F7F9"/>
          </a:solidFill>
          <a:ln w="9525">
            <a:solidFill>
              <a:srgbClr val="D6DAE0"/>
            </a:solidFill>
            <a:prstDash val="solid"/>
          </a:ln>
        </p:spPr>
      </p:sp>
      <p:sp>
        <p:nvSpPr>
          <p:cNvPr id="18" name="Rectangles 17"/>
          <p:cNvSpPr>
            <a:spLocks noGrp="1"/>
          </p:cNvSpPr>
          <p:nvPr/>
        </p:nvSpPr>
        <p:spPr>
          <a:xfrm>
            <a:off x="5391150" y="2400300"/>
            <a:ext cx="15811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ctr">
              <a:defRPr sz="975" b="1">
                <a:solidFill>
                  <a:srgbClr val="989EA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1">
                <a:solidFill>
                  <a:srgbClr val="989EA7"/>
                </a:solidFill>
                <a:latin typeface="Noto Sans CJK SC"/>
                <a:ea typeface="Noto Sans CJK SC"/>
                <a:cs typeface="Noto Sans CJK SC"/>
              </a:rPr>
              <a:t>Reward</a:t>
            </a:r>
            <a:endParaRPr sz="975" b="1">
              <a:solidFill>
                <a:srgbClr val="989EA7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9" name="Rectangles 18"/>
          <p:cNvSpPr>
            <a:spLocks noGrp="1"/>
          </p:cNvSpPr>
          <p:nvPr/>
        </p:nvSpPr>
        <p:spPr>
          <a:xfrm>
            <a:off x="5391150" y="2800350"/>
            <a:ext cx="15811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ctr">
              <a:defRPr sz="1425" b="1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1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rPr>
              <a:t>奖励与优势</a:t>
            </a:r>
            <a:endParaRPr sz="1425" b="1">
              <a:solidFill>
                <a:srgbClr val="17191D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0" name="Right Arrow 19"/>
          <p:cNvSpPr>
            <a:spLocks noGrp="1"/>
          </p:cNvSpPr>
          <p:nvPr/>
        </p:nvSpPr>
        <p:spPr>
          <a:xfrm>
            <a:off x="7172325" y="2800350"/>
            <a:ext cx="361950" cy="142875"/>
          </a:xfrm>
          <a:prstGeom prst="rightArrow">
            <a:avLst/>
          </a:prstGeom>
          <a:solidFill>
            <a:srgbClr val="D6DAE0"/>
          </a:solidFill>
          <a:ln w="0">
            <a:solidFill>
              <a:srgbClr val="D6DAE0"/>
            </a:solidFill>
            <a:prstDash val="solid"/>
          </a:ln>
        </p:spPr>
      </p:sp>
      <p:sp>
        <p:nvSpPr>
          <p:cNvPr id="21" name="Rounded Rectangle 20"/>
          <p:cNvSpPr>
            <a:spLocks noGrp="1"/>
          </p:cNvSpPr>
          <p:nvPr/>
        </p:nvSpPr>
        <p:spPr>
          <a:xfrm>
            <a:off x="7562850" y="2228850"/>
            <a:ext cx="1924050" cy="1352550"/>
          </a:xfrm>
          <a:prstGeom prst="roundRect">
            <a:avLst>
              <a:gd name="adj" fmla="val 9859"/>
            </a:avLst>
          </a:prstGeom>
          <a:solidFill>
            <a:srgbClr val="FFF1E8"/>
          </a:solidFill>
          <a:ln w="19050">
            <a:solidFill>
              <a:srgbClr val="E85D0F"/>
            </a:solidFill>
            <a:prstDash val="solid"/>
          </a:ln>
        </p:spPr>
      </p:sp>
      <p:sp>
        <p:nvSpPr>
          <p:cNvPr id="22" name="Rectangles 21"/>
          <p:cNvSpPr>
            <a:spLocks noGrp="1"/>
          </p:cNvSpPr>
          <p:nvPr/>
        </p:nvSpPr>
        <p:spPr>
          <a:xfrm>
            <a:off x="7734300" y="2400300"/>
            <a:ext cx="15811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ctr">
              <a:defRPr sz="975" b="1">
                <a:solidFill>
                  <a:srgbClr val="E85D0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1">
                <a:solidFill>
                  <a:srgbClr val="E85D0F"/>
                </a:solidFill>
                <a:latin typeface="Noto Sans CJK SC"/>
                <a:ea typeface="Noto Sans CJK SC"/>
                <a:cs typeface="Noto Sans CJK SC"/>
              </a:rPr>
              <a:t>Training</a:t>
            </a:r>
            <a:endParaRPr sz="975" b="1">
              <a:solidFill>
                <a:srgbClr val="E85D0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3" name="Rectangles 22"/>
          <p:cNvSpPr>
            <a:spLocks noGrp="1"/>
          </p:cNvSpPr>
          <p:nvPr/>
        </p:nvSpPr>
        <p:spPr>
          <a:xfrm>
            <a:off x="7734300" y="2800350"/>
            <a:ext cx="15811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ctr">
              <a:defRPr sz="1425" b="1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1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rPr>
              <a:t>重算 LogP + 更新</a:t>
            </a:r>
            <a:endParaRPr sz="1425" b="1">
              <a:solidFill>
                <a:srgbClr val="17191D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4" name="Right Arrow 23"/>
          <p:cNvSpPr>
            <a:spLocks noGrp="1"/>
          </p:cNvSpPr>
          <p:nvPr/>
        </p:nvSpPr>
        <p:spPr>
          <a:xfrm>
            <a:off x="9515475" y="2800350"/>
            <a:ext cx="361950" cy="142875"/>
          </a:xfrm>
          <a:prstGeom prst="rightArrow">
            <a:avLst/>
          </a:prstGeom>
          <a:solidFill>
            <a:srgbClr val="D6DAE0"/>
          </a:solidFill>
          <a:ln w="0">
            <a:solidFill>
              <a:srgbClr val="D6DAE0"/>
            </a:solidFill>
            <a:prstDash val="solid"/>
          </a:ln>
        </p:spPr>
      </p:sp>
      <p:sp>
        <p:nvSpPr>
          <p:cNvPr id="25" name="Rounded Rectangle 24"/>
          <p:cNvSpPr>
            <a:spLocks noGrp="1"/>
          </p:cNvSpPr>
          <p:nvPr/>
        </p:nvSpPr>
        <p:spPr>
          <a:xfrm>
            <a:off x="9906000" y="2228850"/>
            <a:ext cx="1924050" cy="1352550"/>
          </a:xfrm>
          <a:prstGeom prst="roundRect">
            <a:avLst>
              <a:gd name="adj" fmla="val 9859"/>
            </a:avLst>
          </a:prstGeom>
          <a:solidFill>
            <a:srgbClr val="F6F7F9"/>
          </a:solidFill>
          <a:ln w="9525">
            <a:solidFill>
              <a:srgbClr val="D6DAE0"/>
            </a:solidFill>
            <a:prstDash val="solid"/>
          </a:ln>
        </p:spPr>
      </p:sp>
      <p:sp>
        <p:nvSpPr>
          <p:cNvPr id="26" name="Rectangles 25"/>
          <p:cNvSpPr>
            <a:spLocks noGrp="1"/>
          </p:cNvSpPr>
          <p:nvPr/>
        </p:nvSpPr>
        <p:spPr>
          <a:xfrm>
            <a:off x="10077450" y="2400300"/>
            <a:ext cx="15811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ctr">
              <a:defRPr sz="975" b="1">
                <a:solidFill>
                  <a:srgbClr val="989EA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1">
                <a:solidFill>
                  <a:srgbClr val="989EA7"/>
                </a:solidFill>
                <a:latin typeface="Noto Sans CJK SC"/>
                <a:ea typeface="Noto Sans CJK SC"/>
                <a:cs typeface="Noto Sans CJK SC"/>
              </a:rPr>
              <a:t>Weight sync</a:t>
            </a:r>
            <a:endParaRPr sz="975" b="1">
              <a:solidFill>
                <a:srgbClr val="989EA7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7" name="Rectangles 26"/>
          <p:cNvSpPr>
            <a:spLocks noGrp="1"/>
          </p:cNvSpPr>
          <p:nvPr/>
        </p:nvSpPr>
        <p:spPr>
          <a:xfrm>
            <a:off x="10077450" y="2800350"/>
            <a:ext cx="15811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ctr">
              <a:defRPr sz="1425" b="1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1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rPr>
              <a:t>权重回传</a:t>
            </a:r>
            <a:endParaRPr sz="1425" b="1">
              <a:solidFill>
                <a:srgbClr val="17191D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8" name="Rounded Rectangle 27"/>
          <p:cNvSpPr>
            <a:spLocks noGrp="1"/>
          </p:cNvSpPr>
          <p:nvPr/>
        </p:nvSpPr>
        <p:spPr>
          <a:xfrm>
            <a:off x="3143250" y="4057650"/>
            <a:ext cx="6743700" cy="628650"/>
          </a:xfrm>
          <a:prstGeom prst="roundRect">
            <a:avLst>
              <a:gd name="adj" fmla="val 27273"/>
            </a:avLst>
          </a:prstGeom>
          <a:solidFill>
            <a:srgbClr val="FFF1E8"/>
          </a:solidFill>
          <a:ln w="19050">
            <a:solidFill>
              <a:srgbClr val="E85D0F"/>
            </a:solidFill>
            <a:prstDash val="solid"/>
          </a:ln>
        </p:spPr>
      </p:sp>
      <p:sp>
        <p:nvSpPr>
          <p:cNvPr id="29" name="Rectangles 28"/>
          <p:cNvSpPr>
            <a:spLocks noGrp="1"/>
          </p:cNvSpPr>
          <p:nvPr/>
        </p:nvSpPr>
        <p:spPr>
          <a:xfrm>
            <a:off x="3676650" y="4210050"/>
            <a:ext cx="56769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ctr">
              <a:defRPr sz="1650" b="1">
                <a:solidFill>
                  <a:srgbClr val="A8440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A8440D"/>
                </a:solidFill>
                <a:latin typeface="Noto Sans CJK SC"/>
                <a:ea typeface="Noto Sans CJK SC"/>
                <a:cs typeface="Noto Sans CJK SC"/>
              </a:rPr>
              <a:t>RL-Kernel 关注的数值路径</a:t>
            </a:r>
            <a:endParaRPr sz="1650" b="1">
              <a:solidFill>
                <a:srgbClr val="A8440D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0" name="Straight Connector 29"/>
          <p:cNvSpPr>
            <a:spLocks noGrp="1"/>
          </p:cNvSpPr>
          <p:nvPr/>
        </p:nvSpPr>
        <p:spPr>
          <a:xfrm>
            <a:off x="1028700" y="5067300"/>
            <a:ext cx="495300" cy="0"/>
          </a:xfrm>
          <a:prstGeom prst="line">
            <a:avLst/>
          </a:prstGeom>
          <a:noFill/>
          <a:ln w="28575">
            <a:solidFill>
              <a:srgbClr val="E85D0F"/>
            </a:solidFill>
            <a:prstDash val="solid"/>
          </a:ln>
        </p:spPr>
      </p:sp>
      <p:sp>
        <p:nvSpPr>
          <p:cNvPr id="31" name="Rectangles 30"/>
          <p:cNvSpPr>
            <a:spLocks noGrp="1"/>
          </p:cNvSpPr>
          <p:nvPr/>
        </p:nvSpPr>
        <p:spPr>
          <a:xfrm>
            <a:off x="1714500" y="4972050"/>
            <a:ext cx="94488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l">
              <a:defRPr sz="1350" b="0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rPr>
              <a:t>权重更新前，rollout 记录的 LogP 与 training 重算的 LogP 应对应同一版权重。验证覆盖完整 RL step，同时保留算子级检查。</a:t>
            </a:r>
            <a:endParaRPr sz="1350" b="0">
              <a:solidFill>
                <a:srgbClr val="17191D"/>
              </a:solidFill>
              <a:latin typeface="Noto Sans CJK SC"/>
              <a:ea typeface="Noto Sans CJK SC"/>
              <a:cs typeface="Noto Sans CJK SC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9" name="Rectangles 28"/>
          <p:cNvSpPr>
            <a:spLocks noGrp="1"/>
          </p:cNvSpPr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rgbClr val="111111"/>
          </a:solidFill>
          <a:ln w="0">
            <a:noFill/>
            <a:prstDash val="solid"/>
          </a:ln>
        </p:spPr>
      </p:sp>
      <p:sp>
        <p:nvSpPr>
          <p:cNvPr id="2" name="Rectangles 1"/>
          <p:cNvSpPr>
            <a:spLocks noGrp="1"/>
          </p:cNvSpPr>
          <p:nvPr/>
        </p:nvSpPr>
        <p:spPr>
          <a:xfrm>
            <a:off x="0" y="6667500"/>
            <a:ext cx="12192000" cy="190500"/>
          </a:xfrm>
          <a:prstGeom prst="rect">
            <a:avLst/>
          </a:prstGeom>
          <a:solidFill>
            <a:srgbClr val="111111"/>
          </a:solidFill>
          <a:ln w="0">
            <a:noFill/>
            <a:prstDash val="solid"/>
          </a:ln>
        </p:spPr>
      </p:sp>
      <p:sp>
        <p:nvSpPr>
          <p:cNvPr id="3" name="Straight Connector 2"/>
          <p:cNvSpPr>
            <a:spLocks noGrp="1"/>
          </p:cNvSpPr>
          <p:nvPr/>
        </p:nvSpPr>
        <p:spPr>
          <a:xfrm>
            <a:off x="609600" y="342900"/>
            <a:ext cx="0" cy="552450"/>
          </a:xfrm>
          <a:prstGeom prst="line">
            <a:avLst/>
          </a:prstGeom>
          <a:noFill/>
          <a:ln w="28575">
            <a:solidFill>
              <a:srgbClr val="E85D0F"/>
            </a:solidFill>
            <a:prstDash val="solid"/>
          </a:ln>
        </p:spPr>
      </p:sp>
      <p:sp>
        <p:nvSpPr>
          <p:cNvPr id="4" name="Rectangles 3"/>
          <p:cNvSpPr>
            <a:spLocks noGrp="1"/>
          </p:cNvSpPr>
          <p:nvPr/>
        </p:nvSpPr>
        <p:spPr>
          <a:xfrm>
            <a:off x="781050" y="323850"/>
            <a:ext cx="5429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975" b="0">
                <a:solidFill>
                  <a:srgbClr val="62687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626871"/>
                </a:solidFill>
                <a:latin typeface="Noto Sans CJK SC"/>
                <a:ea typeface="Noto Sans CJK SC"/>
                <a:cs typeface="Noto Sans CJK SC"/>
              </a:rPr>
              <a:t>02  项目定位</a:t>
            </a:r>
            <a:endParaRPr sz="975" b="0">
              <a:solidFill>
                <a:srgbClr val="626871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" name="Rectangles 4"/>
          <p:cNvSpPr>
            <a:spLocks noGrp="1"/>
          </p:cNvSpPr>
          <p:nvPr/>
        </p:nvSpPr>
        <p:spPr>
          <a:xfrm>
            <a:off x="781050" y="657225"/>
            <a:ext cx="107632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2700" b="1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700" b="1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rPr>
              <a:t>训推两侧需要对齐的计算</a:t>
            </a:r>
            <a:endParaRPr sz="2700" b="1">
              <a:solidFill>
                <a:srgbClr val="17191D"/>
              </a:solidFill>
              <a:latin typeface="Noto Sans CJK SC"/>
              <a:ea typeface="Noto Sans CJK SC"/>
              <a:cs typeface="Noto Sans CJK SC"/>
            </a:endParaRPr>
          </a:p>
        </p:txBody>
      </p:sp>
      <p:pic>
        <p:nvPicPr>
          <p:cNvPr id="34" name="Picture 3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91750" y="6238875"/>
            <a:ext cx="228600" cy="285750"/>
          </a:xfrm>
          <a:prstGeom prst="rect">
            <a:avLst/>
          </a:prstGeom>
        </p:spPr>
      </p:pic>
      <p:sp>
        <p:nvSpPr>
          <p:cNvPr id="7" name="Rectangles 6"/>
          <p:cNvSpPr>
            <a:spLocks noGrp="1"/>
          </p:cNvSpPr>
          <p:nvPr/>
        </p:nvSpPr>
        <p:spPr>
          <a:xfrm>
            <a:off x="10487025" y="6286500"/>
            <a:ext cx="1047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750" b="1">
                <a:solidFill>
                  <a:srgbClr val="62687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50" b="1">
                <a:solidFill>
                  <a:srgbClr val="626871"/>
                </a:solidFill>
                <a:latin typeface="Noto Sans CJK SC"/>
                <a:ea typeface="Noto Sans CJK SC"/>
                <a:cs typeface="Noto Sans CJK SC"/>
              </a:rPr>
              <a:t>RL-ALIGN</a:t>
            </a:r>
            <a:endParaRPr sz="750" b="1">
              <a:solidFill>
                <a:srgbClr val="626871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8" name="Rectangles 7"/>
          <p:cNvSpPr>
            <a:spLocks noGrp="1"/>
          </p:cNvSpPr>
          <p:nvPr/>
        </p:nvSpPr>
        <p:spPr>
          <a:xfrm>
            <a:off x="609600" y="6343650"/>
            <a:ext cx="4000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750" b="0">
                <a:solidFill>
                  <a:srgbClr val="989EA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50" b="0">
                <a:solidFill>
                  <a:srgbClr val="989EA7"/>
                </a:solidFill>
                <a:latin typeface="Noto Sans CJK SC"/>
                <a:ea typeface="Noto Sans CJK SC"/>
                <a:cs typeface="Noto Sans CJK SC"/>
              </a:rPr>
              <a:t>10</a:t>
            </a:r>
            <a:endParaRPr sz="750" b="0">
              <a:solidFill>
                <a:srgbClr val="989EA7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" name="Rectangles 8"/>
          <p:cNvSpPr>
            <a:spLocks noGrp="1"/>
          </p:cNvSpPr>
          <p:nvPr/>
        </p:nvSpPr>
        <p:spPr>
          <a:xfrm>
            <a:off x="876300" y="1562100"/>
            <a:ext cx="209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200" b="1">
                <a:solidFill>
                  <a:srgbClr val="62687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626871"/>
                </a:solidFill>
                <a:latin typeface="Noto Sans CJK SC"/>
                <a:ea typeface="Noto Sans CJK SC"/>
                <a:cs typeface="Noto Sans CJK SC"/>
              </a:rPr>
              <a:t>检查项</a:t>
            </a:r>
            <a:endParaRPr sz="1200" b="1">
              <a:solidFill>
                <a:srgbClr val="626871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" name="Rectangles 9"/>
          <p:cNvSpPr>
            <a:spLocks noGrp="1"/>
          </p:cNvSpPr>
          <p:nvPr/>
        </p:nvSpPr>
        <p:spPr>
          <a:xfrm>
            <a:off x="3143250" y="1562100"/>
            <a:ext cx="7429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200" b="1">
                <a:solidFill>
                  <a:srgbClr val="62687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626871"/>
                </a:solidFill>
                <a:latin typeface="Noto Sans CJK SC"/>
                <a:ea typeface="Noto Sans CJK SC"/>
                <a:cs typeface="Noto Sans CJK SC"/>
              </a:rPr>
              <a:t>两套引擎需要保持一致的内容</a:t>
            </a:r>
            <a:endParaRPr sz="1200" b="1">
              <a:solidFill>
                <a:srgbClr val="626871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1" name="Straight Connector 10"/>
          <p:cNvSpPr>
            <a:spLocks noGrp="1"/>
          </p:cNvSpPr>
          <p:nvPr/>
        </p:nvSpPr>
        <p:spPr>
          <a:xfrm>
            <a:off x="838200" y="2571750"/>
            <a:ext cx="10363200" cy="0"/>
          </a:xfrm>
          <a:prstGeom prst="line">
            <a:avLst/>
          </a:prstGeom>
          <a:noFill/>
          <a:ln w="9525">
            <a:solidFill>
              <a:srgbClr val="D6DAE0"/>
            </a:solidFill>
            <a:prstDash val="solid"/>
          </a:ln>
        </p:spPr>
      </p:sp>
      <p:sp>
        <p:nvSpPr>
          <p:cNvPr id="12" name="Rectangles 11"/>
          <p:cNvSpPr>
            <a:spLocks noGrp="1"/>
          </p:cNvSpPr>
          <p:nvPr/>
        </p:nvSpPr>
        <p:spPr>
          <a:xfrm>
            <a:off x="876300" y="2009775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050" b="1">
                <a:solidFill>
                  <a:srgbClr val="989EA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989EA7"/>
                </a:solidFill>
                <a:latin typeface="Noto Sans CJK SC"/>
                <a:ea typeface="Noto Sans CJK SC"/>
                <a:cs typeface="Noto Sans CJK SC"/>
              </a:rPr>
              <a:t>01</a:t>
            </a:r>
            <a:endParaRPr sz="1050" b="1">
              <a:solidFill>
                <a:srgbClr val="989EA7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3" name="Rectangles 12"/>
          <p:cNvSpPr>
            <a:spLocks noGrp="1"/>
          </p:cNvSpPr>
          <p:nvPr/>
        </p:nvSpPr>
        <p:spPr>
          <a:xfrm>
            <a:off x="1428750" y="1943100"/>
            <a:ext cx="14859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650" b="1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rPr>
              <a:t>算术定义</a:t>
            </a:r>
            <a:endParaRPr sz="1650" b="1">
              <a:solidFill>
                <a:srgbClr val="17191D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4" name="Rectangles 13"/>
          <p:cNvSpPr>
            <a:spLocks noGrp="1"/>
          </p:cNvSpPr>
          <p:nvPr/>
        </p:nvSpPr>
        <p:spPr>
          <a:xfrm>
            <a:off x="3143250" y="1943100"/>
            <a:ext cx="79629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425" b="0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rPr>
              <a:t>RMSNorm、Attention 和 LogP 使用相同的输入范围与归一化定义</a:t>
            </a:r>
            <a:endParaRPr sz="1425" b="0">
              <a:solidFill>
                <a:srgbClr val="17191D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5" name="Straight Connector 14"/>
          <p:cNvSpPr>
            <a:spLocks noGrp="1"/>
          </p:cNvSpPr>
          <p:nvPr/>
        </p:nvSpPr>
        <p:spPr>
          <a:xfrm>
            <a:off x="838200" y="3352800"/>
            <a:ext cx="10363200" cy="0"/>
          </a:xfrm>
          <a:prstGeom prst="line">
            <a:avLst/>
          </a:prstGeom>
          <a:noFill/>
          <a:ln w="9525">
            <a:solidFill>
              <a:srgbClr val="D6DAE0"/>
            </a:solidFill>
            <a:prstDash val="solid"/>
          </a:ln>
        </p:spPr>
      </p:sp>
      <p:sp>
        <p:nvSpPr>
          <p:cNvPr id="16" name="Rectangles 15"/>
          <p:cNvSpPr>
            <a:spLocks noGrp="1"/>
          </p:cNvSpPr>
          <p:nvPr/>
        </p:nvSpPr>
        <p:spPr>
          <a:xfrm>
            <a:off x="876300" y="2790825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050" b="1">
                <a:solidFill>
                  <a:srgbClr val="989EA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989EA7"/>
                </a:solidFill>
                <a:latin typeface="Noto Sans CJK SC"/>
                <a:ea typeface="Noto Sans CJK SC"/>
                <a:cs typeface="Noto Sans CJK SC"/>
              </a:rPr>
              <a:t>02</a:t>
            </a:r>
            <a:endParaRPr sz="1050" b="1">
              <a:solidFill>
                <a:srgbClr val="989EA7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7" name="Rectangles 16"/>
          <p:cNvSpPr>
            <a:spLocks noGrp="1"/>
          </p:cNvSpPr>
          <p:nvPr/>
        </p:nvSpPr>
        <p:spPr>
          <a:xfrm>
            <a:off x="1428750" y="2724150"/>
            <a:ext cx="14859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650" b="1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rPr>
              <a:t>Token 顺序</a:t>
            </a:r>
            <a:endParaRPr sz="1650" b="1">
              <a:solidFill>
                <a:srgbClr val="17191D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8" name="Rectangles 17"/>
          <p:cNvSpPr>
            <a:spLocks noGrp="1"/>
          </p:cNvSpPr>
          <p:nvPr/>
        </p:nvSpPr>
        <p:spPr>
          <a:xfrm>
            <a:off x="3143250" y="2724150"/>
            <a:ext cx="79629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425" b="0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rPr>
              <a:t>TP 或 CP 切分后，恢复到同一个逻辑 token 顺序再比较</a:t>
            </a:r>
            <a:endParaRPr sz="1425" b="0">
              <a:solidFill>
                <a:srgbClr val="17191D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9" name="Straight Connector 18"/>
          <p:cNvSpPr>
            <a:spLocks noGrp="1"/>
          </p:cNvSpPr>
          <p:nvPr/>
        </p:nvSpPr>
        <p:spPr>
          <a:xfrm>
            <a:off x="838200" y="4133850"/>
            <a:ext cx="10363200" cy="0"/>
          </a:xfrm>
          <a:prstGeom prst="line">
            <a:avLst/>
          </a:prstGeom>
          <a:noFill/>
          <a:ln w="9525">
            <a:solidFill>
              <a:srgbClr val="D6DAE0"/>
            </a:solidFill>
            <a:prstDash val="solid"/>
          </a:ln>
        </p:spPr>
      </p:sp>
      <p:sp>
        <p:nvSpPr>
          <p:cNvPr id="20" name="Rectangles 19"/>
          <p:cNvSpPr>
            <a:spLocks noGrp="1"/>
          </p:cNvSpPr>
          <p:nvPr/>
        </p:nvSpPr>
        <p:spPr>
          <a:xfrm>
            <a:off x="876300" y="3571875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050" b="1">
                <a:solidFill>
                  <a:srgbClr val="989EA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989EA7"/>
                </a:solidFill>
                <a:latin typeface="Noto Sans CJK SC"/>
                <a:ea typeface="Noto Sans CJK SC"/>
                <a:cs typeface="Noto Sans CJK SC"/>
              </a:rPr>
              <a:t>03</a:t>
            </a:r>
            <a:endParaRPr sz="1050" b="1">
              <a:solidFill>
                <a:srgbClr val="989EA7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1" name="Rectangles 20"/>
          <p:cNvSpPr>
            <a:spLocks noGrp="1"/>
          </p:cNvSpPr>
          <p:nvPr/>
        </p:nvSpPr>
        <p:spPr>
          <a:xfrm>
            <a:off x="1428750" y="3505200"/>
            <a:ext cx="14859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650" b="1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rPr>
              <a:t>结果合并</a:t>
            </a:r>
            <a:endParaRPr sz="1650" b="1">
              <a:solidFill>
                <a:srgbClr val="17191D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2" name="Rectangles 21"/>
          <p:cNvSpPr>
            <a:spLocks noGrp="1"/>
          </p:cNvSpPr>
          <p:nvPr/>
        </p:nvSpPr>
        <p:spPr>
          <a:xfrm>
            <a:off x="3143250" y="3505200"/>
            <a:ext cx="79629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425" b="0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rPr>
              <a:t>各个局部块或 rank 的结果按照固定顺序合并</a:t>
            </a:r>
            <a:endParaRPr sz="1425" b="0">
              <a:solidFill>
                <a:srgbClr val="17191D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3" name="Straight Connector 22"/>
          <p:cNvSpPr>
            <a:spLocks noGrp="1"/>
          </p:cNvSpPr>
          <p:nvPr/>
        </p:nvSpPr>
        <p:spPr>
          <a:xfrm>
            <a:off x="838200" y="4914900"/>
            <a:ext cx="10363200" cy="0"/>
          </a:xfrm>
          <a:prstGeom prst="line">
            <a:avLst/>
          </a:prstGeom>
          <a:noFill/>
          <a:ln w="9525">
            <a:solidFill>
              <a:srgbClr val="D6DAE0"/>
            </a:solidFill>
            <a:prstDash val="solid"/>
          </a:ln>
        </p:spPr>
      </p:sp>
      <p:sp>
        <p:nvSpPr>
          <p:cNvPr id="24" name="Rectangles 23"/>
          <p:cNvSpPr>
            <a:spLocks noGrp="1"/>
          </p:cNvSpPr>
          <p:nvPr/>
        </p:nvSpPr>
        <p:spPr>
          <a:xfrm>
            <a:off x="876300" y="4352925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050" b="1">
                <a:solidFill>
                  <a:srgbClr val="989EA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989EA7"/>
                </a:solidFill>
                <a:latin typeface="Noto Sans CJK SC"/>
                <a:ea typeface="Noto Sans CJK SC"/>
                <a:cs typeface="Noto Sans CJK SC"/>
              </a:rPr>
              <a:t>04</a:t>
            </a:r>
            <a:endParaRPr sz="1050" b="1">
              <a:solidFill>
                <a:srgbClr val="989EA7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5" name="Rectangles 24"/>
          <p:cNvSpPr>
            <a:spLocks noGrp="1"/>
          </p:cNvSpPr>
          <p:nvPr/>
        </p:nvSpPr>
        <p:spPr>
          <a:xfrm>
            <a:off x="1428750" y="4286250"/>
            <a:ext cx="14859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650" b="1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rPr>
              <a:t>精度边界</a:t>
            </a:r>
            <a:endParaRPr sz="1650" b="1">
              <a:solidFill>
                <a:srgbClr val="17191D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6" name="Rectangles 25"/>
          <p:cNvSpPr>
            <a:spLocks noGrp="1"/>
          </p:cNvSpPr>
          <p:nvPr/>
        </p:nvSpPr>
        <p:spPr>
          <a:xfrm>
            <a:off x="3143250" y="4286250"/>
            <a:ext cx="79629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425" b="0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rPr>
              <a:t>明确哪些步骤用 FP32 累加，以及在哪一步转换精度</a:t>
            </a:r>
            <a:endParaRPr sz="1425" b="0">
              <a:solidFill>
                <a:srgbClr val="17191D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7" name="Straight Connector 26"/>
          <p:cNvSpPr>
            <a:spLocks noGrp="1"/>
          </p:cNvSpPr>
          <p:nvPr/>
        </p:nvSpPr>
        <p:spPr>
          <a:xfrm>
            <a:off x="1028700" y="5219700"/>
            <a:ext cx="495300" cy="0"/>
          </a:xfrm>
          <a:prstGeom prst="line">
            <a:avLst/>
          </a:prstGeom>
          <a:noFill/>
          <a:ln w="28575">
            <a:solidFill>
              <a:srgbClr val="E85D0F"/>
            </a:solidFill>
            <a:prstDash val="solid"/>
          </a:ln>
        </p:spPr>
      </p:sp>
      <p:sp>
        <p:nvSpPr>
          <p:cNvPr id="28" name="Rectangles 27"/>
          <p:cNvSpPr>
            <a:spLocks noGrp="1"/>
          </p:cNvSpPr>
          <p:nvPr/>
        </p:nvSpPr>
        <p:spPr>
          <a:xfrm>
            <a:off x="1714500" y="5124450"/>
            <a:ext cx="94488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l">
              <a:defRPr sz="1500" b="1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rPr>
              <a:t>vLLM 和 Megatron-LM 可以使用不同的 kernel 和内存布局。对同一批 token，两侧计算出的 selected-token LogP 需要一致。</a:t>
            </a:r>
            <a:endParaRPr sz="1500" b="1">
              <a:solidFill>
                <a:srgbClr val="17191D"/>
              </a:solidFill>
              <a:latin typeface="Noto Sans CJK SC"/>
              <a:ea typeface="Noto Sans CJK SC"/>
              <a:cs typeface="Noto Sans CJK SC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1" name="Rectangles 30"/>
          <p:cNvSpPr>
            <a:spLocks noGrp="1"/>
          </p:cNvSpPr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rgbClr val="111111"/>
          </a:solidFill>
          <a:ln w="0">
            <a:noFill/>
            <a:prstDash val="solid"/>
          </a:ln>
        </p:spPr>
      </p:sp>
      <p:sp>
        <p:nvSpPr>
          <p:cNvPr id="2" name="Rectangles 1"/>
          <p:cNvSpPr>
            <a:spLocks noGrp="1"/>
          </p:cNvSpPr>
          <p:nvPr/>
        </p:nvSpPr>
        <p:spPr>
          <a:xfrm>
            <a:off x="0" y="6667500"/>
            <a:ext cx="12192000" cy="190500"/>
          </a:xfrm>
          <a:prstGeom prst="rect">
            <a:avLst/>
          </a:prstGeom>
          <a:solidFill>
            <a:srgbClr val="111111"/>
          </a:solidFill>
          <a:ln w="0">
            <a:noFill/>
            <a:prstDash val="solid"/>
          </a:ln>
        </p:spPr>
      </p:sp>
      <p:sp>
        <p:nvSpPr>
          <p:cNvPr id="3" name="Straight Connector 2"/>
          <p:cNvSpPr>
            <a:spLocks noGrp="1"/>
          </p:cNvSpPr>
          <p:nvPr/>
        </p:nvSpPr>
        <p:spPr>
          <a:xfrm>
            <a:off x="609600" y="342900"/>
            <a:ext cx="0" cy="552450"/>
          </a:xfrm>
          <a:prstGeom prst="line">
            <a:avLst/>
          </a:prstGeom>
          <a:noFill/>
          <a:ln w="28575">
            <a:solidFill>
              <a:srgbClr val="E85D0F"/>
            </a:solidFill>
            <a:prstDash val="solid"/>
          </a:ln>
        </p:spPr>
      </p:sp>
      <p:sp>
        <p:nvSpPr>
          <p:cNvPr id="4" name="Rectangles 3"/>
          <p:cNvSpPr>
            <a:spLocks noGrp="1"/>
          </p:cNvSpPr>
          <p:nvPr/>
        </p:nvSpPr>
        <p:spPr>
          <a:xfrm>
            <a:off x="781050" y="323850"/>
            <a:ext cx="5429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975" b="0">
                <a:solidFill>
                  <a:srgbClr val="62687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626871"/>
                </a:solidFill>
                <a:latin typeface="Noto Sans CJK SC"/>
                <a:ea typeface="Noto Sans CJK SC"/>
                <a:cs typeface="Noto Sans CJK SC"/>
              </a:rPr>
              <a:t>03  验证方法</a:t>
            </a:r>
            <a:endParaRPr sz="975" b="0">
              <a:solidFill>
                <a:srgbClr val="626871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" name="Rectangles 4"/>
          <p:cNvSpPr>
            <a:spLocks noGrp="1"/>
          </p:cNvSpPr>
          <p:nvPr/>
        </p:nvSpPr>
        <p:spPr>
          <a:xfrm>
            <a:off x="781050" y="657225"/>
            <a:ext cx="107632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2700" b="1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700" b="1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rPr>
              <a:t>v0.1.0 覆盖的五类归约</a:t>
            </a:r>
            <a:endParaRPr sz="2700" b="1">
              <a:solidFill>
                <a:srgbClr val="17191D"/>
              </a:solidFill>
              <a:latin typeface="Noto Sans CJK SC"/>
              <a:ea typeface="Noto Sans CJK SC"/>
              <a:cs typeface="Noto Sans CJK SC"/>
            </a:endParaRPr>
          </a:p>
        </p:txBody>
      </p:sp>
      <p:pic>
        <p:nvPicPr>
          <p:cNvPr id="36" name="Picture 3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91750" y="6238875"/>
            <a:ext cx="228600" cy="285750"/>
          </a:xfrm>
          <a:prstGeom prst="rect">
            <a:avLst/>
          </a:prstGeom>
        </p:spPr>
      </p:pic>
      <p:sp>
        <p:nvSpPr>
          <p:cNvPr id="7" name="Rectangles 6"/>
          <p:cNvSpPr>
            <a:spLocks noGrp="1"/>
          </p:cNvSpPr>
          <p:nvPr/>
        </p:nvSpPr>
        <p:spPr>
          <a:xfrm>
            <a:off x="10487025" y="6286500"/>
            <a:ext cx="1047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750" b="1">
                <a:solidFill>
                  <a:srgbClr val="62687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50" b="1">
                <a:solidFill>
                  <a:srgbClr val="626871"/>
                </a:solidFill>
                <a:latin typeface="Noto Sans CJK SC"/>
                <a:ea typeface="Noto Sans CJK SC"/>
                <a:cs typeface="Noto Sans CJK SC"/>
              </a:rPr>
              <a:t>RL-ALIGN</a:t>
            </a:r>
            <a:endParaRPr sz="750" b="1">
              <a:solidFill>
                <a:srgbClr val="626871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8" name="Rectangles 7"/>
          <p:cNvSpPr>
            <a:spLocks noGrp="1"/>
          </p:cNvSpPr>
          <p:nvPr/>
        </p:nvSpPr>
        <p:spPr>
          <a:xfrm>
            <a:off x="609600" y="6343650"/>
            <a:ext cx="4000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750" b="0">
                <a:solidFill>
                  <a:srgbClr val="989EA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50" b="0">
                <a:solidFill>
                  <a:srgbClr val="989EA7"/>
                </a:solidFill>
                <a:latin typeface="Noto Sans CJK SC"/>
                <a:ea typeface="Noto Sans CJK SC"/>
                <a:cs typeface="Noto Sans CJK SC"/>
              </a:rPr>
              <a:t>11</a:t>
            </a:r>
            <a:endParaRPr sz="750" b="0">
              <a:solidFill>
                <a:srgbClr val="989EA7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" name="Oval 8"/>
          <p:cNvSpPr>
            <a:spLocks noGrp="1"/>
          </p:cNvSpPr>
          <p:nvPr/>
        </p:nvSpPr>
        <p:spPr>
          <a:xfrm>
            <a:off x="952500" y="1885950"/>
            <a:ext cx="1104900" cy="11049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D6DAE0"/>
            </a:solidFill>
            <a:prstDash val="solid"/>
          </a:ln>
        </p:spPr>
      </p:sp>
      <p:sp>
        <p:nvSpPr>
          <p:cNvPr id="10" name="Rectangles 9"/>
          <p:cNvSpPr>
            <a:spLocks noGrp="1"/>
          </p:cNvSpPr>
          <p:nvPr/>
        </p:nvSpPr>
        <p:spPr>
          <a:xfrm>
            <a:off x="952500" y="2238375"/>
            <a:ext cx="11049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ctr">
              <a:defRPr sz="1875" b="1">
                <a:solidFill>
                  <a:srgbClr val="989EA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989EA7"/>
                </a:solidFill>
                <a:latin typeface="Noto Sans CJK SC"/>
                <a:ea typeface="Noto Sans CJK SC"/>
                <a:cs typeface="Noto Sans CJK SC"/>
              </a:rPr>
              <a:t>01</a:t>
            </a:r>
            <a:endParaRPr sz="1875" b="1">
              <a:solidFill>
                <a:srgbClr val="989EA7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1" name="Rectangles 10"/>
          <p:cNvSpPr>
            <a:spLocks noGrp="1"/>
          </p:cNvSpPr>
          <p:nvPr/>
        </p:nvSpPr>
        <p:spPr>
          <a:xfrm>
            <a:off x="514350" y="3295650"/>
            <a:ext cx="19812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ctr">
              <a:defRPr sz="1800" b="1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rPr>
              <a:t>RMSNorm</a:t>
            </a:r>
            <a:endParaRPr sz="1800" b="1">
              <a:solidFill>
                <a:srgbClr val="17191D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2" name="Rectangles 11"/>
          <p:cNvSpPr>
            <a:spLocks noGrp="1"/>
          </p:cNvSpPr>
          <p:nvPr/>
        </p:nvSpPr>
        <p:spPr>
          <a:xfrm>
            <a:off x="514350" y="3886200"/>
            <a:ext cx="19812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ctr">
              <a:defRPr sz="1050" b="0">
                <a:solidFill>
                  <a:srgbClr val="62687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626871"/>
                </a:solidFill>
                <a:latin typeface="Noto Sans CJK SC"/>
                <a:ea typeface="Noto Sans CJK SC"/>
                <a:cs typeface="Noto Sans CJK SC"/>
              </a:rPr>
              <a:t>hidden 维归约</a:t>
            </a:r>
            <a:endParaRPr sz="1050" b="0">
              <a:solidFill>
                <a:srgbClr val="626871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3" name="Oval 12"/>
          <p:cNvSpPr>
            <a:spLocks noGrp="1"/>
          </p:cNvSpPr>
          <p:nvPr/>
        </p:nvSpPr>
        <p:spPr>
          <a:xfrm>
            <a:off x="3276600" y="1885950"/>
            <a:ext cx="1104900" cy="11049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D6DAE0"/>
            </a:solidFill>
            <a:prstDash val="solid"/>
          </a:ln>
        </p:spPr>
      </p:sp>
      <p:sp>
        <p:nvSpPr>
          <p:cNvPr id="14" name="Rectangles 13"/>
          <p:cNvSpPr>
            <a:spLocks noGrp="1"/>
          </p:cNvSpPr>
          <p:nvPr/>
        </p:nvSpPr>
        <p:spPr>
          <a:xfrm>
            <a:off x="3276600" y="2238375"/>
            <a:ext cx="11049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ctr">
              <a:defRPr sz="1875" b="1">
                <a:solidFill>
                  <a:srgbClr val="989EA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989EA7"/>
                </a:solidFill>
                <a:latin typeface="Noto Sans CJK SC"/>
                <a:ea typeface="Noto Sans CJK SC"/>
                <a:cs typeface="Noto Sans CJK SC"/>
              </a:rPr>
              <a:t>02</a:t>
            </a:r>
            <a:endParaRPr sz="1875" b="1">
              <a:solidFill>
                <a:srgbClr val="989EA7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5" name="Rectangles 14"/>
          <p:cNvSpPr>
            <a:spLocks noGrp="1"/>
          </p:cNvSpPr>
          <p:nvPr/>
        </p:nvSpPr>
        <p:spPr>
          <a:xfrm>
            <a:off x="2838450" y="3295650"/>
            <a:ext cx="19812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ctr">
              <a:defRPr sz="1800" b="1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rPr>
              <a:t>Attention</a:t>
            </a:r>
            <a:endParaRPr sz="1800" b="1">
              <a:solidFill>
                <a:srgbClr val="17191D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6" name="Rectangles 15"/>
          <p:cNvSpPr>
            <a:spLocks noGrp="1"/>
          </p:cNvSpPr>
          <p:nvPr/>
        </p:nvSpPr>
        <p:spPr>
          <a:xfrm>
            <a:off x="2838450" y="3886200"/>
            <a:ext cx="19812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ctr">
              <a:defRPr sz="1050" b="0">
                <a:solidFill>
                  <a:srgbClr val="62687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626871"/>
                </a:solidFill>
                <a:latin typeface="Noto Sans CJK SC"/>
                <a:ea typeface="Noto Sans CJK SC"/>
                <a:cs typeface="Noto Sans CJK SC"/>
              </a:rPr>
              <a:t>可见 key 归约</a:t>
            </a:r>
            <a:endParaRPr sz="1050" b="0">
              <a:solidFill>
                <a:srgbClr val="626871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7" name="Oval 16"/>
          <p:cNvSpPr>
            <a:spLocks noGrp="1"/>
          </p:cNvSpPr>
          <p:nvPr/>
        </p:nvSpPr>
        <p:spPr>
          <a:xfrm>
            <a:off x="5600700" y="1885950"/>
            <a:ext cx="1104900" cy="11049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D6DAE0"/>
            </a:solidFill>
            <a:prstDash val="solid"/>
          </a:ln>
        </p:spPr>
      </p:sp>
      <p:sp>
        <p:nvSpPr>
          <p:cNvPr id="18" name="Rectangles 17"/>
          <p:cNvSpPr>
            <a:spLocks noGrp="1"/>
          </p:cNvSpPr>
          <p:nvPr/>
        </p:nvSpPr>
        <p:spPr>
          <a:xfrm>
            <a:off x="5600700" y="2238375"/>
            <a:ext cx="11049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ctr">
              <a:defRPr sz="1875" b="1">
                <a:solidFill>
                  <a:srgbClr val="989EA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989EA7"/>
                </a:solidFill>
                <a:latin typeface="Noto Sans CJK SC"/>
                <a:ea typeface="Noto Sans CJK SC"/>
                <a:cs typeface="Noto Sans CJK SC"/>
              </a:rPr>
              <a:t>03</a:t>
            </a:r>
            <a:endParaRPr sz="1875" b="1">
              <a:solidFill>
                <a:srgbClr val="989EA7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9" name="Rectangles 18"/>
          <p:cNvSpPr>
            <a:spLocks noGrp="1"/>
          </p:cNvSpPr>
          <p:nvPr/>
        </p:nvSpPr>
        <p:spPr>
          <a:xfrm>
            <a:off x="5162550" y="3295650"/>
            <a:ext cx="19812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ctr">
              <a:defRPr sz="1500" b="1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rPr>
              <a:t>GEMM / SwiGLU</a:t>
            </a:r>
            <a:endParaRPr sz="1500" b="1">
              <a:solidFill>
                <a:srgbClr val="17191D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0" name="Rectangles 19"/>
          <p:cNvSpPr>
            <a:spLocks noGrp="1"/>
          </p:cNvSpPr>
          <p:nvPr/>
        </p:nvSpPr>
        <p:spPr>
          <a:xfrm>
            <a:off x="5162550" y="3886200"/>
            <a:ext cx="19812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ctr">
              <a:defRPr sz="1050" b="0">
                <a:solidFill>
                  <a:srgbClr val="62687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626871"/>
                </a:solidFill>
                <a:latin typeface="Noto Sans CJK SC"/>
                <a:ea typeface="Noto Sans CJK SC"/>
                <a:cs typeface="Noto Sans CJK SC"/>
              </a:rPr>
              <a:t>K 维归约</a:t>
            </a:r>
            <a:endParaRPr sz="1050" b="0">
              <a:solidFill>
                <a:srgbClr val="626871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1" name="Oval 20"/>
          <p:cNvSpPr>
            <a:spLocks noGrp="1"/>
          </p:cNvSpPr>
          <p:nvPr/>
        </p:nvSpPr>
        <p:spPr>
          <a:xfrm>
            <a:off x="7924800" y="1885950"/>
            <a:ext cx="1104900" cy="11049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D6DAE0"/>
            </a:solidFill>
            <a:prstDash val="solid"/>
          </a:ln>
        </p:spPr>
      </p:sp>
      <p:sp>
        <p:nvSpPr>
          <p:cNvPr id="22" name="Rectangles 21"/>
          <p:cNvSpPr>
            <a:spLocks noGrp="1"/>
          </p:cNvSpPr>
          <p:nvPr/>
        </p:nvSpPr>
        <p:spPr>
          <a:xfrm>
            <a:off x="7924800" y="2238375"/>
            <a:ext cx="11049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ctr">
              <a:defRPr sz="1875" b="1">
                <a:solidFill>
                  <a:srgbClr val="989EA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989EA7"/>
                </a:solidFill>
                <a:latin typeface="Noto Sans CJK SC"/>
                <a:ea typeface="Noto Sans CJK SC"/>
                <a:cs typeface="Noto Sans CJK SC"/>
              </a:rPr>
              <a:t>04</a:t>
            </a:r>
            <a:endParaRPr sz="1875" b="1">
              <a:solidFill>
                <a:srgbClr val="989EA7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3" name="Rectangles 22"/>
          <p:cNvSpPr>
            <a:spLocks noGrp="1"/>
          </p:cNvSpPr>
          <p:nvPr/>
        </p:nvSpPr>
        <p:spPr>
          <a:xfrm>
            <a:off x="7486650" y="3295650"/>
            <a:ext cx="19812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ctr">
              <a:defRPr sz="1800" b="1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rPr>
              <a:t>Linear LogP</a:t>
            </a:r>
            <a:endParaRPr sz="1800" b="1">
              <a:solidFill>
                <a:srgbClr val="17191D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4" name="Rectangles 23"/>
          <p:cNvSpPr>
            <a:spLocks noGrp="1"/>
          </p:cNvSpPr>
          <p:nvPr/>
        </p:nvSpPr>
        <p:spPr>
          <a:xfrm>
            <a:off x="7486650" y="3886200"/>
            <a:ext cx="19812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ctr">
              <a:defRPr sz="1050" b="0">
                <a:solidFill>
                  <a:srgbClr val="62687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626871"/>
                </a:solidFill>
                <a:latin typeface="Noto Sans CJK SC"/>
                <a:ea typeface="Noto Sans CJK SC"/>
                <a:cs typeface="Noto Sans CJK SC"/>
              </a:rPr>
              <a:t>词表归约</a:t>
            </a:r>
            <a:endParaRPr sz="1050" b="0">
              <a:solidFill>
                <a:srgbClr val="626871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5" name="Oval 24"/>
          <p:cNvSpPr>
            <a:spLocks noGrp="1"/>
          </p:cNvSpPr>
          <p:nvPr/>
        </p:nvSpPr>
        <p:spPr>
          <a:xfrm>
            <a:off x="10248900" y="1885950"/>
            <a:ext cx="1104900" cy="11049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D6DAE0"/>
            </a:solidFill>
            <a:prstDash val="solid"/>
          </a:ln>
        </p:spPr>
      </p:sp>
      <p:sp>
        <p:nvSpPr>
          <p:cNvPr id="26" name="Rectangles 25"/>
          <p:cNvSpPr>
            <a:spLocks noGrp="1"/>
          </p:cNvSpPr>
          <p:nvPr/>
        </p:nvSpPr>
        <p:spPr>
          <a:xfrm>
            <a:off x="10248900" y="2238375"/>
            <a:ext cx="11049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ctr">
              <a:defRPr sz="1875" b="1">
                <a:solidFill>
                  <a:srgbClr val="989EA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989EA7"/>
                </a:solidFill>
                <a:latin typeface="Noto Sans CJK SC"/>
                <a:ea typeface="Noto Sans CJK SC"/>
                <a:cs typeface="Noto Sans CJK SC"/>
              </a:rPr>
              <a:t>05</a:t>
            </a:r>
            <a:endParaRPr sz="1875" b="1">
              <a:solidFill>
                <a:srgbClr val="989EA7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7" name="Rectangles 26"/>
          <p:cNvSpPr>
            <a:spLocks noGrp="1"/>
          </p:cNvSpPr>
          <p:nvPr/>
        </p:nvSpPr>
        <p:spPr>
          <a:xfrm>
            <a:off x="9810750" y="3295650"/>
            <a:ext cx="19812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ctr">
              <a:defRPr sz="1800" b="1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rPr>
              <a:t>Collectives</a:t>
            </a:r>
            <a:endParaRPr sz="1800" b="1">
              <a:solidFill>
                <a:srgbClr val="17191D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8" name="Rectangles 27"/>
          <p:cNvSpPr>
            <a:spLocks noGrp="1"/>
          </p:cNvSpPr>
          <p:nvPr/>
        </p:nvSpPr>
        <p:spPr>
          <a:xfrm>
            <a:off x="9810750" y="3886200"/>
            <a:ext cx="19812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ctr">
              <a:defRPr sz="1050" b="0">
                <a:solidFill>
                  <a:srgbClr val="62687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626871"/>
                </a:solidFill>
                <a:latin typeface="Noto Sans CJK SC"/>
                <a:ea typeface="Noto Sans CJK SC"/>
                <a:cs typeface="Noto Sans CJK SC"/>
              </a:rPr>
              <a:t>跨 rank 归约</a:t>
            </a:r>
            <a:endParaRPr sz="1050" b="0">
              <a:solidFill>
                <a:srgbClr val="626871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9" name="Straight Connector 28"/>
          <p:cNvSpPr>
            <a:spLocks noGrp="1"/>
          </p:cNvSpPr>
          <p:nvPr/>
        </p:nvSpPr>
        <p:spPr>
          <a:xfrm>
            <a:off x="1028700" y="4895850"/>
            <a:ext cx="495300" cy="0"/>
          </a:xfrm>
          <a:prstGeom prst="line">
            <a:avLst/>
          </a:prstGeom>
          <a:noFill/>
          <a:ln w="28575">
            <a:solidFill>
              <a:srgbClr val="E85D0F"/>
            </a:solidFill>
            <a:prstDash val="solid"/>
          </a:ln>
        </p:spPr>
      </p:sp>
      <p:sp>
        <p:nvSpPr>
          <p:cNvPr id="30" name="Rectangles 29"/>
          <p:cNvSpPr>
            <a:spLocks noGrp="1"/>
          </p:cNvSpPr>
          <p:nvPr/>
        </p:nvSpPr>
        <p:spPr>
          <a:xfrm>
            <a:off x="1714500" y="4800600"/>
            <a:ext cx="944880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l">
              <a:defRPr sz="1425" b="0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rPr>
              <a:t>这五类计算都要把局部结果合并为全局结果。切分方式、合并顺序或中间精度发生变化时，差异可能进入最终 LogP。</a:t>
            </a:r>
            <a:endParaRPr sz="1425" b="0">
              <a:solidFill>
                <a:srgbClr val="17191D"/>
              </a:solidFill>
              <a:latin typeface="Noto Sans CJK SC"/>
              <a:ea typeface="Noto Sans CJK SC"/>
              <a:cs typeface="Noto Sans CJK SC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4" name="Rectangles 33"/>
          <p:cNvSpPr>
            <a:spLocks noGrp="1"/>
          </p:cNvSpPr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rgbClr val="111111"/>
          </a:solidFill>
          <a:ln w="0">
            <a:noFill/>
            <a:prstDash val="solid"/>
          </a:ln>
        </p:spPr>
      </p:sp>
      <p:sp>
        <p:nvSpPr>
          <p:cNvPr id="2" name="Rectangles 1"/>
          <p:cNvSpPr>
            <a:spLocks noGrp="1"/>
          </p:cNvSpPr>
          <p:nvPr/>
        </p:nvSpPr>
        <p:spPr>
          <a:xfrm>
            <a:off x="0" y="6667500"/>
            <a:ext cx="12192000" cy="190500"/>
          </a:xfrm>
          <a:prstGeom prst="rect">
            <a:avLst/>
          </a:prstGeom>
          <a:solidFill>
            <a:srgbClr val="111111"/>
          </a:solidFill>
          <a:ln w="0">
            <a:noFill/>
            <a:prstDash val="solid"/>
          </a:ln>
        </p:spPr>
      </p:sp>
      <p:sp>
        <p:nvSpPr>
          <p:cNvPr id="3" name="Straight Connector 2"/>
          <p:cNvSpPr>
            <a:spLocks noGrp="1"/>
          </p:cNvSpPr>
          <p:nvPr/>
        </p:nvSpPr>
        <p:spPr>
          <a:xfrm>
            <a:off x="609600" y="342900"/>
            <a:ext cx="0" cy="552450"/>
          </a:xfrm>
          <a:prstGeom prst="line">
            <a:avLst/>
          </a:prstGeom>
          <a:noFill/>
          <a:ln w="28575">
            <a:solidFill>
              <a:srgbClr val="E85D0F"/>
            </a:solidFill>
            <a:prstDash val="solid"/>
          </a:ln>
        </p:spPr>
      </p:sp>
      <p:sp>
        <p:nvSpPr>
          <p:cNvPr id="4" name="Rectangles 3"/>
          <p:cNvSpPr>
            <a:spLocks noGrp="1"/>
          </p:cNvSpPr>
          <p:nvPr/>
        </p:nvSpPr>
        <p:spPr>
          <a:xfrm>
            <a:off x="781050" y="323850"/>
            <a:ext cx="5429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975" b="0">
                <a:solidFill>
                  <a:srgbClr val="62687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626871"/>
                </a:solidFill>
                <a:latin typeface="Noto Sans CJK SC"/>
                <a:ea typeface="Noto Sans CJK SC"/>
                <a:cs typeface="Noto Sans CJK SC"/>
              </a:rPr>
              <a:t>03  验证方法</a:t>
            </a:r>
            <a:endParaRPr sz="975" b="0">
              <a:solidFill>
                <a:srgbClr val="626871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" name="Rectangles 4"/>
          <p:cNvSpPr>
            <a:spLocks noGrp="1"/>
          </p:cNvSpPr>
          <p:nvPr/>
        </p:nvSpPr>
        <p:spPr>
          <a:xfrm>
            <a:off x="781050" y="657225"/>
            <a:ext cx="107632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2700" b="1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700" b="1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rPr>
              <a:t>关键算子的归约维度</a:t>
            </a:r>
            <a:endParaRPr sz="2700" b="1">
              <a:solidFill>
                <a:srgbClr val="17191D"/>
              </a:solidFill>
              <a:latin typeface="Noto Sans CJK SC"/>
              <a:ea typeface="Noto Sans CJK SC"/>
              <a:cs typeface="Noto Sans CJK SC"/>
            </a:endParaRPr>
          </a:p>
        </p:txBody>
      </p:sp>
      <p:pic>
        <p:nvPicPr>
          <p:cNvPr id="39" name="Picture 3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91750" y="6238875"/>
            <a:ext cx="228600" cy="285750"/>
          </a:xfrm>
          <a:prstGeom prst="rect">
            <a:avLst/>
          </a:prstGeom>
        </p:spPr>
      </p:pic>
      <p:sp>
        <p:nvSpPr>
          <p:cNvPr id="7" name="Rectangles 6"/>
          <p:cNvSpPr>
            <a:spLocks noGrp="1"/>
          </p:cNvSpPr>
          <p:nvPr/>
        </p:nvSpPr>
        <p:spPr>
          <a:xfrm>
            <a:off x="10487025" y="6286500"/>
            <a:ext cx="1047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750" b="1">
                <a:solidFill>
                  <a:srgbClr val="62687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50" b="1">
                <a:solidFill>
                  <a:srgbClr val="626871"/>
                </a:solidFill>
                <a:latin typeface="Noto Sans CJK SC"/>
                <a:ea typeface="Noto Sans CJK SC"/>
                <a:cs typeface="Noto Sans CJK SC"/>
              </a:rPr>
              <a:t>RL-ALIGN</a:t>
            </a:r>
            <a:endParaRPr sz="750" b="1">
              <a:solidFill>
                <a:srgbClr val="626871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8" name="Rectangles 7"/>
          <p:cNvSpPr>
            <a:spLocks noGrp="1"/>
          </p:cNvSpPr>
          <p:nvPr/>
        </p:nvSpPr>
        <p:spPr>
          <a:xfrm>
            <a:off x="609600" y="6343650"/>
            <a:ext cx="4000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750" b="0">
                <a:solidFill>
                  <a:srgbClr val="989EA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50" b="0">
                <a:solidFill>
                  <a:srgbClr val="989EA7"/>
                </a:solidFill>
                <a:latin typeface="Noto Sans CJK SC"/>
                <a:ea typeface="Noto Sans CJK SC"/>
                <a:cs typeface="Noto Sans CJK SC"/>
              </a:rPr>
              <a:t>12</a:t>
            </a:r>
            <a:endParaRPr sz="750" b="0">
              <a:solidFill>
                <a:srgbClr val="989EA7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" name="Rectangles 8"/>
          <p:cNvSpPr>
            <a:spLocks noGrp="1"/>
          </p:cNvSpPr>
          <p:nvPr/>
        </p:nvSpPr>
        <p:spPr>
          <a:xfrm>
            <a:off x="895350" y="1581150"/>
            <a:ext cx="209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200" b="1">
                <a:solidFill>
                  <a:srgbClr val="62687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626871"/>
                </a:solidFill>
                <a:latin typeface="Noto Sans CJK SC"/>
                <a:ea typeface="Noto Sans CJK SC"/>
                <a:cs typeface="Noto Sans CJK SC"/>
              </a:rPr>
              <a:t>模块</a:t>
            </a:r>
            <a:endParaRPr sz="1200" b="1">
              <a:solidFill>
                <a:srgbClr val="626871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" name="Rectangles 9"/>
          <p:cNvSpPr>
            <a:spLocks noGrp="1"/>
          </p:cNvSpPr>
          <p:nvPr/>
        </p:nvSpPr>
        <p:spPr>
          <a:xfrm>
            <a:off x="3429000" y="1581150"/>
            <a:ext cx="2286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200" b="1">
                <a:solidFill>
                  <a:srgbClr val="62687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626871"/>
                </a:solidFill>
                <a:latin typeface="Noto Sans CJK SC"/>
                <a:ea typeface="Noto Sans CJK SC"/>
                <a:cs typeface="Noto Sans CJK SC"/>
              </a:rPr>
              <a:t>主要累加范围</a:t>
            </a:r>
            <a:endParaRPr sz="1200" b="1">
              <a:solidFill>
                <a:srgbClr val="626871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1" name="Rectangles 10"/>
          <p:cNvSpPr>
            <a:spLocks noGrp="1"/>
          </p:cNvSpPr>
          <p:nvPr/>
        </p:nvSpPr>
        <p:spPr>
          <a:xfrm>
            <a:off x="6324600" y="1581150"/>
            <a:ext cx="3429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200" b="1">
                <a:solidFill>
                  <a:srgbClr val="62687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626871"/>
                </a:solidFill>
                <a:latin typeface="Noto Sans CJK SC"/>
                <a:ea typeface="Noto Sans CJK SC"/>
                <a:cs typeface="Noto Sans CJK SC"/>
              </a:rPr>
              <a:t>差异来源</a:t>
            </a:r>
            <a:endParaRPr sz="1200" b="1">
              <a:solidFill>
                <a:srgbClr val="626871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2" name="Straight Connector 11"/>
          <p:cNvSpPr>
            <a:spLocks noGrp="1"/>
          </p:cNvSpPr>
          <p:nvPr/>
        </p:nvSpPr>
        <p:spPr>
          <a:xfrm>
            <a:off x="838200" y="2457450"/>
            <a:ext cx="10401300" cy="0"/>
          </a:xfrm>
          <a:prstGeom prst="line">
            <a:avLst/>
          </a:prstGeom>
          <a:noFill/>
          <a:ln w="9525">
            <a:solidFill>
              <a:srgbClr val="D6DAE0"/>
            </a:solidFill>
            <a:prstDash val="solid"/>
          </a:ln>
        </p:spPr>
      </p:sp>
      <p:sp>
        <p:nvSpPr>
          <p:cNvPr id="13" name="Rectangles 12"/>
          <p:cNvSpPr>
            <a:spLocks noGrp="1"/>
          </p:cNvSpPr>
          <p:nvPr/>
        </p:nvSpPr>
        <p:spPr>
          <a:xfrm>
            <a:off x="895350" y="1943100"/>
            <a:ext cx="22479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500" b="1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rPr>
              <a:t>RMSNorm</a:t>
            </a:r>
            <a:endParaRPr sz="1500" b="1">
              <a:solidFill>
                <a:srgbClr val="17191D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4" name="Rectangles 13"/>
          <p:cNvSpPr>
            <a:spLocks noGrp="1"/>
          </p:cNvSpPr>
          <p:nvPr/>
        </p:nvSpPr>
        <p:spPr>
          <a:xfrm>
            <a:off x="3429000" y="1943100"/>
            <a:ext cx="2286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350" b="0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rPr>
              <a:t>hidden dimension</a:t>
            </a:r>
            <a:endParaRPr sz="1350" b="0">
              <a:solidFill>
                <a:srgbClr val="17191D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5" name="Rectangles 14"/>
          <p:cNvSpPr>
            <a:spLocks noGrp="1"/>
          </p:cNvSpPr>
          <p:nvPr/>
        </p:nvSpPr>
        <p:spPr>
          <a:xfrm>
            <a:off x="6324600" y="1943100"/>
            <a:ext cx="4762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275" b="0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rPr>
              <a:t>均值和方差依赖 hidden 维累加顺序</a:t>
            </a:r>
            <a:endParaRPr sz="1275" b="0">
              <a:solidFill>
                <a:srgbClr val="17191D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6" name="Straight Connector 15"/>
          <p:cNvSpPr>
            <a:spLocks noGrp="1"/>
          </p:cNvSpPr>
          <p:nvPr/>
        </p:nvSpPr>
        <p:spPr>
          <a:xfrm>
            <a:off x="838200" y="3105150"/>
            <a:ext cx="10401300" cy="0"/>
          </a:xfrm>
          <a:prstGeom prst="line">
            <a:avLst/>
          </a:prstGeom>
          <a:noFill/>
          <a:ln w="9525">
            <a:solidFill>
              <a:srgbClr val="D6DAE0"/>
            </a:solidFill>
            <a:prstDash val="solid"/>
          </a:ln>
        </p:spPr>
      </p:sp>
      <p:sp>
        <p:nvSpPr>
          <p:cNvPr id="17" name="Rectangles 16"/>
          <p:cNvSpPr>
            <a:spLocks noGrp="1"/>
          </p:cNvSpPr>
          <p:nvPr/>
        </p:nvSpPr>
        <p:spPr>
          <a:xfrm>
            <a:off x="895350" y="2590800"/>
            <a:ext cx="22479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500" b="1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rPr>
              <a:t>GEMM</a:t>
            </a:r>
            <a:endParaRPr sz="1500" b="1">
              <a:solidFill>
                <a:srgbClr val="17191D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8" name="Rectangles 17"/>
          <p:cNvSpPr>
            <a:spLocks noGrp="1"/>
          </p:cNvSpPr>
          <p:nvPr/>
        </p:nvSpPr>
        <p:spPr>
          <a:xfrm>
            <a:off x="3429000" y="2590800"/>
            <a:ext cx="2286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350" b="0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rPr>
              <a:t>K dimension</a:t>
            </a:r>
            <a:endParaRPr sz="1350" b="0">
              <a:solidFill>
                <a:srgbClr val="17191D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9" name="Rectangles 18"/>
          <p:cNvSpPr>
            <a:spLocks noGrp="1"/>
          </p:cNvSpPr>
          <p:nvPr/>
        </p:nvSpPr>
        <p:spPr>
          <a:xfrm>
            <a:off x="6324600" y="2590800"/>
            <a:ext cx="4762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275" b="0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rPr>
              <a:t>不同 tile 会改变局部和最终合并方式</a:t>
            </a:r>
            <a:endParaRPr sz="1275" b="0">
              <a:solidFill>
                <a:srgbClr val="17191D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0" name="Straight Connector 19"/>
          <p:cNvSpPr>
            <a:spLocks noGrp="1"/>
          </p:cNvSpPr>
          <p:nvPr/>
        </p:nvSpPr>
        <p:spPr>
          <a:xfrm>
            <a:off x="838200" y="3752850"/>
            <a:ext cx="10401300" cy="0"/>
          </a:xfrm>
          <a:prstGeom prst="line">
            <a:avLst/>
          </a:prstGeom>
          <a:noFill/>
          <a:ln w="9525">
            <a:solidFill>
              <a:srgbClr val="D6DAE0"/>
            </a:solidFill>
            <a:prstDash val="solid"/>
          </a:ln>
        </p:spPr>
      </p:sp>
      <p:sp>
        <p:nvSpPr>
          <p:cNvPr id="21" name="Rectangles 20"/>
          <p:cNvSpPr>
            <a:spLocks noGrp="1"/>
          </p:cNvSpPr>
          <p:nvPr/>
        </p:nvSpPr>
        <p:spPr>
          <a:xfrm>
            <a:off x="895350" y="3238500"/>
            <a:ext cx="22479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500" b="1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rPr>
              <a:t>Attention</a:t>
            </a:r>
            <a:endParaRPr sz="1500" b="1">
              <a:solidFill>
                <a:srgbClr val="17191D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2" name="Rectangles 21"/>
          <p:cNvSpPr>
            <a:spLocks noGrp="1"/>
          </p:cNvSpPr>
          <p:nvPr/>
        </p:nvSpPr>
        <p:spPr>
          <a:xfrm>
            <a:off x="3429000" y="3238500"/>
            <a:ext cx="2286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350" b="0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rPr>
              <a:t>visible keys</a:t>
            </a:r>
            <a:endParaRPr sz="1350" b="0">
              <a:solidFill>
                <a:srgbClr val="17191D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3" name="Rectangles 22"/>
          <p:cNvSpPr>
            <a:spLocks noGrp="1"/>
          </p:cNvSpPr>
          <p:nvPr/>
        </p:nvSpPr>
        <p:spPr>
          <a:xfrm>
            <a:off x="6324600" y="3238500"/>
            <a:ext cx="4762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275" b="0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rPr>
              <a:t>softmax 依赖可见 key 的最大值与求和</a:t>
            </a:r>
            <a:endParaRPr sz="1275" b="0">
              <a:solidFill>
                <a:srgbClr val="17191D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4" name="Straight Connector 23"/>
          <p:cNvSpPr>
            <a:spLocks noGrp="1"/>
          </p:cNvSpPr>
          <p:nvPr/>
        </p:nvSpPr>
        <p:spPr>
          <a:xfrm>
            <a:off x="838200" y="4400550"/>
            <a:ext cx="10401300" cy="0"/>
          </a:xfrm>
          <a:prstGeom prst="line">
            <a:avLst/>
          </a:prstGeom>
          <a:noFill/>
          <a:ln w="9525">
            <a:solidFill>
              <a:srgbClr val="D6DAE0"/>
            </a:solidFill>
            <a:prstDash val="solid"/>
          </a:ln>
        </p:spPr>
      </p:sp>
      <p:sp>
        <p:nvSpPr>
          <p:cNvPr id="25" name="Rectangles 24"/>
          <p:cNvSpPr>
            <a:spLocks noGrp="1"/>
          </p:cNvSpPr>
          <p:nvPr/>
        </p:nvSpPr>
        <p:spPr>
          <a:xfrm>
            <a:off x="895350" y="3886200"/>
            <a:ext cx="22479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500" b="1">
                <a:solidFill>
                  <a:srgbClr val="A8440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A8440D"/>
                </a:solidFill>
                <a:latin typeface="Noto Sans CJK SC"/>
                <a:ea typeface="Noto Sans CJK SC"/>
                <a:cs typeface="Noto Sans CJK SC"/>
              </a:rPr>
              <a:t>Linear LogP</a:t>
            </a:r>
            <a:endParaRPr sz="1500" b="1">
              <a:solidFill>
                <a:srgbClr val="A8440D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6" name="Rectangles 25"/>
          <p:cNvSpPr>
            <a:spLocks noGrp="1"/>
          </p:cNvSpPr>
          <p:nvPr/>
        </p:nvSpPr>
        <p:spPr>
          <a:xfrm>
            <a:off x="3429000" y="3886200"/>
            <a:ext cx="2286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350" b="0">
                <a:solidFill>
                  <a:srgbClr val="E85D0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E85D0F"/>
                </a:solidFill>
                <a:latin typeface="Noto Sans CJK SC"/>
                <a:ea typeface="Noto Sans CJK SC"/>
                <a:cs typeface="Noto Sans CJK SC"/>
              </a:rPr>
              <a:t>vocabulary</a:t>
            </a:r>
            <a:endParaRPr sz="1350" b="0">
              <a:solidFill>
                <a:srgbClr val="E85D0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7" name="Rectangles 26"/>
          <p:cNvSpPr>
            <a:spLocks noGrp="1"/>
          </p:cNvSpPr>
          <p:nvPr/>
        </p:nvSpPr>
        <p:spPr>
          <a:xfrm>
            <a:off x="6324600" y="3886200"/>
            <a:ext cx="4762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275" b="0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rPr>
              <a:t>LogSumExp 需要在整个词表上归一化</a:t>
            </a:r>
            <a:endParaRPr sz="1275" b="0">
              <a:solidFill>
                <a:srgbClr val="17191D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8" name="Straight Connector 27"/>
          <p:cNvSpPr>
            <a:spLocks noGrp="1"/>
          </p:cNvSpPr>
          <p:nvPr/>
        </p:nvSpPr>
        <p:spPr>
          <a:xfrm>
            <a:off x="838200" y="5048250"/>
            <a:ext cx="10401300" cy="0"/>
          </a:xfrm>
          <a:prstGeom prst="line">
            <a:avLst/>
          </a:prstGeom>
          <a:noFill/>
          <a:ln w="9525">
            <a:solidFill>
              <a:srgbClr val="D6DAE0"/>
            </a:solidFill>
            <a:prstDash val="solid"/>
          </a:ln>
        </p:spPr>
      </p:sp>
      <p:sp>
        <p:nvSpPr>
          <p:cNvPr id="29" name="Rectangles 28"/>
          <p:cNvSpPr>
            <a:spLocks noGrp="1"/>
          </p:cNvSpPr>
          <p:nvPr/>
        </p:nvSpPr>
        <p:spPr>
          <a:xfrm>
            <a:off x="895350" y="4533900"/>
            <a:ext cx="22479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500" b="1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rPr>
              <a:t>Collectives</a:t>
            </a:r>
            <a:endParaRPr sz="1500" b="1">
              <a:solidFill>
                <a:srgbClr val="17191D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0" name="Rectangles 29"/>
          <p:cNvSpPr>
            <a:spLocks noGrp="1"/>
          </p:cNvSpPr>
          <p:nvPr/>
        </p:nvSpPr>
        <p:spPr>
          <a:xfrm>
            <a:off x="3429000" y="4533900"/>
            <a:ext cx="2286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350" b="0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rPr>
              <a:t>ranks</a:t>
            </a:r>
            <a:endParaRPr sz="1350" b="0">
              <a:solidFill>
                <a:srgbClr val="17191D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1" name="Rectangles 30"/>
          <p:cNvSpPr>
            <a:spLocks noGrp="1"/>
          </p:cNvSpPr>
          <p:nvPr/>
        </p:nvSpPr>
        <p:spPr>
          <a:xfrm>
            <a:off x="6324600" y="4533900"/>
            <a:ext cx="4762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275" b="0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rPr>
              <a:t>跨卡结果的合并顺序会影响末位结果</a:t>
            </a:r>
            <a:endParaRPr sz="1275" b="0">
              <a:solidFill>
                <a:srgbClr val="17191D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2" name="Straight Connector 31"/>
          <p:cNvSpPr>
            <a:spLocks noGrp="1"/>
          </p:cNvSpPr>
          <p:nvPr/>
        </p:nvSpPr>
        <p:spPr>
          <a:xfrm>
            <a:off x="1028700" y="5295900"/>
            <a:ext cx="495300" cy="0"/>
          </a:xfrm>
          <a:prstGeom prst="line">
            <a:avLst/>
          </a:prstGeom>
          <a:noFill/>
          <a:ln w="28575">
            <a:solidFill>
              <a:srgbClr val="E85D0F"/>
            </a:solidFill>
            <a:prstDash val="solid"/>
          </a:ln>
        </p:spPr>
      </p:sp>
      <p:sp>
        <p:nvSpPr>
          <p:cNvPr id="33" name="Rectangles 32"/>
          <p:cNvSpPr>
            <a:spLocks noGrp="1"/>
          </p:cNvSpPr>
          <p:nvPr/>
        </p:nvSpPr>
        <p:spPr>
          <a:xfrm>
            <a:off x="1714500" y="5200650"/>
            <a:ext cx="94488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l">
              <a:defRPr sz="1425" b="1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1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rPr>
              <a:t>排查时先确认参与归约的元素范围，再检查数据切分、结果合并和精度转换位置。</a:t>
            </a:r>
            <a:endParaRPr sz="1425" b="1">
              <a:solidFill>
                <a:srgbClr val="17191D"/>
              </a:solidFill>
              <a:latin typeface="Noto Sans CJK SC"/>
              <a:ea typeface="Noto Sans CJK SC"/>
              <a:cs typeface="Noto Sans CJK SC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4" name="Rectangles 23"/>
          <p:cNvSpPr>
            <a:spLocks noGrp="1"/>
          </p:cNvSpPr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rgbClr val="111111"/>
          </a:solidFill>
          <a:ln w="0">
            <a:noFill/>
            <a:prstDash val="solid"/>
          </a:ln>
        </p:spPr>
      </p:sp>
      <p:sp>
        <p:nvSpPr>
          <p:cNvPr id="2" name="Rectangles 1"/>
          <p:cNvSpPr>
            <a:spLocks noGrp="1"/>
          </p:cNvSpPr>
          <p:nvPr/>
        </p:nvSpPr>
        <p:spPr>
          <a:xfrm>
            <a:off x="0" y="6667500"/>
            <a:ext cx="12192000" cy="190500"/>
          </a:xfrm>
          <a:prstGeom prst="rect">
            <a:avLst/>
          </a:prstGeom>
          <a:solidFill>
            <a:srgbClr val="111111"/>
          </a:solidFill>
          <a:ln w="0">
            <a:noFill/>
            <a:prstDash val="solid"/>
          </a:ln>
        </p:spPr>
      </p:sp>
      <p:sp>
        <p:nvSpPr>
          <p:cNvPr id="3" name="Straight Connector 2"/>
          <p:cNvSpPr>
            <a:spLocks noGrp="1"/>
          </p:cNvSpPr>
          <p:nvPr/>
        </p:nvSpPr>
        <p:spPr>
          <a:xfrm>
            <a:off x="609600" y="342900"/>
            <a:ext cx="0" cy="552450"/>
          </a:xfrm>
          <a:prstGeom prst="line">
            <a:avLst/>
          </a:prstGeom>
          <a:noFill/>
          <a:ln w="28575">
            <a:solidFill>
              <a:srgbClr val="E85D0F"/>
            </a:solidFill>
            <a:prstDash val="solid"/>
          </a:ln>
        </p:spPr>
      </p:sp>
      <p:sp>
        <p:nvSpPr>
          <p:cNvPr id="4" name="Rectangles 3"/>
          <p:cNvSpPr>
            <a:spLocks noGrp="1"/>
          </p:cNvSpPr>
          <p:nvPr/>
        </p:nvSpPr>
        <p:spPr>
          <a:xfrm>
            <a:off x="781050" y="323850"/>
            <a:ext cx="5429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975" b="0">
                <a:solidFill>
                  <a:srgbClr val="62687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626871"/>
                </a:solidFill>
                <a:latin typeface="Noto Sans CJK SC"/>
                <a:ea typeface="Noto Sans CJK SC"/>
                <a:cs typeface="Noto Sans CJK SC"/>
              </a:rPr>
              <a:t>03  验证方法</a:t>
            </a:r>
            <a:endParaRPr sz="975" b="0">
              <a:solidFill>
                <a:srgbClr val="626871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" name="Rectangles 4"/>
          <p:cNvSpPr>
            <a:spLocks noGrp="1"/>
          </p:cNvSpPr>
          <p:nvPr/>
        </p:nvSpPr>
        <p:spPr>
          <a:xfrm>
            <a:off x="781050" y="657225"/>
            <a:ext cx="107632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2700" b="1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700" b="1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rPr>
              <a:t>Attention 和 Linear LogP 都依赖 LogSumExp</a:t>
            </a:r>
            <a:endParaRPr sz="2700" b="1">
              <a:solidFill>
                <a:srgbClr val="17191D"/>
              </a:solidFill>
              <a:latin typeface="Noto Sans CJK SC"/>
              <a:ea typeface="Noto Sans CJK SC"/>
              <a:cs typeface="Noto Sans CJK SC"/>
            </a:endParaRPr>
          </a:p>
        </p:txBody>
      </p:sp>
      <p:pic>
        <p:nvPicPr>
          <p:cNvPr id="29" name="Picture 2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91750" y="6238875"/>
            <a:ext cx="228600" cy="285750"/>
          </a:xfrm>
          <a:prstGeom prst="rect">
            <a:avLst/>
          </a:prstGeom>
        </p:spPr>
      </p:pic>
      <p:sp>
        <p:nvSpPr>
          <p:cNvPr id="7" name="Rectangles 6"/>
          <p:cNvSpPr>
            <a:spLocks noGrp="1"/>
          </p:cNvSpPr>
          <p:nvPr/>
        </p:nvSpPr>
        <p:spPr>
          <a:xfrm>
            <a:off x="10487025" y="6286500"/>
            <a:ext cx="1047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750" b="1">
                <a:solidFill>
                  <a:srgbClr val="62687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50" b="1">
                <a:solidFill>
                  <a:srgbClr val="626871"/>
                </a:solidFill>
                <a:latin typeface="Noto Sans CJK SC"/>
                <a:ea typeface="Noto Sans CJK SC"/>
                <a:cs typeface="Noto Sans CJK SC"/>
              </a:rPr>
              <a:t>RL-ALIGN</a:t>
            </a:r>
            <a:endParaRPr sz="750" b="1">
              <a:solidFill>
                <a:srgbClr val="626871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8" name="Rectangles 7"/>
          <p:cNvSpPr>
            <a:spLocks noGrp="1"/>
          </p:cNvSpPr>
          <p:nvPr/>
        </p:nvSpPr>
        <p:spPr>
          <a:xfrm>
            <a:off x="609600" y="6343650"/>
            <a:ext cx="4000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750" b="0">
                <a:solidFill>
                  <a:srgbClr val="989EA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50" b="0">
                <a:solidFill>
                  <a:srgbClr val="989EA7"/>
                </a:solidFill>
                <a:latin typeface="Noto Sans CJK SC"/>
                <a:ea typeface="Noto Sans CJK SC"/>
                <a:cs typeface="Noto Sans CJK SC"/>
              </a:rPr>
              <a:t>13</a:t>
            </a:r>
            <a:endParaRPr sz="750" b="0">
              <a:solidFill>
                <a:srgbClr val="989EA7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" name="Rounded Rectangle 8"/>
          <p:cNvSpPr>
            <a:spLocks noGrp="1"/>
          </p:cNvSpPr>
          <p:nvPr/>
        </p:nvSpPr>
        <p:spPr>
          <a:xfrm>
            <a:off x="742950" y="1790700"/>
            <a:ext cx="3886200" cy="274320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9525">
            <a:solidFill>
              <a:srgbClr val="D6DAE0"/>
            </a:solidFill>
            <a:prstDash val="solid"/>
          </a:ln>
        </p:spPr>
      </p:sp>
      <p:sp>
        <p:nvSpPr>
          <p:cNvPr id="10" name="Rectangles 9"/>
          <p:cNvSpPr>
            <a:spLocks noGrp="1"/>
          </p:cNvSpPr>
          <p:nvPr/>
        </p:nvSpPr>
        <p:spPr>
          <a:xfrm>
            <a:off x="742950" y="1790700"/>
            <a:ext cx="57150" cy="2743200"/>
          </a:xfrm>
          <a:prstGeom prst="rect">
            <a:avLst/>
          </a:prstGeom>
          <a:solidFill>
            <a:srgbClr val="2E63D9"/>
          </a:solidFill>
          <a:ln w="0">
            <a:noFill/>
            <a:prstDash val="solid"/>
          </a:ln>
        </p:spPr>
      </p:sp>
      <p:sp>
        <p:nvSpPr>
          <p:cNvPr id="11" name="Rectangles 10"/>
          <p:cNvSpPr>
            <a:spLocks noGrp="1"/>
          </p:cNvSpPr>
          <p:nvPr/>
        </p:nvSpPr>
        <p:spPr>
          <a:xfrm>
            <a:off x="952500" y="2019300"/>
            <a:ext cx="34671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725" b="1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rPr>
              <a:t>Attention</a:t>
            </a:r>
            <a:endParaRPr sz="1725" b="1">
              <a:solidFill>
                <a:srgbClr val="17191D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2" name="Rectangles 11"/>
          <p:cNvSpPr>
            <a:spLocks noGrp="1"/>
          </p:cNvSpPr>
          <p:nvPr/>
        </p:nvSpPr>
        <p:spPr>
          <a:xfrm>
            <a:off x="952500" y="2457450"/>
            <a:ext cx="3467100" cy="1943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200" b="0">
                <a:solidFill>
                  <a:srgbClr val="62687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626871"/>
                </a:solidFill>
                <a:latin typeface="Noto Sans CJK SC"/>
                <a:ea typeface="Noto Sans CJK SC"/>
                <a:cs typeface="Noto Sans CJK SC"/>
              </a:rPr>
              <a:t>对每个 query，在可见 key 上计算 softmax。</a:t>
            </a:r>
            <a:endParaRPr sz="1200" b="0">
              <a:solidFill>
                <a:srgbClr val="626871"/>
              </a:solidFill>
              <a:latin typeface="Noto Sans CJK SC"/>
              <a:ea typeface="Noto Sans CJK SC"/>
              <a:cs typeface="Noto Sans CJK SC"/>
            </a:endParaRPr>
          </a:p>
          <a:p>
            <a:endParaRPr sz="1200"/>
          </a:p>
          <a:p>
            <a:pPr algn="l">
              <a:defRPr sz="1200" b="0">
                <a:solidFill>
                  <a:srgbClr val="62687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626871"/>
                </a:solidFill>
                <a:latin typeface="Noto Sans CJK SC"/>
                <a:ea typeface="Noto Sans CJK SC"/>
                <a:cs typeface="Noto Sans CJK SC"/>
              </a:rPr>
              <a:t>局部最大值、指数和累加顺序都会影响归一化结果。</a:t>
            </a:r>
            <a:endParaRPr sz="1200" b="0">
              <a:solidFill>
                <a:srgbClr val="626871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3" name="Rounded Rectangle 12"/>
          <p:cNvSpPr>
            <a:spLocks noGrp="1"/>
          </p:cNvSpPr>
          <p:nvPr/>
        </p:nvSpPr>
        <p:spPr>
          <a:xfrm>
            <a:off x="7562850" y="1790700"/>
            <a:ext cx="3886200" cy="274320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9525">
            <a:solidFill>
              <a:srgbClr val="D6DAE0"/>
            </a:solidFill>
            <a:prstDash val="solid"/>
          </a:ln>
        </p:spPr>
      </p:sp>
      <p:sp>
        <p:nvSpPr>
          <p:cNvPr id="14" name="Rectangles 13"/>
          <p:cNvSpPr>
            <a:spLocks noGrp="1"/>
          </p:cNvSpPr>
          <p:nvPr/>
        </p:nvSpPr>
        <p:spPr>
          <a:xfrm>
            <a:off x="7562850" y="1790700"/>
            <a:ext cx="57150" cy="2743200"/>
          </a:xfrm>
          <a:prstGeom prst="rect">
            <a:avLst/>
          </a:prstGeom>
          <a:solidFill>
            <a:srgbClr val="E85D0F"/>
          </a:solidFill>
          <a:ln w="0">
            <a:noFill/>
            <a:prstDash val="solid"/>
          </a:ln>
        </p:spPr>
      </p:sp>
      <p:sp>
        <p:nvSpPr>
          <p:cNvPr id="15" name="Rectangles 14"/>
          <p:cNvSpPr>
            <a:spLocks noGrp="1"/>
          </p:cNvSpPr>
          <p:nvPr/>
        </p:nvSpPr>
        <p:spPr>
          <a:xfrm>
            <a:off x="7772400" y="2019300"/>
            <a:ext cx="34671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725" b="1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rPr>
              <a:t>Linear LogP</a:t>
            </a:r>
            <a:endParaRPr sz="1725" b="1">
              <a:solidFill>
                <a:srgbClr val="17191D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6" name="Rectangles 15"/>
          <p:cNvSpPr>
            <a:spLocks noGrp="1"/>
          </p:cNvSpPr>
          <p:nvPr/>
        </p:nvSpPr>
        <p:spPr>
          <a:xfrm>
            <a:off x="7772400" y="2457450"/>
            <a:ext cx="3467100" cy="1943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200" b="0">
                <a:solidFill>
                  <a:srgbClr val="62687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626871"/>
                </a:solidFill>
                <a:latin typeface="Noto Sans CJK SC"/>
                <a:ea typeface="Noto Sans CJK SC"/>
                <a:cs typeface="Noto Sans CJK SC"/>
              </a:rPr>
              <a:t>对每个 token，在完整 vocabulary 上计算 log-softmax。</a:t>
            </a:r>
            <a:endParaRPr sz="1200" b="0">
              <a:solidFill>
                <a:srgbClr val="626871"/>
              </a:solidFill>
              <a:latin typeface="Noto Sans CJK SC"/>
              <a:ea typeface="Noto Sans CJK SC"/>
              <a:cs typeface="Noto Sans CJK SC"/>
            </a:endParaRPr>
          </a:p>
          <a:p>
            <a:endParaRPr sz="1200"/>
          </a:p>
          <a:p>
            <a:pPr algn="l">
              <a:defRPr sz="1200" b="0">
                <a:solidFill>
                  <a:srgbClr val="62687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626871"/>
                </a:solidFill>
                <a:latin typeface="Noto Sans CJK SC"/>
                <a:ea typeface="Noto Sans CJK SC"/>
                <a:cs typeface="Noto Sans CJK SC"/>
              </a:rPr>
              <a:t>selected-token LogP 依赖同一组 LogSumExp 统计量。</a:t>
            </a:r>
            <a:endParaRPr sz="1200" b="0">
              <a:solidFill>
                <a:srgbClr val="626871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7" name="Oval 16"/>
          <p:cNvSpPr>
            <a:spLocks noGrp="1"/>
          </p:cNvSpPr>
          <p:nvPr/>
        </p:nvSpPr>
        <p:spPr>
          <a:xfrm>
            <a:off x="5086350" y="2266950"/>
            <a:ext cx="2019300" cy="2019300"/>
          </a:xfrm>
          <a:prstGeom prst="ellipse">
            <a:avLst/>
          </a:prstGeom>
          <a:solidFill>
            <a:srgbClr val="FFF1E8"/>
          </a:solidFill>
          <a:ln w="28575">
            <a:solidFill>
              <a:srgbClr val="E85D0F"/>
            </a:solidFill>
            <a:prstDash val="solid"/>
          </a:ln>
        </p:spPr>
      </p:sp>
      <p:sp>
        <p:nvSpPr>
          <p:cNvPr id="18" name="Rectangles 17"/>
          <p:cNvSpPr>
            <a:spLocks noGrp="1"/>
          </p:cNvSpPr>
          <p:nvPr/>
        </p:nvSpPr>
        <p:spPr>
          <a:xfrm>
            <a:off x="5086350" y="2686050"/>
            <a:ext cx="20193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ctr">
              <a:defRPr sz="3225" b="1">
                <a:solidFill>
                  <a:srgbClr val="A8440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225" b="1">
                <a:solidFill>
                  <a:srgbClr val="A8440D"/>
                </a:solidFill>
                <a:latin typeface="Noto Sans CJK SC"/>
                <a:ea typeface="Noto Sans CJK SC"/>
                <a:cs typeface="Noto Sans CJK SC"/>
              </a:rPr>
              <a:t>LSE</a:t>
            </a:r>
            <a:endParaRPr sz="3225" b="1">
              <a:solidFill>
                <a:srgbClr val="A8440D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9" name="Rectangles 18"/>
          <p:cNvSpPr>
            <a:spLocks noGrp="1"/>
          </p:cNvSpPr>
          <p:nvPr/>
        </p:nvSpPr>
        <p:spPr>
          <a:xfrm>
            <a:off x="5086350" y="3352800"/>
            <a:ext cx="2019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ctr">
              <a:defRPr sz="1350" b="1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rPr>
              <a:t>LogSumExp</a:t>
            </a:r>
            <a:endParaRPr sz="1350" b="1">
              <a:solidFill>
                <a:srgbClr val="17191D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0" name="Straight Connector 19"/>
          <p:cNvSpPr>
            <a:spLocks noGrp="1"/>
          </p:cNvSpPr>
          <p:nvPr/>
        </p:nvSpPr>
        <p:spPr>
          <a:xfrm>
            <a:off x="4629150" y="3276600"/>
            <a:ext cx="457200" cy="0"/>
          </a:xfrm>
          <a:prstGeom prst="line">
            <a:avLst/>
          </a:prstGeom>
          <a:noFill/>
          <a:ln w="19050">
            <a:solidFill>
              <a:srgbClr val="D6DAE0"/>
            </a:solidFill>
            <a:prstDash val="solid"/>
          </a:ln>
        </p:spPr>
      </p:sp>
      <p:sp>
        <p:nvSpPr>
          <p:cNvPr id="21" name="Straight Connector 20"/>
          <p:cNvSpPr>
            <a:spLocks noGrp="1"/>
          </p:cNvSpPr>
          <p:nvPr/>
        </p:nvSpPr>
        <p:spPr>
          <a:xfrm>
            <a:off x="7105650" y="3276600"/>
            <a:ext cx="457200" cy="0"/>
          </a:xfrm>
          <a:prstGeom prst="line">
            <a:avLst/>
          </a:prstGeom>
          <a:noFill/>
          <a:ln w="19050">
            <a:solidFill>
              <a:srgbClr val="D6DAE0"/>
            </a:solidFill>
            <a:prstDash val="solid"/>
          </a:ln>
        </p:spPr>
      </p:sp>
      <p:sp>
        <p:nvSpPr>
          <p:cNvPr id="22" name="Straight Connector 21"/>
          <p:cNvSpPr>
            <a:spLocks noGrp="1"/>
          </p:cNvSpPr>
          <p:nvPr/>
        </p:nvSpPr>
        <p:spPr>
          <a:xfrm>
            <a:off x="1028700" y="5105400"/>
            <a:ext cx="495300" cy="0"/>
          </a:xfrm>
          <a:prstGeom prst="line">
            <a:avLst/>
          </a:prstGeom>
          <a:noFill/>
          <a:ln w="28575">
            <a:solidFill>
              <a:srgbClr val="E85D0F"/>
            </a:solidFill>
            <a:prstDash val="solid"/>
          </a:ln>
        </p:spPr>
      </p:sp>
      <p:sp>
        <p:nvSpPr>
          <p:cNvPr id="23" name="Rectangles 22"/>
          <p:cNvSpPr>
            <a:spLocks noGrp="1"/>
          </p:cNvSpPr>
          <p:nvPr/>
        </p:nvSpPr>
        <p:spPr>
          <a:xfrm>
            <a:off x="1714500" y="5010150"/>
            <a:ext cx="94488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l">
              <a:defRPr sz="1425" b="1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1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rPr>
              <a:t>Attention 在可见 key 上归约，Linear LogP 在 vocabulary 上归约。分块和合并顺序会影响最终 LogP。</a:t>
            </a:r>
            <a:endParaRPr sz="1425" b="1">
              <a:solidFill>
                <a:srgbClr val="17191D"/>
              </a:solidFill>
              <a:latin typeface="Noto Sans CJK SC"/>
              <a:ea typeface="Noto Sans CJK SC"/>
              <a:cs typeface="Noto Sans CJK SC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0" name="Rectangles 29"/>
          <p:cNvSpPr>
            <a:spLocks noGrp="1"/>
          </p:cNvSpPr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rgbClr val="111111"/>
          </a:solidFill>
          <a:ln w="0">
            <a:noFill/>
            <a:prstDash val="solid"/>
          </a:ln>
        </p:spPr>
      </p:sp>
      <p:sp>
        <p:nvSpPr>
          <p:cNvPr id="2" name="Rectangles 1"/>
          <p:cNvSpPr>
            <a:spLocks noGrp="1"/>
          </p:cNvSpPr>
          <p:nvPr/>
        </p:nvSpPr>
        <p:spPr>
          <a:xfrm>
            <a:off x="0" y="6667500"/>
            <a:ext cx="12192000" cy="190500"/>
          </a:xfrm>
          <a:prstGeom prst="rect">
            <a:avLst/>
          </a:prstGeom>
          <a:solidFill>
            <a:srgbClr val="111111"/>
          </a:solidFill>
          <a:ln w="0">
            <a:noFill/>
            <a:prstDash val="solid"/>
          </a:ln>
        </p:spPr>
      </p:sp>
      <p:sp>
        <p:nvSpPr>
          <p:cNvPr id="3" name="Straight Connector 2"/>
          <p:cNvSpPr>
            <a:spLocks noGrp="1"/>
          </p:cNvSpPr>
          <p:nvPr/>
        </p:nvSpPr>
        <p:spPr>
          <a:xfrm>
            <a:off x="609600" y="342900"/>
            <a:ext cx="0" cy="552450"/>
          </a:xfrm>
          <a:prstGeom prst="line">
            <a:avLst/>
          </a:prstGeom>
          <a:noFill/>
          <a:ln w="28575">
            <a:solidFill>
              <a:srgbClr val="E85D0F"/>
            </a:solidFill>
            <a:prstDash val="solid"/>
          </a:ln>
        </p:spPr>
      </p:sp>
      <p:sp>
        <p:nvSpPr>
          <p:cNvPr id="4" name="Rectangles 3"/>
          <p:cNvSpPr>
            <a:spLocks noGrp="1"/>
          </p:cNvSpPr>
          <p:nvPr/>
        </p:nvSpPr>
        <p:spPr>
          <a:xfrm>
            <a:off x="781050" y="323850"/>
            <a:ext cx="5429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975" b="0">
                <a:solidFill>
                  <a:srgbClr val="62687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626871"/>
                </a:solidFill>
                <a:latin typeface="Noto Sans CJK SC"/>
                <a:ea typeface="Noto Sans CJK SC"/>
                <a:cs typeface="Noto Sans CJK SC"/>
              </a:rPr>
              <a:t>03  验证方法</a:t>
            </a:r>
            <a:endParaRPr sz="975" b="0">
              <a:solidFill>
                <a:srgbClr val="626871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" name="Rectangles 4"/>
          <p:cNvSpPr>
            <a:spLocks noGrp="1"/>
          </p:cNvSpPr>
          <p:nvPr/>
        </p:nvSpPr>
        <p:spPr>
          <a:xfrm>
            <a:off x="781050" y="657225"/>
            <a:ext cx="107632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2700" b="1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700" b="1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rPr>
              <a:t>固定 replay 后定位第一处差异</a:t>
            </a:r>
            <a:endParaRPr sz="2700" b="1">
              <a:solidFill>
                <a:srgbClr val="17191D"/>
              </a:solidFill>
              <a:latin typeface="Noto Sans CJK SC"/>
              <a:ea typeface="Noto Sans CJK SC"/>
              <a:cs typeface="Noto Sans CJK SC"/>
            </a:endParaRPr>
          </a:p>
        </p:txBody>
      </p:sp>
      <p:pic>
        <p:nvPicPr>
          <p:cNvPr id="35" name="Picture 3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91750" y="6238875"/>
            <a:ext cx="228600" cy="285750"/>
          </a:xfrm>
          <a:prstGeom prst="rect">
            <a:avLst/>
          </a:prstGeom>
        </p:spPr>
      </p:pic>
      <p:sp>
        <p:nvSpPr>
          <p:cNvPr id="7" name="Rectangles 6"/>
          <p:cNvSpPr>
            <a:spLocks noGrp="1"/>
          </p:cNvSpPr>
          <p:nvPr/>
        </p:nvSpPr>
        <p:spPr>
          <a:xfrm>
            <a:off x="10487025" y="6286500"/>
            <a:ext cx="1047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750" b="1">
                <a:solidFill>
                  <a:srgbClr val="62687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50" b="1">
                <a:solidFill>
                  <a:srgbClr val="626871"/>
                </a:solidFill>
                <a:latin typeface="Noto Sans CJK SC"/>
                <a:ea typeface="Noto Sans CJK SC"/>
                <a:cs typeface="Noto Sans CJK SC"/>
              </a:rPr>
              <a:t>RL-ALIGN</a:t>
            </a:r>
            <a:endParaRPr sz="750" b="1">
              <a:solidFill>
                <a:srgbClr val="626871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8" name="Rectangles 7"/>
          <p:cNvSpPr>
            <a:spLocks noGrp="1"/>
          </p:cNvSpPr>
          <p:nvPr/>
        </p:nvSpPr>
        <p:spPr>
          <a:xfrm>
            <a:off x="609600" y="6343650"/>
            <a:ext cx="4000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750" b="0">
                <a:solidFill>
                  <a:srgbClr val="989EA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50" b="0">
                <a:solidFill>
                  <a:srgbClr val="989EA7"/>
                </a:solidFill>
                <a:latin typeface="Noto Sans CJK SC"/>
                <a:ea typeface="Noto Sans CJK SC"/>
                <a:cs typeface="Noto Sans CJK SC"/>
              </a:rPr>
              <a:t>14</a:t>
            </a:r>
            <a:endParaRPr sz="750" b="0">
              <a:solidFill>
                <a:srgbClr val="989EA7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" name="Oval 8"/>
          <p:cNvSpPr>
            <a:spLocks noGrp="1"/>
          </p:cNvSpPr>
          <p:nvPr/>
        </p:nvSpPr>
        <p:spPr>
          <a:xfrm>
            <a:off x="1428750" y="1866900"/>
            <a:ext cx="914400" cy="914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D6DAE0"/>
            </a:solidFill>
            <a:prstDash val="solid"/>
          </a:ln>
        </p:spPr>
      </p:sp>
      <p:sp>
        <p:nvSpPr>
          <p:cNvPr id="10" name="Rectangles 9"/>
          <p:cNvSpPr>
            <a:spLocks noGrp="1"/>
          </p:cNvSpPr>
          <p:nvPr/>
        </p:nvSpPr>
        <p:spPr>
          <a:xfrm>
            <a:off x="1428750" y="2095500"/>
            <a:ext cx="9144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ctr">
              <a:defRPr sz="2175" b="1">
                <a:solidFill>
                  <a:srgbClr val="989EA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1">
                <a:solidFill>
                  <a:srgbClr val="989EA7"/>
                </a:solidFill>
                <a:latin typeface="Noto Sans CJK SC"/>
                <a:ea typeface="Noto Sans CJK SC"/>
                <a:cs typeface="Noto Sans CJK SC"/>
              </a:rPr>
              <a:t>1</a:t>
            </a:r>
            <a:endParaRPr sz="2175" b="1">
              <a:solidFill>
                <a:srgbClr val="989EA7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1" name="Right Arrow 10"/>
          <p:cNvSpPr>
            <a:spLocks noGrp="1"/>
          </p:cNvSpPr>
          <p:nvPr/>
        </p:nvSpPr>
        <p:spPr>
          <a:xfrm>
            <a:off x="2476500" y="2247900"/>
            <a:ext cx="762000" cy="152400"/>
          </a:xfrm>
          <a:prstGeom prst="rightArrow">
            <a:avLst/>
          </a:prstGeom>
          <a:solidFill>
            <a:srgbClr val="D6DAE0"/>
          </a:solidFill>
          <a:ln w="0">
            <a:solidFill>
              <a:srgbClr val="D6DAE0"/>
            </a:solidFill>
            <a:prstDash val="solid"/>
          </a:ln>
        </p:spPr>
      </p:sp>
      <p:sp>
        <p:nvSpPr>
          <p:cNvPr id="12" name="Rectangles 11"/>
          <p:cNvSpPr>
            <a:spLocks noGrp="1"/>
          </p:cNvSpPr>
          <p:nvPr/>
        </p:nvSpPr>
        <p:spPr>
          <a:xfrm>
            <a:off x="723900" y="3143250"/>
            <a:ext cx="23241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ctr">
              <a:defRPr sz="1725" b="1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rPr>
              <a:t>固定 replay</a:t>
            </a:r>
            <a:endParaRPr sz="1725" b="1">
              <a:solidFill>
                <a:srgbClr val="17191D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3" name="Rectangles 12"/>
          <p:cNvSpPr>
            <a:spLocks noGrp="1"/>
          </p:cNvSpPr>
          <p:nvPr/>
        </p:nvSpPr>
        <p:spPr>
          <a:xfrm>
            <a:off x="819150" y="3695700"/>
            <a:ext cx="21336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ctr">
              <a:defRPr sz="1200" b="0">
                <a:solidFill>
                  <a:srgbClr val="62687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626871"/>
                </a:solidFill>
                <a:latin typeface="Noto Sans CJK SC"/>
                <a:ea typeface="Noto Sans CJK SC"/>
                <a:cs typeface="Noto Sans CJK SC"/>
              </a:rPr>
              <a:t>锁定 token、mask 和 position</a:t>
            </a:r>
            <a:endParaRPr sz="1200" b="0">
              <a:solidFill>
                <a:srgbClr val="626871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4" name="Oval 13"/>
          <p:cNvSpPr>
            <a:spLocks noGrp="1"/>
          </p:cNvSpPr>
          <p:nvPr/>
        </p:nvSpPr>
        <p:spPr>
          <a:xfrm>
            <a:off x="4248150" y="1866900"/>
            <a:ext cx="914400" cy="914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D6DAE0"/>
            </a:solidFill>
            <a:prstDash val="solid"/>
          </a:ln>
        </p:spPr>
      </p:sp>
      <p:sp>
        <p:nvSpPr>
          <p:cNvPr id="15" name="Rectangles 14"/>
          <p:cNvSpPr>
            <a:spLocks noGrp="1"/>
          </p:cNvSpPr>
          <p:nvPr/>
        </p:nvSpPr>
        <p:spPr>
          <a:xfrm>
            <a:off x="4248150" y="2095500"/>
            <a:ext cx="9144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ctr">
              <a:defRPr sz="2175" b="1">
                <a:solidFill>
                  <a:srgbClr val="989EA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1">
                <a:solidFill>
                  <a:srgbClr val="989EA7"/>
                </a:solidFill>
                <a:latin typeface="Noto Sans CJK SC"/>
                <a:ea typeface="Noto Sans CJK SC"/>
                <a:cs typeface="Noto Sans CJK SC"/>
              </a:rPr>
              <a:t>2</a:t>
            </a:r>
            <a:endParaRPr sz="2175" b="1">
              <a:solidFill>
                <a:srgbClr val="989EA7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6" name="Right Arrow 15"/>
          <p:cNvSpPr>
            <a:spLocks noGrp="1"/>
          </p:cNvSpPr>
          <p:nvPr/>
        </p:nvSpPr>
        <p:spPr>
          <a:xfrm>
            <a:off x="5295900" y="2247900"/>
            <a:ext cx="762000" cy="152400"/>
          </a:xfrm>
          <a:prstGeom prst="rightArrow">
            <a:avLst/>
          </a:prstGeom>
          <a:solidFill>
            <a:srgbClr val="D6DAE0"/>
          </a:solidFill>
          <a:ln w="0">
            <a:solidFill>
              <a:srgbClr val="D6DAE0"/>
            </a:solidFill>
            <a:prstDash val="solid"/>
          </a:ln>
        </p:spPr>
      </p:sp>
      <p:sp>
        <p:nvSpPr>
          <p:cNvPr id="17" name="Rectangles 16"/>
          <p:cNvSpPr>
            <a:spLocks noGrp="1"/>
          </p:cNvSpPr>
          <p:nvPr/>
        </p:nvSpPr>
        <p:spPr>
          <a:xfrm>
            <a:off x="3543300" y="3143250"/>
            <a:ext cx="23241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ctr">
              <a:defRPr sz="1725" b="1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rPr>
              <a:t>逐层对比</a:t>
            </a:r>
            <a:endParaRPr sz="1725" b="1">
              <a:solidFill>
                <a:srgbClr val="17191D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8" name="Rectangles 17"/>
          <p:cNvSpPr>
            <a:spLocks noGrp="1"/>
          </p:cNvSpPr>
          <p:nvPr/>
        </p:nvSpPr>
        <p:spPr>
          <a:xfrm>
            <a:off x="3638550" y="3695700"/>
            <a:ext cx="21336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ctr">
              <a:defRPr sz="1200" b="0">
                <a:solidFill>
                  <a:srgbClr val="62687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626871"/>
                </a:solidFill>
                <a:latin typeface="Noto Sans CJK SC"/>
                <a:ea typeface="Noto Sans CJK SC"/>
                <a:cs typeface="Noto Sans CJK SC"/>
              </a:rPr>
              <a:t>比较中间结果</a:t>
            </a:r>
            <a:endParaRPr sz="1200" b="0">
              <a:solidFill>
                <a:srgbClr val="626871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9" name="Oval 18"/>
          <p:cNvSpPr>
            <a:spLocks noGrp="1"/>
          </p:cNvSpPr>
          <p:nvPr/>
        </p:nvSpPr>
        <p:spPr>
          <a:xfrm>
            <a:off x="7067550" y="1866900"/>
            <a:ext cx="914400" cy="914400"/>
          </a:xfrm>
          <a:prstGeom prst="ellipse">
            <a:avLst/>
          </a:prstGeom>
          <a:solidFill>
            <a:srgbClr val="FFF1E8"/>
          </a:solidFill>
          <a:ln w="28575">
            <a:solidFill>
              <a:srgbClr val="E85D0F"/>
            </a:solidFill>
            <a:prstDash val="solid"/>
          </a:ln>
        </p:spPr>
      </p:sp>
      <p:sp>
        <p:nvSpPr>
          <p:cNvPr id="20" name="Rectangles 19"/>
          <p:cNvSpPr>
            <a:spLocks noGrp="1"/>
          </p:cNvSpPr>
          <p:nvPr/>
        </p:nvSpPr>
        <p:spPr>
          <a:xfrm>
            <a:off x="7067550" y="2095500"/>
            <a:ext cx="9144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ctr">
              <a:defRPr sz="2175" b="1">
                <a:solidFill>
                  <a:srgbClr val="E85D0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1">
                <a:solidFill>
                  <a:srgbClr val="E85D0F"/>
                </a:solidFill>
                <a:latin typeface="Noto Sans CJK SC"/>
                <a:ea typeface="Noto Sans CJK SC"/>
                <a:cs typeface="Noto Sans CJK SC"/>
              </a:rPr>
              <a:t>3</a:t>
            </a:r>
            <a:endParaRPr sz="2175" b="1">
              <a:solidFill>
                <a:srgbClr val="E85D0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1" name="Right Arrow 20"/>
          <p:cNvSpPr>
            <a:spLocks noGrp="1"/>
          </p:cNvSpPr>
          <p:nvPr/>
        </p:nvSpPr>
        <p:spPr>
          <a:xfrm>
            <a:off x="8115300" y="2247900"/>
            <a:ext cx="762000" cy="152400"/>
          </a:xfrm>
          <a:prstGeom prst="rightArrow">
            <a:avLst/>
          </a:prstGeom>
          <a:solidFill>
            <a:srgbClr val="D6DAE0"/>
          </a:solidFill>
          <a:ln w="0">
            <a:solidFill>
              <a:srgbClr val="D6DAE0"/>
            </a:solidFill>
            <a:prstDash val="solid"/>
          </a:ln>
        </p:spPr>
      </p:sp>
      <p:sp>
        <p:nvSpPr>
          <p:cNvPr id="22" name="Rectangles 21"/>
          <p:cNvSpPr>
            <a:spLocks noGrp="1"/>
          </p:cNvSpPr>
          <p:nvPr/>
        </p:nvSpPr>
        <p:spPr>
          <a:xfrm>
            <a:off x="6362700" y="3143250"/>
            <a:ext cx="23241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ctr">
              <a:defRPr sz="1725" b="1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rPr>
              <a:t>找到首个差异</a:t>
            </a:r>
            <a:endParaRPr sz="1725" b="1">
              <a:solidFill>
                <a:srgbClr val="17191D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3" name="Rectangles 22"/>
          <p:cNvSpPr>
            <a:spLocks noGrp="1"/>
          </p:cNvSpPr>
          <p:nvPr/>
        </p:nvSpPr>
        <p:spPr>
          <a:xfrm>
            <a:off x="6457950" y="3695700"/>
            <a:ext cx="21336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ctr">
              <a:defRPr sz="1200" b="0">
                <a:solidFill>
                  <a:srgbClr val="62687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626871"/>
                </a:solidFill>
                <a:latin typeface="Noto Sans CJK SC"/>
                <a:ea typeface="Noto Sans CJK SC"/>
                <a:cs typeface="Noto Sans CJK SC"/>
              </a:rPr>
              <a:t>记录对应层</a:t>
            </a:r>
            <a:endParaRPr sz="1200" b="0">
              <a:solidFill>
                <a:srgbClr val="626871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4" name="Oval 23"/>
          <p:cNvSpPr>
            <a:spLocks noGrp="1"/>
          </p:cNvSpPr>
          <p:nvPr/>
        </p:nvSpPr>
        <p:spPr>
          <a:xfrm>
            <a:off x="9886950" y="1866900"/>
            <a:ext cx="914400" cy="914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D6DAE0"/>
            </a:solidFill>
            <a:prstDash val="solid"/>
          </a:ln>
        </p:spPr>
      </p:sp>
      <p:sp>
        <p:nvSpPr>
          <p:cNvPr id="25" name="Rectangles 24"/>
          <p:cNvSpPr>
            <a:spLocks noGrp="1"/>
          </p:cNvSpPr>
          <p:nvPr/>
        </p:nvSpPr>
        <p:spPr>
          <a:xfrm>
            <a:off x="9886950" y="2095500"/>
            <a:ext cx="9144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ctr">
              <a:defRPr sz="2175" b="1">
                <a:solidFill>
                  <a:srgbClr val="989EA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1">
                <a:solidFill>
                  <a:srgbClr val="989EA7"/>
                </a:solidFill>
                <a:latin typeface="Noto Sans CJK SC"/>
                <a:ea typeface="Noto Sans CJK SC"/>
                <a:cs typeface="Noto Sans CJK SC"/>
              </a:rPr>
              <a:t>4</a:t>
            </a:r>
            <a:endParaRPr sz="2175" b="1">
              <a:solidFill>
                <a:srgbClr val="989EA7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6" name="Rectangles 25"/>
          <p:cNvSpPr>
            <a:spLocks noGrp="1"/>
          </p:cNvSpPr>
          <p:nvPr/>
        </p:nvSpPr>
        <p:spPr>
          <a:xfrm>
            <a:off x="9182100" y="3143250"/>
            <a:ext cx="23241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ctr">
              <a:defRPr sz="1725" b="1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rPr>
              <a:t>回到在线训练</a:t>
            </a:r>
            <a:endParaRPr sz="1725" b="1">
              <a:solidFill>
                <a:srgbClr val="17191D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7" name="Rectangles 26"/>
          <p:cNvSpPr>
            <a:spLocks noGrp="1"/>
          </p:cNvSpPr>
          <p:nvPr/>
        </p:nvSpPr>
        <p:spPr>
          <a:xfrm>
            <a:off x="9277350" y="3695700"/>
            <a:ext cx="21336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ctr">
              <a:defRPr sz="1200" b="0">
                <a:solidFill>
                  <a:srgbClr val="62687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626871"/>
                </a:solidFill>
                <a:latin typeface="Noto Sans CJK SC"/>
                <a:ea typeface="Noto Sans CJK SC"/>
                <a:cs typeface="Noto Sans CJK SC"/>
              </a:rPr>
              <a:t>验证完整 RL step</a:t>
            </a:r>
            <a:endParaRPr sz="1200" b="0">
              <a:solidFill>
                <a:srgbClr val="626871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8" name="Straight Connector 27"/>
          <p:cNvSpPr>
            <a:spLocks noGrp="1"/>
          </p:cNvSpPr>
          <p:nvPr/>
        </p:nvSpPr>
        <p:spPr>
          <a:xfrm>
            <a:off x="1028700" y="4972050"/>
            <a:ext cx="495300" cy="0"/>
          </a:xfrm>
          <a:prstGeom prst="line">
            <a:avLst/>
          </a:prstGeom>
          <a:noFill/>
          <a:ln w="28575">
            <a:solidFill>
              <a:srgbClr val="E85D0F"/>
            </a:solidFill>
            <a:prstDash val="solid"/>
          </a:ln>
        </p:spPr>
      </p:sp>
      <p:sp>
        <p:nvSpPr>
          <p:cNvPr id="29" name="Rectangles 28"/>
          <p:cNvSpPr>
            <a:spLocks noGrp="1"/>
          </p:cNvSpPr>
          <p:nvPr/>
        </p:nvSpPr>
        <p:spPr>
          <a:xfrm>
            <a:off x="1714500" y="4876800"/>
            <a:ext cx="94488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l">
              <a:defRPr sz="1425" b="1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1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rPr>
              <a:t>固定 replay 后，两边处理同一批 token，先排除采样随机性，再逐层定位首个 LogP 差异。</a:t>
            </a:r>
            <a:endParaRPr sz="1425" b="1">
              <a:solidFill>
                <a:srgbClr val="17191D"/>
              </a:solidFill>
              <a:latin typeface="Noto Sans CJK SC"/>
              <a:ea typeface="Noto Sans CJK SC"/>
              <a:cs typeface="Noto Sans CJK SC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1" name="Rectangles 30"/>
          <p:cNvSpPr>
            <a:spLocks noGrp="1"/>
          </p:cNvSpPr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rgbClr val="111111"/>
          </a:solidFill>
          <a:ln w="0">
            <a:noFill/>
            <a:prstDash val="solid"/>
          </a:ln>
        </p:spPr>
      </p:sp>
      <p:sp>
        <p:nvSpPr>
          <p:cNvPr id="2" name="Rectangles 1"/>
          <p:cNvSpPr>
            <a:spLocks noGrp="1"/>
          </p:cNvSpPr>
          <p:nvPr/>
        </p:nvSpPr>
        <p:spPr>
          <a:xfrm>
            <a:off x="0" y="6667500"/>
            <a:ext cx="12192000" cy="190500"/>
          </a:xfrm>
          <a:prstGeom prst="rect">
            <a:avLst/>
          </a:prstGeom>
          <a:solidFill>
            <a:srgbClr val="111111"/>
          </a:solidFill>
          <a:ln w="0">
            <a:noFill/>
            <a:prstDash val="solid"/>
          </a:ln>
        </p:spPr>
      </p:sp>
      <p:sp>
        <p:nvSpPr>
          <p:cNvPr id="3" name="Straight Connector 2"/>
          <p:cNvSpPr>
            <a:spLocks noGrp="1"/>
          </p:cNvSpPr>
          <p:nvPr/>
        </p:nvSpPr>
        <p:spPr>
          <a:xfrm>
            <a:off x="609600" y="342900"/>
            <a:ext cx="0" cy="552450"/>
          </a:xfrm>
          <a:prstGeom prst="line">
            <a:avLst/>
          </a:prstGeom>
          <a:noFill/>
          <a:ln w="28575">
            <a:solidFill>
              <a:srgbClr val="E85D0F"/>
            </a:solidFill>
            <a:prstDash val="solid"/>
          </a:ln>
        </p:spPr>
      </p:sp>
      <p:sp>
        <p:nvSpPr>
          <p:cNvPr id="4" name="Rectangles 3"/>
          <p:cNvSpPr>
            <a:spLocks noGrp="1"/>
          </p:cNvSpPr>
          <p:nvPr/>
        </p:nvSpPr>
        <p:spPr>
          <a:xfrm>
            <a:off x="781050" y="323850"/>
            <a:ext cx="5429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975" b="0">
                <a:solidFill>
                  <a:srgbClr val="62687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626871"/>
                </a:solidFill>
                <a:latin typeface="Noto Sans CJK SC"/>
                <a:ea typeface="Noto Sans CJK SC"/>
                <a:cs typeface="Noto Sans CJK SC"/>
              </a:rPr>
              <a:t>03  验证方法</a:t>
            </a:r>
            <a:endParaRPr sz="975" b="0">
              <a:solidFill>
                <a:srgbClr val="626871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" name="Rectangles 4"/>
          <p:cNvSpPr>
            <a:spLocks noGrp="1"/>
          </p:cNvSpPr>
          <p:nvPr/>
        </p:nvSpPr>
        <p:spPr>
          <a:xfrm>
            <a:off x="781050" y="657225"/>
            <a:ext cx="107632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2700" b="1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700" b="1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rPr>
              <a:t>0 mismatch 的验证过程</a:t>
            </a:r>
            <a:endParaRPr sz="2700" b="1">
              <a:solidFill>
                <a:srgbClr val="17191D"/>
              </a:solidFill>
              <a:latin typeface="Noto Sans CJK SC"/>
              <a:ea typeface="Noto Sans CJK SC"/>
              <a:cs typeface="Noto Sans CJK SC"/>
            </a:endParaRPr>
          </a:p>
        </p:txBody>
      </p:sp>
      <p:pic>
        <p:nvPicPr>
          <p:cNvPr id="36" name="Picture 3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91750" y="6238875"/>
            <a:ext cx="228600" cy="285750"/>
          </a:xfrm>
          <a:prstGeom prst="rect">
            <a:avLst/>
          </a:prstGeom>
        </p:spPr>
      </p:pic>
      <p:sp>
        <p:nvSpPr>
          <p:cNvPr id="7" name="Rectangles 6"/>
          <p:cNvSpPr>
            <a:spLocks noGrp="1"/>
          </p:cNvSpPr>
          <p:nvPr/>
        </p:nvSpPr>
        <p:spPr>
          <a:xfrm>
            <a:off x="10487025" y="6286500"/>
            <a:ext cx="1047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750" b="1">
                <a:solidFill>
                  <a:srgbClr val="62687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50" b="1">
                <a:solidFill>
                  <a:srgbClr val="626871"/>
                </a:solidFill>
                <a:latin typeface="Noto Sans CJK SC"/>
                <a:ea typeface="Noto Sans CJK SC"/>
                <a:cs typeface="Noto Sans CJK SC"/>
              </a:rPr>
              <a:t>RL-ALIGN</a:t>
            </a:r>
            <a:endParaRPr sz="750" b="1">
              <a:solidFill>
                <a:srgbClr val="626871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8" name="Rectangles 7"/>
          <p:cNvSpPr>
            <a:spLocks noGrp="1"/>
          </p:cNvSpPr>
          <p:nvPr/>
        </p:nvSpPr>
        <p:spPr>
          <a:xfrm>
            <a:off x="609600" y="6343650"/>
            <a:ext cx="4000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750" b="0">
                <a:solidFill>
                  <a:srgbClr val="989EA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50" b="0">
                <a:solidFill>
                  <a:srgbClr val="989EA7"/>
                </a:solidFill>
                <a:latin typeface="Noto Sans CJK SC"/>
                <a:ea typeface="Noto Sans CJK SC"/>
                <a:cs typeface="Noto Sans CJK SC"/>
              </a:rPr>
              <a:t>15</a:t>
            </a:r>
            <a:endParaRPr sz="750" b="0">
              <a:solidFill>
                <a:srgbClr val="989EA7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" name="Rectangles 8"/>
          <p:cNvSpPr>
            <a:spLocks noGrp="1"/>
          </p:cNvSpPr>
          <p:nvPr/>
        </p:nvSpPr>
        <p:spPr>
          <a:xfrm>
            <a:off x="876300" y="1466850"/>
            <a:ext cx="8572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350" b="0">
                <a:solidFill>
                  <a:srgbClr val="62687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626871"/>
                </a:solidFill>
                <a:latin typeface="Noto Sans CJK SC"/>
                <a:ea typeface="Noto Sans CJK SC"/>
                <a:cs typeface="Noto Sans CJK SC"/>
              </a:rPr>
              <a:t>比较对象、随机条件和实际执行路径都需要固定，并覆盖完整训练过程。</a:t>
            </a:r>
            <a:endParaRPr sz="1350" b="0">
              <a:solidFill>
                <a:srgbClr val="626871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" name="Rounded Rectangle 9"/>
          <p:cNvSpPr>
            <a:spLocks noGrp="1"/>
          </p:cNvSpPr>
          <p:nvPr/>
        </p:nvSpPr>
        <p:spPr>
          <a:xfrm>
            <a:off x="1085850" y="1981200"/>
            <a:ext cx="7715250" cy="476250"/>
          </a:xfrm>
          <a:prstGeom prst="roundRect">
            <a:avLst>
              <a:gd name="adj" fmla="val 20000"/>
            </a:avLst>
          </a:prstGeom>
          <a:solidFill>
            <a:srgbClr val="F6F7F9"/>
          </a:solidFill>
          <a:ln w="9525">
            <a:solidFill>
              <a:srgbClr val="D6DAE0"/>
            </a:solidFill>
            <a:prstDash val="solid"/>
          </a:ln>
        </p:spPr>
      </p:sp>
      <p:sp>
        <p:nvSpPr>
          <p:cNvPr id="11" name="Rectangles 10"/>
          <p:cNvSpPr>
            <a:spLocks noGrp="1"/>
          </p:cNvSpPr>
          <p:nvPr/>
        </p:nvSpPr>
        <p:spPr>
          <a:xfrm>
            <a:off x="1276350" y="2105025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975" b="1">
                <a:solidFill>
                  <a:srgbClr val="989EA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1">
                <a:solidFill>
                  <a:srgbClr val="989EA7"/>
                </a:solidFill>
                <a:latin typeface="Noto Sans CJK SC"/>
                <a:ea typeface="Noto Sans CJK SC"/>
                <a:cs typeface="Noto Sans CJK SC"/>
              </a:rPr>
              <a:t>01</a:t>
            </a:r>
            <a:endParaRPr sz="975" b="1">
              <a:solidFill>
                <a:srgbClr val="989EA7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2" name="Rectangles 11"/>
          <p:cNvSpPr>
            <a:spLocks noGrp="1"/>
          </p:cNvSpPr>
          <p:nvPr/>
        </p:nvSpPr>
        <p:spPr>
          <a:xfrm>
            <a:off x="1943100" y="2057400"/>
            <a:ext cx="4572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425" b="1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1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rPr>
              <a:t>对齐权重、token 和 mask</a:t>
            </a:r>
            <a:endParaRPr sz="1425" b="1">
              <a:solidFill>
                <a:srgbClr val="17191D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3" name="Rounded Rectangle 12"/>
          <p:cNvSpPr>
            <a:spLocks noGrp="1"/>
          </p:cNvSpPr>
          <p:nvPr/>
        </p:nvSpPr>
        <p:spPr>
          <a:xfrm>
            <a:off x="1771650" y="2628900"/>
            <a:ext cx="7029450" cy="476250"/>
          </a:xfrm>
          <a:prstGeom prst="roundRect">
            <a:avLst>
              <a:gd name="adj" fmla="val 20000"/>
            </a:avLst>
          </a:prstGeom>
          <a:solidFill>
            <a:srgbClr val="F6F7F9"/>
          </a:solidFill>
          <a:ln w="9525">
            <a:solidFill>
              <a:srgbClr val="D6DAE0"/>
            </a:solidFill>
            <a:prstDash val="solid"/>
          </a:ln>
        </p:spPr>
      </p:sp>
      <p:sp>
        <p:nvSpPr>
          <p:cNvPr id="14" name="Rectangles 13"/>
          <p:cNvSpPr>
            <a:spLocks noGrp="1"/>
          </p:cNvSpPr>
          <p:nvPr/>
        </p:nvSpPr>
        <p:spPr>
          <a:xfrm>
            <a:off x="1962150" y="2752725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975" b="1">
                <a:solidFill>
                  <a:srgbClr val="989EA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1">
                <a:solidFill>
                  <a:srgbClr val="989EA7"/>
                </a:solidFill>
                <a:latin typeface="Noto Sans CJK SC"/>
                <a:ea typeface="Noto Sans CJK SC"/>
                <a:cs typeface="Noto Sans CJK SC"/>
              </a:rPr>
              <a:t>02</a:t>
            </a:r>
            <a:endParaRPr sz="975" b="1">
              <a:solidFill>
                <a:srgbClr val="989EA7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5" name="Rectangles 14"/>
          <p:cNvSpPr>
            <a:spLocks noGrp="1"/>
          </p:cNvSpPr>
          <p:nvPr/>
        </p:nvSpPr>
        <p:spPr>
          <a:xfrm>
            <a:off x="2628900" y="2705100"/>
            <a:ext cx="4572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425" b="1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1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rPr>
              <a:t>固定 seed 和采样参数</a:t>
            </a:r>
            <a:endParaRPr sz="1425" b="1">
              <a:solidFill>
                <a:srgbClr val="17191D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6" name="Rounded Rectangle 15"/>
          <p:cNvSpPr>
            <a:spLocks noGrp="1"/>
          </p:cNvSpPr>
          <p:nvPr/>
        </p:nvSpPr>
        <p:spPr>
          <a:xfrm>
            <a:off x="2457450" y="3276600"/>
            <a:ext cx="6343650" cy="476250"/>
          </a:xfrm>
          <a:prstGeom prst="roundRect">
            <a:avLst>
              <a:gd name="adj" fmla="val 20000"/>
            </a:avLst>
          </a:prstGeom>
          <a:solidFill>
            <a:srgbClr val="F6F7F9"/>
          </a:solidFill>
          <a:ln w="9525">
            <a:solidFill>
              <a:srgbClr val="D6DAE0"/>
            </a:solidFill>
            <a:prstDash val="solid"/>
          </a:ln>
        </p:spPr>
      </p:sp>
      <p:sp>
        <p:nvSpPr>
          <p:cNvPr id="17" name="Rectangles 16"/>
          <p:cNvSpPr>
            <a:spLocks noGrp="1"/>
          </p:cNvSpPr>
          <p:nvPr/>
        </p:nvSpPr>
        <p:spPr>
          <a:xfrm>
            <a:off x="2647950" y="3400425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975" b="1">
                <a:solidFill>
                  <a:srgbClr val="989EA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1">
                <a:solidFill>
                  <a:srgbClr val="989EA7"/>
                </a:solidFill>
                <a:latin typeface="Noto Sans CJK SC"/>
                <a:ea typeface="Noto Sans CJK SC"/>
                <a:cs typeface="Noto Sans CJK SC"/>
              </a:rPr>
              <a:t>03</a:t>
            </a:r>
            <a:endParaRPr sz="975" b="1">
              <a:solidFill>
                <a:srgbClr val="989EA7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8" name="Rectangles 17"/>
          <p:cNvSpPr>
            <a:spLocks noGrp="1"/>
          </p:cNvSpPr>
          <p:nvPr/>
        </p:nvSpPr>
        <p:spPr>
          <a:xfrm>
            <a:off x="3314700" y="3352800"/>
            <a:ext cx="4572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425" b="1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1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rPr>
              <a:t>同一配置重复运行</a:t>
            </a:r>
            <a:endParaRPr sz="1425" b="1">
              <a:solidFill>
                <a:srgbClr val="17191D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9" name="Rounded Rectangle 18"/>
          <p:cNvSpPr>
            <a:spLocks noGrp="1"/>
          </p:cNvSpPr>
          <p:nvPr/>
        </p:nvSpPr>
        <p:spPr>
          <a:xfrm>
            <a:off x="3143250" y="3924300"/>
            <a:ext cx="5657850" cy="476250"/>
          </a:xfrm>
          <a:prstGeom prst="roundRect">
            <a:avLst>
              <a:gd name="adj" fmla="val 20000"/>
            </a:avLst>
          </a:prstGeom>
          <a:solidFill>
            <a:srgbClr val="F6F7F9"/>
          </a:solidFill>
          <a:ln w="9525">
            <a:solidFill>
              <a:srgbClr val="D6DAE0"/>
            </a:solidFill>
            <a:prstDash val="solid"/>
          </a:ln>
        </p:spPr>
      </p:sp>
      <p:sp>
        <p:nvSpPr>
          <p:cNvPr id="20" name="Rectangles 19"/>
          <p:cNvSpPr>
            <a:spLocks noGrp="1"/>
          </p:cNvSpPr>
          <p:nvPr/>
        </p:nvSpPr>
        <p:spPr>
          <a:xfrm>
            <a:off x="3333750" y="4048125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975" b="1">
                <a:solidFill>
                  <a:srgbClr val="989EA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1">
                <a:solidFill>
                  <a:srgbClr val="989EA7"/>
                </a:solidFill>
                <a:latin typeface="Noto Sans CJK SC"/>
                <a:ea typeface="Noto Sans CJK SC"/>
                <a:cs typeface="Noto Sans CJK SC"/>
              </a:rPr>
              <a:t>04</a:t>
            </a:r>
            <a:endParaRPr sz="975" b="1">
              <a:solidFill>
                <a:srgbClr val="989EA7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1" name="Rectangles 20"/>
          <p:cNvSpPr>
            <a:spLocks noGrp="1"/>
          </p:cNvSpPr>
          <p:nvPr/>
        </p:nvSpPr>
        <p:spPr>
          <a:xfrm>
            <a:off x="4000500" y="4000500"/>
            <a:ext cx="4572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425" b="1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1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rPr>
              <a:t>比较 rollout_logp 和 old_logp</a:t>
            </a:r>
            <a:endParaRPr sz="1425" b="1">
              <a:solidFill>
                <a:srgbClr val="17191D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2" name="Rounded Rectangle 21"/>
          <p:cNvSpPr>
            <a:spLocks noGrp="1"/>
          </p:cNvSpPr>
          <p:nvPr/>
        </p:nvSpPr>
        <p:spPr>
          <a:xfrm>
            <a:off x="3829050" y="4572000"/>
            <a:ext cx="4972050" cy="476250"/>
          </a:xfrm>
          <a:prstGeom prst="roundRect">
            <a:avLst>
              <a:gd name="adj" fmla="val 20000"/>
            </a:avLst>
          </a:prstGeom>
          <a:solidFill>
            <a:srgbClr val="FFF1E8"/>
          </a:solidFill>
          <a:ln w="19050">
            <a:solidFill>
              <a:srgbClr val="E85D0F"/>
            </a:solidFill>
            <a:prstDash val="solid"/>
          </a:ln>
        </p:spPr>
      </p:sp>
      <p:sp>
        <p:nvSpPr>
          <p:cNvPr id="23" name="Rectangles 22"/>
          <p:cNvSpPr>
            <a:spLocks noGrp="1"/>
          </p:cNvSpPr>
          <p:nvPr/>
        </p:nvSpPr>
        <p:spPr>
          <a:xfrm>
            <a:off x="4019550" y="4695825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975" b="1">
                <a:solidFill>
                  <a:srgbClr val="E85D0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1">
                <a:solidFill>
                  <a:srgbClr val="E85D0F"/>
                </a:solidFill>
                <a:latin typeface="Noto Sans CJK SC"/>
                <a:ea typeface="Noto Sans CJK SC"/>
                <a:cs typeface="Noto Sans CJK SC"/>
              </a:rPr>
              <a:t>05</a:t>
            </a:r>
            <a:endParaRPr sz="975" b="1">
              <a:solidFill>
                <a:srgbClr val="E85D0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4" name="Rectangles 23"/>
          <p:cNvSpPr>
            <a:spLocks noGrp="1"/>
          </p:cNvSpPr>
          <p:nvPr/>
        </p:nvSpPr>
        <p:spPr>
          <a:xfrm>
            <a:off x="4686300" y="4648200"/>
            <a:ext cx="4572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425" b="1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1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rPr>
              <a:t>保存实验配置和比较结果</a:t>
            </a:r>
            <a:endParaRPr sz="1425" b="1">
              <a:solidFill>
                <a:srgbClr val="17191D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5" name="Straight Connector 24"/>
          <p:cNvSpPr>
            <a:spLocks noGrp="1"/>
          </p:cNvSpPr>
          <p:nvPr/>
        </p:nvSpPr>
        <p:spPr>
          <a:xfrm>
            <a:off x="9620250" y="1924050"/>
            <a:ext cx="0" cy="3257550"/>
          </a:xfrm>
          <a:prstGeom prst="line">
            <a:avLst/>
          </a:prstGeom>
          <a:noFill/>
          <a:ln w="9525">
            <a:solidFill>
              <a:srgbClr val="D6DAE0"/>
            </a:solidFill>
            <a:prstDash val="solid"/>
          </a:ln>
        </p:spPr>
      </p:sp>
      <p:sp>
        <p:nvSpPr>
          <p:cNvPr id="26" name="Rectangles 25"/>
          <p:cNvSpPr>
            <a:spLocks noGrp="1"/>
          </p:cNvSpPr>
          <p:nvPr/>
        </p:nvSpPr>
        <p:spPr>
          <a:xfrm>
            <a:off x="9982200" y="2038350"/>
            <a:ext cx="14097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125" b="1">
                <a:solidFill>
                  <a:srgbClr val="E85D0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E85D0F"/>
                </a:solidFill>
                <a:latin typeface="Noto Sans CJK SC"/>
                <a:ea typeface="Noto Sans CJK SC"/>
                <a:cs typeface="Noto Sans CJK SC"/>
              </a:rPr>
              <a:t>验证结果</a:t>
            </a:r>
            <a:endParaRPr sz="1125" b="1">
              <a:solidFill>
                <a:srgbClr val="E85D0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7" name="Rectangles 26"/>
          <p:cNvSpPr>
            <a:spLocks noGrp="1"/>
          </p:cNvSpPr>
          <p:nvPr/>
        </p:nvSpPr>
        <p:spPr>
          <a:xfrm>
            <a:off x="9982200" y="2419350"/>
            <a:ext cx="16192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3375" b="1">
                <a:solidFill>
                  <a:srgbClr val="E85D0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375" b="1">
                <a:solidFill>
                  <a:srgbClr val="E85D0F"/>
                </a:solidFill>
                <a:latin typeface="Noto Sans CJK SC"/>
                <a:ea typeface="Noto Sans CJK SC"/>
                <a:cs typeface="Noto Sans CJK SC"/>
              </a:rPr>
              <a:t>200</a:t>
            </a:r>
            <a:endParaRPr sz="3375" b="1">
              <a:solidFill>
                <a:srgbClr val="E85D0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8" name="Rectangles 27"/>
          <p:cNvSpPr>
            <a:spLocks noGrp="1"/>
          </p:cNvSpPr>
          <p:nvPr/>
        </p:nvSpPr>
        <p:spPr>
          <a:xfrm>
            <a:off x="9982200" y="3086100"/>
            <a:ext cx="1619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275" b="1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rPr>
              <a:t>完整 RL steps</a:t>
            </a:r>
            <a:endParaRPr sz="1275" b="1">
              <a:solidFill>
                <a:srgbClr val="17191D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9" name="Rectangles 28"/>
          <p:cNvSpPr>
            <a:spLocks noGrp="1"/>
          </p:cNvSpPr>
          <p:nvPr/>
        </p:nvSpPr>
        <p:spPr>
          <a:xfrm>
            <a:off x="9982200" y="3829050"/>
            <a:ext cx="16192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3900" b="1">
                <a:solidFill>
                  <a:srgbClr val="16895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900" b="1">
                <a:solidFill>
                  <a:srgbClr val="16895A"/>
                </a:solidFill>
                <a:latin typeface="Noto Sans CJK SC"/>
                <a:ea typeface="Noto Sans CJK SC"/>
                <a:cs typeface="Noto Sans CJK SC"/>
              </a:rPr>
              <a:t>0</a:t>
            </a:r>
            <a:endParaRPr sz="3900" b="1">
              <a:solidFill>
                <a:srgbClr val="16895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0" name="Rectangles 29"/>
          <p:cNvSpPr>
            <a:spLocks noGrp="1"/>
          </p:cNvSpPr>
          <p:nvPr/>
        </p:nvSpPr>
        <p:spPr>
          <a:xfrm>
            <a:off x="9982200" y="4495800"/>
            <a:ext cx="1619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275" b="1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rPr>
              <a:t>train / rollout mismatch</a:t>
            </a:r>
            <a:endParaRPr sz="1275" b="1">
              <a:solidFill>
                <a:srgbClr val="17191D"/>
              </a:solidFill>
              <a:latin typeface="Noto Sans CJK SC"/>
              <a:ea typeface="Noto Sans CJK SC"/>
              <a:cs typeface="Noto Sans CJK SC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5" name="Rectangles 24"/>
          <p:cNvSpPr>
            <a:spLocks noGrp="1"/>
          </p:cNvSpPr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rgbClr val="111111"/>
          </a:solidFill>
          <a:ln w="0">
            <a:noFill/>
            <a:prstDash val="solid"/>
          </a:ln>
        </p:spPr>
      </p:sp>
      <p:sp>
        <p:nvSpPr>
          <p:cNvPr id="2" name="Rectangles 1"/>
          <p:cNvSpPr>
            <a:spLocks noGrp="1"/>
          </p:cNvSpPr>
          <p:nvPr/>
        </p:nvSpPr>
        <p:spPr>
          <a:xfrm>
            <a:off x="0" y="6667500"/>
            <a:ext cx="12192000" cy="190500"/>
          </a:xfrm>
          <a:prstGeom prst="rect">
            <a:avLst/>
          </a:prstGeom>
          <a:solidFill>
            <a:srgbClr val="111111"/>
          </a:solidFill>
          <a:ln w="0">
            <a:noFill/>
            <a:prstDash val="solid"/>
          </a:ln>
        </p:spPr>
      </p:sp>
      <p:sp>
        <p:nvSpPr>
          <p:cNvPr id="3" name="Straight Connector 2"/>
          <p:cNvSpPr>
            <a:spLocks noGrp="1"/>
          </p:cNvSpPr>
          <p:nvPr/>
        </p:nvSpPr>
        <p:spPr>
          <a:xfrm>
            <a:off x="609600" y="342900"/>
            <a:ext cx="0" cy="552450"/>
          </a:xfrm>
          <a:prstGeom prst="line">
            <a:avLst/>
          </a:prstGeom>
          <a:noFill/>
          <a:ln w="28575">
            <a:solidFill>
              <a:srgbClr val="E85D0F"/>
            </a:solidFill>
            <a:prstDash val="solid"/>
          </a:ln>
        </p:spPr>
      </p:sp>
      <p:sp>
        <p:nvSpPr>
          <p:cNvPr id="4" name="Rectangles 3"/>
          <p:cNvSpPr>
            <a:spLocks noGrp="1"/>
          </p:cNvSpPr>
          <p:nvPr/>
        </p:nvSpPr>
        <p:spPr>
          <a:xfrm>
            <a:off x="781050" y="323850"/>
            <a:ext cx="5429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975" b="0">
                <a:solidFill>
                  <a:srgbClr val="62687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626871"/>
                </a:solidFill>
                <a:latin typeface="Noto Sans CJK SC"/>
                <a:ea typeface="Noto Sans CJK SC"/>
                <a:cs typeface="Noto Sans CJK SC"/>
              </a:rPr>
              <a:t>04  v0.1.0</a:t>
            </a:r>
            <a:endParaRPr sz="975" b="0">
              <a:solidFill>
                <a:srgbClr val="626871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" name="Rectangles 4"/>
          <p:cNvSpPr>
            <a:spLocks noGrp="1"/>
          </p:cNvSpPr>
          <p:nvPr/>
        </p:nvSpPr>
        <p:spPr>
          <a:xfrm>
            <a:off x="781050" y="657225"/>
            <a:ext cx="107632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2700" b="1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700" b="1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rPr>
              <a:t>并行配置命令</a:t>
            </a:r>
            <a:endParaRPr sz="2700" b="1">
              <a:solidFill>
                <a:srgbClr val="17191D"/>
              </a:solidFill>
              <a:latin typeface="Noto Sans CJK SC"/>
              <a:ea typeface="Noto Sans CJK SC"/>
              <a:cs typeface="Noto Sans CJK SC"/>
            </a:endParaRPr>
          </a:p>
        </p:txBody>
      </p:sp>
      <p:pic>
        <p:nvPicPr>
          <p:cNvPr id="30" name="Picture 2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91750" y="6238875"/>
            <a:ext cx="228600" cy="285750"/>
          </a:xfrm>
          <a:prstGeom prst="rect">
            <a:avLst/>
          </a:prstGeom>
        </p:spPr>
      </p:pic>
      <p:sp>
        <p:nvSpPr>
          <p:cNvPr id="7" name="Rectangles 6"/>
          <p:cNvSpPr>
            <a:spLocks noGrp="1"/>
          </p:cNvSpPr>
          <p:nvPr/>
        </p:nvSpPr>
        <p:spPr>
          <a:xfrm>
            <a:off x="10487025" y="6286500"/>
            <a:ext cx="1047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750" b="1">
                <a:solidFill>
                  <a:srgbClr val="62687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50" b="1">
                <a:solidFill>
                  <a:srgbClr val="626871"/>
                </a:solidFill>
                <a:latin typeface="Noto Sans CJK SC"/>
                <a:ea typeface="Noto Sans CJK SC"/>
                <a:cs typeface="Noto Sans CJK SC"/>
              </a:rPr>
              <a:t>RL-ALIGN</a:t>
            </a:r>
            <a:endParaRPr sz="750" b="1">
              <a:solidFill>
                <a:srgbClr val="626871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8" name="Rectangles 7"/>
          <p:cNvSpPr>
            <a:spLocks noGrp="1"/>
          </p:cNvSpPr>
          <p:nvPr/>
        </p:nvSpPr>
        <p:spPr>
          <a:xfrm>
            <a:off x="609600" y="6343650"/>
            <a:ext cx="4000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750" b="0">
                <a:solidFill>
                  <a:srgbClr val="989EA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50" b="0">
                <a:solidFill>
                  <a:srgbClr val="989EA7"/>
                </a:solidFill>
                <a:latin typeface="Noto Sans CJK SC"/>
                <a:ea typeface="Noto Sans CJK SC"/>
                <a:cs typeface="Noto Sans CJK SC"/>
              </a:rPr>
              <a:t>16</a:t>
            </a:r>
            <a:endParaRPr sz="750" b="0">
              <a:solidFill>
                <a:srgbClr val="989EA7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" name="Rectangles 8"/>
          <p:cNvSpPr>
            <a:spLocks noGrp="1"/>
          </p:cNvSpPr>
          <p:nvPr/>
        </p:nvSpPr>
        <p:spPr>
          <a:xfrm>
            <a:off x="819150" y="1428750"/>
            <a:ext cx="3048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050" b="1">
                <a:solidFill>
                  <a:srgbClr val="E85D0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E85D0F"/>
                </a:solidFill>
                <a:latin typeface="Noto Sans CJK SC"/>
                <a:ea typeface="Noto Sans CJK SC"/>
                <a:cs typeface="Noto Sans CJK SC"/>
              </a:rPr>
              <a:t>README Quick Start</a:t>
            </a:r>
            <a:endParaRPr sz="1050" b="1">
              <a:solidFill>
                <a:srgbClr val="E85D0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" name="Rounded Rectangle 9"/>
          <p:cNvSpPr>
            <a:spLocks noGrp="1"/>
          </p:cNvSpPr>
          <p:nvPr/>
        </p:nvSpPr>
        <p:spPr>
          <a:xfrm>
            <a:off x="800100" y="1733550"/>
            <a:ext cx="10591800" cy="990600"/>
          </a:xfrm>
          <a:prstGeom prst="roundRect">
            <a:avLst>
              <a:gd name="adj" fmla="val 7692"/>
            </a:avLst>
          </a:prstGeom>
          <a:solidFill>
            <a:srgbClr val="F6F7F9"/>
          </a:solidFill>
          <a:ln w="9525">
            <a:solidFill>
              <a:srgbClr val="D6DAE0"/>
            </a:solidFill>
            <a:prstDash val="solid"/>
          </a:ln>
        </p:spPr>
      </p:sp>
      <p:sp>
        <p:nvSpPr>
          <p:cNvPr id="11" name="Rectangles 10"/>
          <p:cNvSpPr>
            <a:spLocks noGrp="1"/>
          </p:cNvSpPr>
          <p:nvPr/>
        </p:nvSpPr>
        <p:spPr>
          <a:xfrm>
            <a:off x="1028700" y="1914525"/>
            <a:ext cx="101346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125" b="0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rPr>
              <a:t>./rlk run --tp 4 --rollout-tp 4 --temperature 0.7 --top-p 0.95 \</a:t>
            </a:r>
            <a:endParaRPr sz="1125" b="0">
              <a:solidFill>
                <a:srgbClr val="17191D"/>
              </a:solidFill>
              <a:latin typeface="Noto Sans CJK SC"/>
              <a:ea typeface="Noto Sans CJK SC"/>
              <a:cs typeface="Noto Sans CJK SC"/>
            </a:endParaRPr>
          </a:p>
          <a:p>
            <a:pPr algn="l">
              <a:defRPr sz="1125" b="0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rPr>
              <a:t>  --lr 5e-7 --kl-coef 0.01 --max-response-len 6912 \</a:t>
            </a:r>
            <a:endParaRPr sz="1125" b="0">
              <a:solidFill>
                <a:srgbClr val="17191D"/>
              </a:solidFill>
              <a:latin typeface="Noto Sans CJK SC"/>
              <a:ea typeface="Noto Sans CJK SC"/>
              <a:cs typeface="Noto Sans CJK SC"/>
            </a:endParaRPr>
          </a:p>
          <a:p>
            <a:pPr algn="l">
              <a:defRPr sz="1125" b="0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rPr>
              <a:t>  --max-tokens-per-gpu 4096 --steps 200</a:t>
            </a:r>
            <a:endParaRPr sz="1125" b="0">
              <a:solidFill>
                <a:srgbClr val="17191D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2" name="Rectangles 11"/>
          <p:cNvSpPr>
            <a:spLocks noGrp="1"/>
          </p:cNvSpPr>
          <p:nvPr/>
        </p:nvSpPr>
        <p:spPr>
          <a:xfrm>
            <a:off x="819150" y="3009900"/>
            <a:ext cx="342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050" b="1">
                <a:solidFill>
                  <a:srgbClr val="E85D0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E85D0F"/>
                </a:solidFill>
                <a:latin typeface="Noto Sans CJK SC"/>
                <a:ea typeface="Noto Sans CJK SC"/>
                <a:cs typeface="Noto Sans CJK SC"/>
              </a:rPr>
              <a:t>公开记录中的并行组合</a:t>
            </a:r>
            <a:endParaRPr sz="1050" b="1">
              <a:solidFill>
                <a:srgbClr val="E85D0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3" name="Rounded Rectangle 12"/>
          <p:cNvSpPr>
            <a:spLocks noGrp="1"/>
          </p:cNvSpPr>
          <p:nvPr/>
        </p:nvSpPr>
        <p:spPr>
          <a:xfrm>
            <a:off x="800100" y="3314700"/>
            <a:ext cx="10591800" cy="2076450"/>
          </a:xfrm>
          <a:prstGeom prst="roundRect">
            <a:avLst>
              <a:gd name="adj" fmla="val 3670"/>
            </a:avLst>
          </a:prstGeom>
          <a:solidFill>
            <a:srgbClr val="F6F7F9"/>
          </a:solidFill>
          <a:ln w="9525">
            <a:solidFill>
              <a:srgbClr val="D6DAE0"/>
            </a:solidFill>
            <a:prstDash val="solid"/>
          </a:ln>
        </p:spPr>
      </p:sp>
      <p:sp>
        <p:nvSpPr>
          <p:cNvPr id="14" name="Rectangles 13"/>
          <p:cNvSpPr>
            <a:spLocks noGrp="1"/>
          </p:cNvSpPr>
          <p:nvPr/>
        </p:nvSpPr>
        <p:spPr>
          <a:xfrm>
            <a:off x="1028700" y="3448050"/>
            <a:ext cx="2857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900" b="1">
                <a:solidFill>
                  <a:srgbClr val="62687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" b="1">
                <a:solidFill>
                  <a:srgbClr val="626871"/>
                </a:solidFill>
                <a:latin typeface="Noto Sans CJK SC"/>
                <a:ea typeface="Noto Sans CJK SC"/>
                <a:cs typeface="Noto Sans CJK SC"/>
              </a:rPr>
              <a:t># Training TP1  CP8, rollout TP1</a:t>
            </a:r>
            <a:endParaRPr sz="900" b="1">
              <a:solidFill>
                <a:srgbClr val="626871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5" name="Rectangles 14"/>
          <p:cNvSpPr>
            <a:spLocks noGrp="1"/>
          </p:cNvSpPr>
          <p:nvPr/>
        </p:nvSpPr>
        <p:spPr>
          <a:xfrm>
            <a:off x="3905250" y="3448050"/>
            <a:ext cx="7258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975" b="0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rPr>
              <a:t>./rlk run --tp 1 --rollout-tp 1 --temperature 0.7 --top-p 0.95 --steps 200</a:t>
            </a:r>
            <a:endParaRPr sz="975" b="0">
              <a:solidFill>
                <a:srgbClr val="17191D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6" name="Straight Connector 15"/>
          <p:cNvSpPr>
            <a:spLocks noGrp="1"/>
          </p:cNvSpPr>
          <p:nvPr/>
        </p:nvSpPr>
        <p:spPr>
          <a:xfrm>
            <a:off x="1028700" y="3800475"/>
            <a:ext cx="10134600" cy="0"/>
          </a:xfrm>
          <a:prstGeom prst="line">
            <a:avLst/>
          </a:prstGeom>
          <a:noFill/>
          <a:ln w="9525">
            <a:solidFill>
              <a:srgbClr val="D6DAE0"/>
            </a:solidFill>
            <a:prstDash val="solid"/>
          </a:ln>
        </p:spPr>
      </p:sp>
      <p:sp>
        <p:nvSpPr>
          <p:cNvPr id="17" name="Rectangles 16"/>
          <p:cNvSpPr>
            <a:spLocks noGrp="1"/>
          </p:cNvSpPr>
          <p:nvPr/>
        </p:nvSpPr>
        <p:spPr>
          <a:xfrm>
            <a:off x="1028700" y="3914775"/>
            <a:ext cx="2857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900" b="1">
                <a:solidFill>
                  <a:srgbClr val="62687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" b="1">
                <a:solidFill>
                  <a:srgbClr val="626871"/>
                </a:solidFill>
                <a:latin typeface="Noto Sans CJK SC"/>
                <a:ea typeface="Noto Sans CJK SC"/>
                <a:cs typeface="Noto Sans CJK SC"/>
              </a:rPr>
              <a:t># Training TP2  CP4, rollout TP4</a:t>
            </a:r>
            <a:endParaRPr sz="900" b="1">
              <a:solidFill>
                <a:srgbClr val="626871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8" name="Rectangles 17"/>
          <p:cNvSpPr>
            <a:spLocks noGrp="1"/>
          </p:cNvSpPr>
          <p:nvPr/>
        </p:nvSpPr>
        <p:spPr>
          <a:xfrm>
            <a:off x="3905250" y="3914775"/>
            <a:ext cx="7258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975" b="0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rPr>
              <a:t>./rlk run --tp 2 --rollout-tp 4 --temperature 0.7 --top-p 0.95 --steps 200</a:t>
            </a:r>
            <a:endParaRPr sz="975" b="0">
              <a:solidFill>
                <a:srgbClr val="17191D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9" name="Straight Connector 18"/>
          <p:cNvSpPr>
            <a:spLocks noGrp="1"/>
          </p:cNvSpPr>
          <p:nvPr/>
        </p:nvSpPr>
        <p:spPr>
          <a:xfrm>
            <a:off x="1028700" y="4267200"/>
            <a:ext cx="10134600" cy="0"/>
          </a:xfrm>
          <a:prstGeom prst="line">
            <a:avLst/>
          </a:prstGeom>
          <a:noFill/>
          <a:ln w="9525">
            <a:solidFill>
              <a:srgbClr val="D6DAE0"/>
            </a:solidFill>
            <a:prstDash val="solid"/>
          </a:ln>
        </p:spPr>
      </p:sp>
      <p:sp>
        <p:nvSpPr>
          <p:cNvPr id="20" name="Rectangles 19"/>
          <p:cNvSpPr>
            <a:spLocks noGrp="1"/>
          </p:cNvSpPr>
          <p:nvPr/>
        </p:nvSpPr>
        <p:spPr>
          <a:xfrm>
            <a:off x="1028700" y="4381500"/>
            <a:ext cx="2857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900" b="1">
                <a:solidFill>
                  <a:srgbClr val="62687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" b="1">
                <a:solidFill>
                  <a:srgbClr val="626871"/>
                </a:solidFill>
                <a:latin typeface="Noto Sans CJK SC"/>
                <a:ea typeface="Noto Sans CJK SC"/>
                <a:cs typeface="Noto Sans CJK SC"/>
              </a:rPr>
              <a:t># Training TP4  CP2, rollout TP8</a:t>
            </a:r>
            <a:endParaRPr sz="900" b="1">
              <a:solidFill>
                <a:srgbClr val="626871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1" name="Rectangles 20"/>
          <p:cNvSpPr>
            <a:spLocks noGrp="1"/>
          </p:cNvSpPr>
          <p:nvPr/>
        </p:nvSpPr>
        <p:spPr>
          <a:xfrm>
            <a:off x="3905250" y="4381500"/>
            <a:ext cx="7258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975" b="0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rPr>
              <a:t>./rlk run --tp 4 --rollout-tp 8 --temperature 0.7 --top-p 0.95 --steps 200</a:t>
            </a:r>
            <a:endParaRPr sz="975" b="0">
              <a:solidFill>
                <a:srgbClr val="17191D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2" name="Straight Connector 21"/>
          <p:cNvSpPr>
            <a:spLocks noGrp="1"/>
          </p:cNvSpPr>
          <p:nvPr/>
        </p:nvSpPr>
        <p:spPr>
          <a:xfrm>
            <a:off x="1028700" y="4733925"/>
            <a:ext cx="10134600" cy="0"/>
          </a:xfrm>
          <a:prstGeom prst="line">
            <a:avLst/>
          </a:prstGeom>
          <a:noFill/>
          <a:ln w="9525">
            <a:solidFill>
              <a:srgbClr val="D6DAE0"/>
            </a:solidFill>
            <a:prstDash val="solid"/>
          </a:ln>
        </p:spPr>
      </p:sp>
      <p:sp>
        <p:nvSpPr>
          <p:cNvPr id="23" name="Rectangles 22"/>
          <p:cNvSpPr>
            <a:spLocks noGrp="1"/>
          </p:cNvSpPr>
          <p:nvPr/>
        </p:nvSpPr>
        <p:spPr>
          <a:xfrm>
            <a:off x="1028700" y="4848225"/>
            <a:ext cx="2857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900" b="1">
                <a:solidFill>
                  <a:srgbClr val="62687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" b="1">
                <a:solidFill>
                  <a:srgbClr val="626871"/>
                </a:solidFill>
                <a:latin typeface="Noto Sans CJK SC"/>
                <a:ea typeface="Noto Sans CJK SC"/>
                <a:cs typeface="Noto Sans CJK SC"/>
              </a:rPr>
              <a:t># Training TP8  CP1, rollout TP2</a:t>
            </a:r>
            <a:endParaRPr sz="900" b="1">
              <a:solidFill>
                <a:srgbClr val="626871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4" name="Rectangles 23"/>
          <p:cNvSpPr>
            <a:spLocks noGrp="1"/>
          </p:cNvSpPr>
          <p:nvPr/>
        </p:nvSpPr>
        <p:spPr>
          <a:xfrm>
            <a:off x="3905250" y="4848225"/>
            <a:ext cx="7258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975" b="0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rPr>
              <a:t>./rlk run --tp 8 --rollout-tp 2 --temperature 0.7 --top-p 0.95 --steps 200</a:t>
            </a:r>
            <a:endParaRPr sz="975" b="0">
              <a:solidFill>
                <a:srgbClr val="17191D"/>
              </a:solidFill>
              <a:latin typeface="Noto Sans CJK SC"/>
              <a:ea typeface="Noto Sans CJK SC"/>
              <a:cs typeface="Noto Sans CJK SC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7" name="Rectangles 26"/>
          <p:cNvSpPr>
            <a:spLocks noGrp="1"/>
          </p:cNvSpPr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rgbClr val="111111"/>
          </a:solidFill>
          <a:ln w="0">
            <a:noFill/>
            <a:prstDash val="solid"/>
          </a:ln>
        </p:spPr>
      </p:sp>
      <p:sp>
        <p:nvSpPr>
          <p:cNvPr id="2" name="Rectangles 1"/>
          <p:cNvSpPr>
            <a:spLocks noGrp="1"/>
          </p:cNvSpPr>
          <p:nvPr/>
        </p:nvSpPr>
        <p:spPr>
          <a:xfrm>
            <a:off x="0" y="6667500"/>
            <a:ext cx="12192000" cy="190500"/>
          </a:xfrm>
          <a:prstGeom prst="rect">
            <a:avLst/>
          </a:prstGeom>
          <a:solidFill>
            <a:srgbClr val="111111"/>
          </a:solidFill>
          <a:ln w="0">
            <a:noFill/>
            <a:prstDash val="solid"/>
          </a:ln>
        </p:spPr>
      </p:sp>
      <p:sp>
        <p:nvSpPr>
          <p:cNvPr id="3" name="Straight Connector 2"/>
          <p:cNvSpPr>
            <a:spLocks noGrp="1"/>
          </p:cNvSpPr>
          <p:nvPr/>
        </p:nvSpPr>
        <p:spPr>
          <a:xfrm>
            <a:off x="609600" y="342900"/>
            <a:ext cx="0" cy="552450"/>
          </a:xfrm>
          <a:prstGeom prst="line">
            <a:avLst/>
          </a:prstGeom>
          <a:noFill/>
          <a:ln w="28575">
            <a:solidFill>
              <a:srgbClr val="E85D0F"/>
            </a:solidFill>
            <a:prstDash val="solid"/>
          </a:ln>
        </p:spPr>
      </p:sp>
      <p:sp>
        <p:nvSpPr>
          <p:cNvPr id="4" name="Rectangles 3"/>
          <p:cNvSpPr>
            <a:spLocks noGrp="1"/>
          </p:cNvSpPr>
          <p:nvPr/>
        </p:nvSpPr>
        <p:spPr>
          <a:xfrm>
            <a:off x="781050" y="323850"/>
            <a:ext cx="5429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975" b="0">
                <a:solidFill>
                  <a:srgbClr val="62687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626871"/>
                </a:solidFill>
                <a:latin typeface="Noto Sans CJK SC"/>
                <a:ea typeface="Noto Sans CJK SC"/>
                <a:cs typeface="Noto Sans CJK SC"/>
              </a:rPr>
              <a:t>05  CUDA 实践</a:t>
            </a:r>
            <a:endParaRPr sz="975" b="0">
              <a:solidFill>
                <a:srgbClr val="626871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" name="Rectangles 4"/>
          <p:cNvSpPr>
            <a:spLocks noGrp="1"/>
          </p:cNvSpPr>
          <p:nvPr/>
        </p:nvSpPr>
        <p:spPr>
          <a:xfrm>
            <a:off x="781050" y="657225"/>
            <a:ext cx="107632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2700" b="1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700" b="1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rPr>
              <a:t>CUDA 实验配置</a:t>
            </a:r>
            <a:endParaRPr sz="2700" b="1">
              <a:solidFill>
                <a:srgbClr val="17191D"/>
              </a:solidFill>
              <a:latin typeface="Noto Sans CJK SC"/>
              <a:ea typeface="Noto Sans CJK SC"/>
              <a:cs typeface="Noto Sans CJK SC"/>
            </a:endParaRPr>
          </a:p>
        </p:txBody>
      </p:sp>
      <p:pic>
        <p:nvPicPr>
          <p:cNvPr id="32" name="Picture 3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91750" y="6238875"/>
            <a:ext cx="228600" cy="285750"/>
          </a:xfrm>
          <a:prstGeom prst="rect">
            <a:avLst/>
          </a:prstGeom>
        </p:spPr>
      </p:pic>
      <p:sp>
        <p:nvSpPr>
          <p:cNvPr id="7" name="Rectangles 6"/>
          <p:cNvSpPr>
            <a:spLocks noGrp="1"/>
          </p:cNvSpPr>
          <p:nvPr/>
        </p:nvSpPr>
        <p:spPr>
          <a:xfrm>
            <a:off x="10487025" y="6286500"/>
            <a:ext cx="1047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750" b="1">
                <a:solidFill>
                  <a:srgbClr val="62687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50" b="1">
                <a:solidFill>
                  <a:srgbClr val="626871"/>
                </a:solidFill>
                <a:latin typeface="Noto Sans CJK SC"/>
                <a:ea typeface="Noto Sans CJK SC"/>
                <a:cs typeface="Noto Sans CJK SC"/>
              </a:rPr>
              <a:t>RL-ALIGN</a:t>
            </a:r>
            <a:endParaRPr sz="750" b="1">
              <a:solidFill>
                <a:srgbClr val="626871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8" name="Rectangles 7"/>
          <p:cNvSpPr>
            <a:spLocks noGrp="1"/>
          </p:cNvSpPr>
          <p:nvPr/>
        </p:nvSpPr>
        <p:spPr>
          <a:xfrm>
            <a:off x="609600" y="6343650"/>
            <a:ext cx="4000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750" b="0">
                <a:solidFill>
                  <a:srgbClr val="989EA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50" b="0">
                <a:solidFill>
                  <a:srgbClr val="989EA7"/>
                </a:solidFill>
                <a:latin typeface="Noto Sans CJK SC"/>
                <a:ea typeface="Noto Sans CJK SC"/>
                <a:cs typeface="Noto Sans CJK SC"/>
              </a:rPr>
              <a:t>17</a:t>
            </a:r>
            <a:endParaRPr sz="750" b="0">
              <a:solidFill>
                <a:srgbClr val="989EA7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" name="Rounded Rectangle 8"/>
          <p:cNvSpPr>
            <a:spLocks noGrp="1"/>
          </p:cNvSpPr>
          <p:nvPr/>
        </p:nvSpPr>
        <p:spPr>
          <a:xfrm>
            <a:off x="628650" y="2000250"/>
            <a:ext cx="1981200" cy="171450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9525">
            <a:solidFill>
              <a:srgbClr val="D6DAE0"/>
            </a:solidFill>
            <a:prstDash val="solid"/>
          </a:ln>
        </p:spPr>
      </p:sp>
      <p:sp>
        <p:nvSpPr>
          <p:cNvPr id="10" name="Rectangles 9"/>
          <p:cNvSpPr>
            <a:spLocks noGrp="1"/>
          </p:cNvSpPr>
          <p:nvPr/>
        </p:nvSpPr>
        <p:spPr>
          <a:xfrm>
            <a:off x="800100" y="2209800"/>
            <a:ext cx="16383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ctr">
              <a:defRPr sz="975" b="1">
                <a:solidFill>
                  <a:srgbClr val="989EA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1">
                <a:solidFill>
                  <a:srgbClr val="989EA7"/>
                </a:solidFill>
                <a:latin typeface="Noto Sans CJK SC"/>
                <a:ea typeface="Noto Sans CJK SC"/>
                <a:cs typeface="Noto Sans CJK SC"/>
              </a:rPr>
              <a:t>模型</a:t>
            </a:r>
            <a:endParaRPr sz="975" b="1">
              <a:solidFill>
                <a:srgbClr val="989EA7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1" name="Rectangles 10"/>
          <p:cNvSpPr>
            <a:spLocks noGrp="1"/>
          </p:cNvSpPr>
          <p:nvPr/>
        </p:nvSpPr>
        <p:spPr>
          <a:xfrm>
            <a:off x="800100" y="2705100"/>
            <a:ext cx="16383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ctr">
              <a:defRPr sz="1800" b="1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rPr>
              <a:t>Qwen3-8B</a:t>
            </a:r>
            <a:endParaRPr sz="1800" b="1">
              <a:solidFill>
                <a:srgbClr val="17191D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2" name="Rounded Rectangle 11"/>
          <p:cNvSpPr>
            <a:spLocks noGrp="1"/>
          </p:cNvSpPr>
          <p:nvPr/>
        </p:nvSpPr>
        <p:spPr>
          <a:xfrm>
            <a:off x="2914650" y="2000250"/>
            <a:ext cx="1981200" cy="171450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9525">
            <a:solidFill>
              <a:srgbClr val="D6DAE0"/>
            </a:solidFill>
            <a:prstDash val="solid"/>
          </a:ln>
        </p:spPr>
      </p:sp>
      <p:sp>
        <p:nvSpPr>
          <p:cNvPr id="13" name="Rectangles 12"/>
          <p:cNvSpPr>
            <a:spLocks noGrp="1"/>
          </p:cNvSpPr>
          <p:nvPr/>
        </p:nvSpPr>
        <p:spPr>
          <a:xfrm>
            <a:off x="3086100" y="2209800"/>
            <a:ext cx="16383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ctr">
              <a:defRPr sz="975" b="1">
                <a:solidFill>
                  <a:srgbClr val="989EA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1">
                <a:solidFill>
                  <a:srgbClr val="989EA7"/>
                </a:solidFill>
                <a:latin typeface="Noto Sans CJK SC"/>
                <a:ea typeface="Noto Sans CJK SC"/>
                <a:cs typeface="Noto Sans CJK SC"/>
              </a:rPr>
              <a:t>硬件</a:t>
            </a:r>
            <a:endParaRPr sz="975" b="1">
              <a:solidFill>
                <a:srgbClr val="989EA7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4" name="Rectangles 13"/>
          <p:cNvSpPr>
            <a:spLocks noGrp="1"/>
          </p:cNvSpPr>
          <p:nvPr/>
        </p:nvSpPr>
        <p:spPr>
          <a:xfrm>
            <a:off x="3086100" y="2705100"/>
            <a:ext cx="16383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ctr">
              <a:defRPr sz="1350" b="1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rPr>
              <a:t>1 node, 8× H100 80GB</a:t>
            </a:r>
            <a:endParaRPr sz="1350" b="1">
              <a:solidFill>
                <a:srgbClr val="17191D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5" name="Rounded Rectangle 14"/>
          <p:cNvSpPr>
            <a:spLocks noGrp="1"/>
          </p:cNvSpPr>
          <p:nvPr/>
        </p:nvSpPr>
        <p:spPr>
          <a:xfrm>
            <a:off x="5200650" y="2000250"/>
            <a:ext cx="1981200" cy="171450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9525">
            <a:solidFill>
              <a:srgbClr val="D6DAE0"/>
            </a:solidFill>
            <a:prstDash val="solid"/>
          </a:ln>
        </p:spPr>
      </p:sp>
      <p:sp>
        <p:nvSpPr>
          <p:cNvPr id="16" name="Rectangles 15"/>
          <p:cNvSpPr>
            <a:spLocks noGrp="1"/>
          </p:cNvSpPr>
          <p:nvPr/>
        </p:nvSpPr>
        <p:spPr>
          <a:xfrm>
            <a:off x="5372100" y="2209800"/>
            <a:ext cx="16383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ctr">
              <a:defRPr sz="975" b="1">
                <a:solidFill>
                  <a:srgbClr val="989EA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1">
                <a:solidFill>
                  <a:srgbClr val="989EA7"/>
                </a:solidFill>
                <a:latin typeface="Noto Sans CJK SC"/>
                <a:ea typeface="Noto Sans CJK SC"/>
                <a:cs typeface="Noto Sans CJK SC"/>
              </a:rPr>
              <a:t>并行</a:t>
            </a:r>
            <a:endParaRPr sz="975" b="1">
              <a:solidFill>
                <a:srgbClr val="989EA7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7" name="Rectangles 16"/>
          <p:cNvSpPr>
            <a:spLocks noGrp="1"/>
          </p:cNvSpPr>
          <p:nvPr/>
        </p:nvSpPr>
        <p:spPr>
          <a:xfrm>
            <a:off x="5372100" y="2705100"/>
            <a:ext cx="16383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ctr">
              <a:defRPr sz="1800" b="1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rPr>
              <a:t>TP4 / CP2</a:t>
            </a:r>
            <a:endParaRPr sz="1800" b="1">
              <a:solidFill>
                <a:srgbClr val="17191D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8" name="Rounded Rectangle 17"/>
          <p:cNvSpPr>
            <a:spLocks noGrp="1"/>
          </p:cNvSpPr>
          <p:nvPr/>
        </p:nvSpPr>
        <p:spPr>
          <a:xfrm>
            <a:off x="7486650" y="2000250"/>
            <a:ext cx="1981200" cy="171450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9525">
            <a:solidFill>
              <a:srgbClr val="D6DAE0"/>
            </a:solidFill>
            <a:prstDash val="solid"/>
          </a:ln>
        </p:spPr>
      </p:sp>
      <p:sp>
        <p:nvSpPr>
          <p:cNvPr id="19" name="Rectangles 18"/>
          <p:cNvSpPr>
            <a:spLocks noGrp="1"/>
          </p:cNvSpPr>
          <p:nvPr/>
        </p:nvSpPr>
        <p:spPr>
          <a:xfrm>
            <a:off x="7658100" y="2209800"/>
            <a:ext cx="16383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ctr">
              <a:defRPr sz="975" b="1">
                <a:solidFill>
                  <a:srgbClr val="989EA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1">
                <a:solidFill>
                  <a:srgbClr val="989EA7"/>
                </a:solidFill>
                <a:latin typeface="Noto Sans CJK SC"/>
                <a:ea typeface="Noto Sans CJK SC"/>
                <a:cs typeface="Noto Sans CJK SC"/>
              </a:rPr>
              <a:t>全局批次</a:t>
            </a:r>
            <a:endParaRPr sz="975" b="1">
              <a:solidFill>
                <a:srgbClr val="989EA7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0" name="Rectangles 19"/>
          <p:cNvSpPr>
            <a:spLocks noGrp="1"/>
          </p:cNvSpPr>
          <p:nvPr/>
        </p:nvSpPr>
        <p:spPr>
          <a:xfrm>
            <a:off x="7658100" y="2705100"/>
            <a:ext cx="16383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ctr">
              <a:defRPr sz="1800" b="1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rPr>
              <a:t>128</a:t>
            </a:r>
            <a:endParaRPr sz="1800" b="1">
              <a:solidFill>
                <a:srgbClr val="17191D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1" name="Rounded Rectangle 20"/>
          <p:cNvSpPr>
            <a:spLocks noGrp="1"/>
          </p:cNvSpPr>
          <p:nvPr/>
        </p:nvSpPr>
        <p:spPr>
          <a:xfrm>
            <a:off x="9772650" y="2000250"/>
            <a:ext cx="1981200" cy="171450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9525">
            <a:solidFill>
              <a:srgbClr val="D6DAE0"/>
            </a:solidFill>
            <a:prstDash val="solid"/>
          </a:ln>
        </p:spPr>
      </p:sp>
      <p:sp>
        <p:nvSpPr>
          <p:cNvPr id="22" name="Rectangles 21"/>
          <p:cNvSpPr>
            <a:spLocks noGrp="1"/>
          </p:cNvSpPr>
          <p:nvPr/>
        </p:nvSpPr>
        <p:spPr>
          <a:xfrm>
            <a:off x="9944100" y="2209800"/>
            <a:ext cx="16383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ctr">
              <a:defRPr sz="975" b="1">
                <a:solidFill>
                  <a:srgbClr val="989EA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1">
                <a:solidFill>
                  <a:srgbClr val="989EA7"/>
                </a:solidFill>
                <a:latin typeface="Noto Sans CJK SC"/>
                <a:ea typeface="Noto Sans CJK SC"/>
                <a:cs typeface="Noto Sans CJK SC"/>
              </a:rPr>
              <a:t>随机种子</a:t>
            </a:r>
            <a:endParaRPr sz="975" b="1">
              <a:solidFill>
                <a:srgbClr val="989EA7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3" name="Rectangles 22"/>
          <p:cNvSpPr>
            <a:spLocks noGrp="1"/>
          </p:cNvSpPr>
          <p:nvPr/>
        </p:nvSpPr>
        <p:spPr>
          <a:xfrm>
            <a:off x="9944100" y="2705100"/>
            <a:ext cx="16383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ctr">
              <a:defRPr sz="1800" b="1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rPr>
              <a:t>1234</a:t>
            </a:r>
            <a:endParaRPr sz="1800" b="1">
              <a:solidFill>
                <a:srgbClr val="17191D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4" name="Straight Connector 23"/>
          <p:cNvSpPr>
            <a:spLocks noGrp="1"/>
          </p:cNvSpPr>
          <p:nvPr/>
        </p:nvSpPr>
        <p:spPr>
          <a:xfrm>
            <a:off x="1028700" y="4552950"/>
            <a:ext cx="495300" cy="0"/>
          </a:xfrm>
          <a:prstGeom prst="line">
            <a:avLst/>
          </a:prstGeom>
          <a:noFill/>
          <a:ln w="28575">
            <a:solidFill>
              <a:srgbClr val="E85D0F"/>
            </a:solidFill>
            <a:prstDash val="solid"/>
          </a:ln>
        </p:spPr>
      </p:sp>
      <p:sp>
        <p:nvSpPr>
          <p:cNvPr id="25" name="Rectangles 24"/>
          <p:cNvSpPr>
            <a:spLocks noGrp="1"/>
          </p:cNvSpPr>
          <p:nvPr/>
        </p:nvSpPr>
        <p:spPr>
          <a:xfrm>
            <a:off x="1714500" y="4457700"/>
            <a:ext cx="944880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l">
              <a:defRPr sz="1425" b="0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rPr>
              <a:t>vime 基线与 RL-Kernel + vime 使用相同模型、数据和训练配置，各运行 200 个 step。后续结果只比较这组配置。</a:t>
            </a:r>
            <a:endParaRPr sz="1425" b="0">
              <a:solidFill>
                <a:srgbClr val="17191D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6" name="Rectangles 25"/>
          <p:cNvSpPr>
            <a:spLocks noGrp="1"/>
          </p:cNvSpPr>
          <p:nvPr/>
        </p:nvSpPr>
        <p:spPr>
          <a:xfrm>
            <a:off x="685800" y="586740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825" b="0">
                <a:solidFill>
                  <a:srgbClr val="989EA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25" b="0">
                <a:solidFill>
                  <a:srgbClr val="989EA7"/>
                </a:solidFill>
                <a:latin typeface="Noto Sans CJK SC"/>
                <a:ea typeface="Noto Sans CJK SC"/>
                <a:cs typeface="Noto Sans CJK SC"/>
              </a:rPr>
              <a:t>Source: RL-Kernel v0.1.0 Blog / PR #377</a:t>
            </a:r>
            <a:endParaRPr sz="825" b="0">
              <a:solidFill>
                <a:srgbClr val="989EA7"/>
              </a:solidFill>
              <a:latin typeface="Noto Sans CJK SC"/>
              <a:ea typeface="Noto Sans CJK SC"/>
              <a:cs typeface="Noto Sans CJK SC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8" name="Rectangles 17"/>
          <p:cNvSpPr>
            <a:spLocks noGrp="1"/>
          </p:cNvSpPr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rgbClr val="111111"/>
          </a:solidFill>
          <a:ln w="0">
            <a:noFill/>
            <a:prstDash val="solid"/>
          </a:ln>
        </p:spPr>
      </p:sp>
      <p:sp>
        <p:nvSpPr>
          <p:cNvPr id="2" name="Rectangles 1"/>
          <p:cNvSpPr>
            <a:spLocks noGrp="1"/>
          </p:cNvSpPr>
          <p:nvPr/>
        </p:nvSpPr>
        <p:spPr>
          <a:xfrm>
            <a:off x="0" y="6667500"/>
            <a:ext cx="12192000" cy="190500"/>
          </a:xfrm>
          <a:prstGeom prst="rect">
            <a:avLst/>
          </a:prstGeom>
          <a:solidFill>
            <a:srgbClr val="111111"/>
          </a:solidFill>
          <a:ln w="0">
            <a:noFill/>
            <a:prstDash val="solid"/>
          </a:ln>
        </p:spPr>
      </p:sp>
      <p:sp>
        <p:nvSpPr>
          <p:cNvPr id="3" name="Straight Connector 2"/>
          <p:cNvSpPr>
            <a:spLocks noGrp="1"/>
          </p:cNvSpPr>
          <p:nvPr/>
        </p:nvSpPr>
        <p:spPr>
          <a:xfrm>
            <a:off x="609600" y="342900"/>
            <a:ext cx="0" cy="552450"/>
          </a:xfrm>
          <a:prstGeom prst="line">
            <a:avLst/>
          </a:prstGeom>
          <a:noFill/>
          <a:ln w="28575">
            <a:solidFill>
              <a:srgbClr val="E85D0F"/>
            </a:solidFill>
            <a:prstDash val="solid"/>
          </a:ln>
        </p:spPr>
      </p:sp>
      <p:sp>
        <p:nvSpPr>
          <p:cNvPr id="4" name="Rectangles 3"/>
          <p:cNvSpPr>
            <a:spLocks noGrp="1"/>
          </p:cNvSpPr>
          <p:nvPr/>
        </p:nvSpPr>
        <p:spPr>
          <a:xfrm>
            <a:off x="781050" y="323850"/>
            <a:ext cx="5429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975" b="0">
                <a:solidFill>
                  <a:srgbClr val="62687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626871"/>
                </a:solidFill>
                <a:latin typeface="Noto Sans CJK SC"/>
                <a:ea typeface="Noto Sans CJK SC"/>
                <a:cs typeface="Noto Sans CJK SC"/>
              </a:rPr>
              <a:t>05  CUDA 实践</a:t>
            </a:r>
            <a:endParaRPr sz="975" b="0">
              <a:solidFill>
                <a:srgbClr val="626871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" name="Rectangles 4"/>
          <p:cNvSpPr>
            <a:spLocks noGrp="1"/>
          </p:cNvSpPr>
          <p:nvPr/>
        </p:nvSpPr>
        <p:spPr>
          <a:xfrm>
            <a:off x="781050" y="657225"/>
            <a:ext cx="107632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2700" b="1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700" b="1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rPr>
              <a:t>CUDA 200 steps：LogP mismatch 为 0</a:t>
            </a:r>
            <a:endParaRPr sz="2700" b="1">
              <a:solidFill>
                <a:srgbClr val="17191D"/>
              </a:solidFill>
              <a:latin typeface="Noto Sans CJK SC"/>
              <a:ea typeface="Noto Sans CJK SC"/>
              <a:cs typeface="Noto Sans CJK SC"/>
            </a:endParaRPr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91750" y="6238875"/>
            <a:ext cx="228600" cy="285750"/>
          </a:xfrm>
          <a:prstGeom prst="rect">
            <a:avLst/>
          </a:prstGeom>
        </p:spPr>
      </p:pic>
      <p:sp>
        <p:nvSpPr>
          <p:cNvPr id="7" name="Rectangles 6"/>
          <p:cNvSpPr>
            <a:spLocks noGrp="1"/>
          </p:cNvSpPr>
          <p:nvPr/>
        </p:nvSpPr>
        <p:spPr>
          <a:xfrm>
            <a:off x="10487025" y="6286500"/>
            <a:ext cx="1047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750" b="1">
                <a:solidFill>
                  <a:srgbClr val="62687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50" b="1">
                <a:solidFill>
                  <a:srgbClr val="626871"/>
                </a:solidFill>
                <a:latin typeface="Noto Sans CJK SC"/>
                <a:ea typeface="Noto Sans CJK SC"/>
                <a:cs typeface="Noto Sans CJK SC"/>
              </a:rPr>
              <a:t>RL-ALIGN</a:t>
            </a:r>
            <a:endParaRPr sz="750" b="1">
              <a:solidFill>
                <a:srgbClr val="626871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8" name="Rectangles 7"/>
          <p:cNvSpPr>
            <a:spLocks noGrp="1"/>
          </p:cNvSpPr>
          <p:nvPr/>
        </p:nvSpPr>
        <p:spPr>
          <a:xfrm>
            <a:off x="609600" y="6343650"/>
            <a:ext cx="4000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750" b="0">
                <a:solidFill>
                  <a:srgbClr val="989EA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50" b="0">
                <a:solidFill>
                  <a:srgbClr val="989EA7"/>
                </a:solidFill>
                <a:latin typeface="Noto Sans CJK SC"/>
                <a:ea typeface="Noto Sans CJK SC"/>
                <a:cs typeface="Noto Sans CJK SC"/>
              </a:rPr>
              <a:t>18</a:t>
            </a:r>
            <a:endParaRPr sz="750" b="0">
              <a:solidFill>
                <a:srgbClr val="989EA7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" name="Rounded Rectangle 8"/>
          <p:cNvSpPr>
            <a:spLocks noGrp="1"/>
          </p:cNvSpPr>
          <p:nvPr/>
        </p:nvSpPr>
        <p:spPr>
          <a:xfrm>
            <a:off x="552450" y="1600200"/>
            <a:ext cx="8896350" cy="3733800"/>
          </a:xfrm>
          <a:prstGeom prst="roundRect">
            <a:avLst>
              <a:gd name="adj" fmla="val 2551"/>
            </a:avLst>
          </a:prstGeom>
          <a:solidFill>
            <a:srgbClr val="FFFFFF"/>
          </a:solidFill>
          <a:ln w="9525">
            <a:solidFill>
              <a:srgbClr val="D6DAE0"/>
            </a:solidFill>
            <a:prstDash val="solid"/>
          </a:ln>
        </p:spPr>
      </p:sp>
      <p:pic>
        <p:nvPicPr>
          <p:cNvPr id="27" name="Picture 2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750" y="1894801"/>
            <a:ext cx="8667750" cy="3144599"/>
          </a:xfrm>
          <a:prstGeom prst="rect">
            <a:avLst/>
          </a:prstGeom>
        </p:spPr>
      </p:pic>
      <p:sp>
        <p:nvSpPr>
          <p:cNvPr id="11" name="Straight Connector 10"/>
          <p:cNvSpPr>
            <a:spLocks noGrp="1"/>
          </p:cNvSpPr>
          <p:nvPr/>
        </p:nvSpPr>
        <p:spPr>
          <a:xfrm>
            <a:off x="9677400" y="1562100"/>
            <a:ext cx="0" cy="3905250"/>
          </a:xfrm>
          <a:prstGeom prst="line">
            <a:avLst/>
          </a:prstGeom>
          <a:noFill/>
          <a:ln w="9525">
            <a:solidFill>
              <a:srgbClr val="D6DAE0"/>
            </a:solidFill>
            <a:prstDash val="solid"/>
          </a:ln>
        </p:spPr>
      </p:sp>
      <p:sp>
        <p:nvSpPr>
          <p:cNvPr id="12" name="Rectangles 11"/>
          <p:cNvSpPr>
            <a:spLocks noGrp="1"/>
          </p:cNvSpPr>
          <p:nvPr/>
        </p:nvSpPr>
        <p:spPr>
          <a:xfrm>
            <a:off x="9829800" y="1790700"/>
            <a:ext cx="20383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2550" b="1">
                <a:solidFill>
                  <a:srgbClr val="E85D0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E85D0F"/>
                </a:solidFill>
                <a:latin typeface="Noto Sans CJK SC"/>
                <a:ea typeface="Noto Sans CJK SC"/>
                <a:cs typeface="Noto Sans CJK SC"/>
              </a:rPr>
              <a:t>200/200</a:t>
            </a:r>
            <a:endParaRPr sz="2550" b="1">
              <a:solidFill>
                <a:srgbClr val="E85D0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3" name="Rectangles 12"/>
          <p:cNvSpPr>
            <a:spLocks noGrp="1"/>
          </p:cNvSpPr>
          <p:nvPr/>
        </p:nvSpPr>
        <p:spPr>
          <a:xfrm>
            <a:off x="9829800" y="2457450"/>
            <a:ext cx="20383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275" b="1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rPr>
              <a:t>完整训练 steps</a:t>
            </a:r>
            <a:endParaRPr sz="1275" b="1">
              <a:solidFill>
                <a:srgbClr val="17191D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4" name="Rectangles 13"/>
          <p:cNvSpPr>
            <a:spLocks noGrp="1"/>
          </p:cNvSpPr>
          <p:nvPr/>
        </p:nvSpPr>
        <p:spPr>
          <a:xfrm>
            <a:off x="9925050" y="3238500"/>
            <a:ext cx="18478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4050" b="1">
                <a:solidFill>
                  <a:srgbClr val="16895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4050" b="1">
                <a:solidFill>
                  <a:srgbClr val="16895A"/>
                </a:solidFill>
                <a:latin typeface="Noto Sans CJK SC"/>
                <a:ea typeface="Noto Sans CJK SC"/>
                <a:cs typeface="Noto Sans CJK SC"/>
              </a:rPr>
              <a:t>0</a:t>
            </a:r>
            <a:endParaRPr sz="4050" b="1">
              <a:solidFill>
                <a:srgbClr val="16895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5" name="Rectangles 14"/>
          <p:cNvSpPr>
            <a:spLocks noGrp="1"/>
          </p:cNvSpPr>
          <p:nvPr/>
        </p:nvSpPr>
        <p:spPr>
          <a:xfrm>
            <a:off x="9925050" y="3905250"/>
            <a:ext cx="18478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275" b="1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rPr>
              <a:t>RL-Kernel mismatch</a:t>
            </a:r>
            <a:endParaRPr sz="1275" b="1">
              <a:solidFill>
                <a:srgbClr val="17191D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6" name="Rectangles 15"/>
          <p:cNvSpPr>
            <a:spLocks noGrp="1"/>
          </p:cNvSpPr>
          <p:nvPr/>
        </p:nvSpPr>
        <p:spPr>
          <a:xfrm>
            <a:off x="781050" y="5391150"/>
            <a:ext cx="86868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125" b="0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rPr>
              <a:t>红线是 vime 原生路径，蓝线是 RL-Kernel + vime。左图统计不匹配 token 数，右图统计本轮最大的 LogP 绝对差值。蓝线在 200 个 step 中都保持为 0。</a:t>
            </a:r>
            <a:endParaRPr sz="1125" b="0">
              <a:solidFill>
                <a:srgbClr val="17191D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7" name="Rectangles 16"/>
          <p:cNvSpPr>
            <a:spLocks noGrp="1"/>
          </p:cNvSpPr>
          <p:nvPr/>
        </p:nvSpPr>
        <p:spPr>
          <a:xfrm>
            <a:off x="685800" y="586740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825" b="0">
                <a:solidFill>
                  <a:srgbClr val="989EA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25" b="0">
                <a:solidFill>
                  <a:srgbClr val="989EA7"/>
                </a:solidFill>
                <a:latin typeface="Noto Sans CJK SC"/>
                <a:ea typeface="Noto Sans CJK SC"/>
                <a:cs typeface="Noto Sans CJK SC"/>
              </a:rPr>
              <a:t>Source: RL-Kernel v0.1.0 Blog / PR #377</a:t>
            </a:r>
            <a:endParaRPr sz="825" b="0">
              <a:solidFill>
                <a:srgbClr val="989EA7"/>
              </a:solidFill>
              <a:latin typeface="Noto Sans CJK SC"/>
              <a:ea typeface="Noto Sans CJK SC"/>
              <a:cs typeface="Noto Sans CJK SC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5" name="Rectangles 34"/>
          <p:cNvSpPr>
            <a:spLocks noGrp="1"/>
          </p:cNvSpPr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rgbClr val="111111"/>
          </a:solidFill>
          <a:ln w="0">
            <a:noFill/>
            <a:prstDash val="solid"/>
          </a:ln>
        </p:spPr>
      </p:sp>
      <p:sp>
        <p:nvSpPr>
          <p:cNvPr id="2" name="Rectangles 1"/>
          <p:cNvSpPr>
            <a:spLocks noGrp="1"/>
          </p:cNvSpPr>
          <p:nvPr/>
        </p:nvSpPr>
        <p:spPr>
          <a:xfrm>
            <a:off x="0" y="6667500"/>
            <a:ext cx="12192000" cy="190500"/>
          </a:xfrm>
          <a:prstGeom prst="rect">
            <a:avLst/>
          </a:prstGeom>
          <a:solidFill>
            <a:srgbClr val="111111"/>
          </a:solidFill>
          <a:ln w="0">
            <a:noFill/>
            <a:prstDash val="solid"/>
          </a:ln>
        </p:spPr>
      </p:sp>
      <p:sp>
        <p:nvSpPr>
          <p:cNvPr id="3" name="Straight Connector 2"/>
          <p:cNvSpPr>
            <a:spLocks noGrp="1"/>
          </p:cNvSpPr>
          <p:nvPr/>
        </p:nvSpPr>
        <p:spPr>
          <a:xfrm>
            <a:off x="609600" y="342900"/>
            <a:ext cx="0" cy="552450"/>
          </a:xfrm>
          <a:prstGeom prst="line">
            <a:avLst/>
          </a:prstGeom>
          <a:noFill/>
          <a:ln w="28575">
            <a:solidFill>
              <a:srgbClr val="E85D0F"/>
            </a:solidFill>
            <a:prstDash val="solid"/>
          </a:ln>
        </p:spPr>
      </p:sp>
      <p:sp>
        <p:nvSpPr>
          <p:cNvPr id="4" name="Rectangles 3"/>
          <p:cNvSpPr>
            <a:spLocks noGrp="1"/>
          </p:cNvSpPr>
          <p:nvPr/>
        </p:nvSpPr>
        <p:spPr>
          <a:xfrm>
            <a:off x="781050" y="323850"/>
            <a:ext cx="5429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975" b="0">
                <a:solidFill>
                  <a:srgbClr val="62687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626871"/>
                </a:solidFill>
                <a:latin typeface="Noto Sans CJK SC"/>
                <a:ea typeface="Noto Sans CJK SC"/>
                <a:cs typeface="Noto Sans CJK SC"/>
              </a:rPr>
              <a:t>05  CUDA 实践</a:t>
            </a:r>
            <a:endParaRPr sz="975" b="0">
              <a:solidFill>
                <a:srgbClr val="626871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" name="Rectangles 4"/>
          <p:cNvSpPr>
            <a:spLocks noGrp="1"/>
          </p:cNvSpPr>
          <p:nvPr/>
        </p:nvSpPr>
        <p:spPr>
          <a:xfrm>
            <a:off x="781050" y="657225"/>
            <a:ext cx="107632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2700" b="1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700" b="1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rPr>
              <a:t>CUDA 性能不低于原生路径</a:t>
            </a:r>
            <a:endParaRPr sz="2700" b="1">
              <a:solidFill>
                <a:srgbClr val="17191D"/>
              </a:solidFill>
              <a:latin typeface="Noto Sans CJK SC"/>
              <a:ea typeface="Noto Sans CJK SC"/>
              <a:cs typeface="Noto Sans CJK SC"/>
            </a:endParaRPr>
          </a:p>
        </p:txBody>
      </p:sp>
      <p:pic>
        <p:nvPicPr>
          <p:cNvPr id="40" name="Picture 3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91750" y="6238875"/>
            <a:ext cx="228600" cy="285750"/>
          </a:xfrm>
          <a:prstGeom prst="rect">
            <a:avLst/>
          </a:prstGeom>
        </p:spPr>
      </p:pic>
      <p:sp>
        <p:nvSpPr>
          <p:cNvPr id="7" name="Rectangles 6"/>
          <p:cNvSpPr>
            <a:spLocks noGrp="1"/>
          </p:cNvSpPr>
          <p:nvPr/>
        </p:nvSpPr>
        <p:spPr>
          <a:xfrm>
            <a:off x="10487025" y="6286500"/>
            <a:ext cx="1047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750" b="1">
                <a:solidFill>
                  <a:srgbClr val="62687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50" b="1">
                <a:solidFill>
                  <a:srgbClr val="626871"/>
                </a:solidFill>
                <a:latin typeface="Noto Sans CJK SC"/>
                <a:ea typeface="Noto Sans CJK SC"/>
                <a:cs typeface="Noto Sans CJK SC"/>
              </a:rPr>
              <a:t>RL-ALIGN</a:t>
            </a:r>
            <a:endParaRPr sz="750" b="1">
              <a:solidFill>
                <a:srgbClr val="626871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8" name="Rectangles 7"/>
          <p:cNvSpPr>
            <a:spLocks noGrp="1"/>
          </p:cNvSpPr>
          <p:nvPr/>
        </p:nvSpPr>
        <p:spPr>
          <a:xfrm>
            <a:off x="609600" y="6343650"/>
            <a:ext cx="4000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750" b="0">
                <a:solidFill>
                  <a:srgbClr val="989EA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50" b="0">
                <a:solidFill>
                  <a:srgbClr val="989EA7"/>
                </a:solidFill>
                <a:latin typeface="Noto Sans CJK SC"/>
                <a:ea typeface="Noto Sans CJK SC"/>
                <a:cs typeface="Noto Sans CJK SC"/>
              </a:rPr>
              <a:t>19</a:t>
            </a:r>
            <a:endParaRPr sz="750" b="0">
              <a:solidFill>
                <a:srgbClr val="989EA7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" name="Rectangles 8"/>
          <p:cNvSpPr>
            <a:spLocks noGrp="1"/>
          </p:cNvSpPr>
          <p:nvPr/>
        </p:nvSpPr>
        <p:spPr>
          <a:xfrm>
            <a:off x="819150" y="1381125"/>
            <a:ext cx="10096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650" b="1">
                <a:solidFill>
                  <a:srgbClr val="A8440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A8440D"/>
                </a:solidFill>
                <a:latin typeface="Noto Sans CJK SC"/>
                <a:ea typeface="Noto Sans CJK SC"/>
                <a:cs typeface="Noto Sans CJK SC"/>
              </a:rPr>
              <a:t>在保持 0 mismatch 的同时，端到端性能与 vime 原生路径相当。</a:t>
            </a:r>
            <a:endParaRPr sz="1650" b="1">
              <a:solidFill>
                <a:srgbClr val="A8440D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" name="Straight Connector 9"/>
          <p:cNvSpPr>
            <a:spLocks noGrp="1"/>
          </p:cNvSpPr>
          <p:nvPr/>
        </p:nvSpPr>
        <p:spPr>
          <a:xfrm>
            <a:off x="819150" y="1866900"/>
            <a:ext cx="10439400" cy="0"/>
          </a:xfrm>
          <a:prstGeom prst="line">
            <a:avLst/>
          </a:prstGeom>
          <a:noFill/>
          <a:ln w="9525">
            <a:solidFill>
              <a:srgbClr val="D6DAE0"/>
            </a:solidFill>
            <a:prstDash val="solid"/>
          </a:ln>
        </p:spPr>
      </p:sp>
      <p:sp>
        <p:nvSpPr>
          <p:cNvPr id="11" name="Rectangles 10"/>
          <p:cNvSpPr>
            <a:spLocks noGrp="1"/>
          </p:cNvSpPr>
          <p:nvPr/>
        </p:nvSpPr>
        <p:spPr>
          <a:xfrm>
            <a:off x="895350" y="2057400"/>
            <a:ext cx="419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975" b="1">
                <a:solidFill>
                  <a:srgbClr val="E85D0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1">
                <a:solidFill>
                  <a:srgbClr val="E85D0F"/>
                </a:solidFill>
                <a:latin typeface="Noto Sans CJK SC"/>
                <a:ea typeface="Noto Sans CJK SC"/>
                <a:cs typeface="Noto Sans CJK SC"/>
              </a:rPr>
              <a:t>01</a:t>
            </a:r>
            <a:endParaRPr sz="975" b="1">
              <a:solidFill>
                <a:srgbClr val="E85D0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2" name="Rectangles 11"/>
          <p:cNvSpPr>
            <a:spLocks noGrp="1"/>
          </p:cNvSpPr>
          <p:nvPr/>
        </p:nvSpPr>
        <p:spPr>
          <a:xfrm>
            <a:off x="1466850" y="2038350"/>
            <a:ext cx="2133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350" b="1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rPr>
              <a:t>GEMM</a:t>
            </a:r>
            <a:endParaRPr sz="1350" b="1">
              <a:solidFill>
                <a:srgbClr val="17191D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3" name="Rectangles 12"/>
          <p:cNvSpPr>
            <a:spLocks noGrp="1"/>
          </p:cNvSpPr>
          <p:nvPr/>
        </p:nvSpPr>
        <p:spPr>
          <a:xfrm>
            <a:off x="3714750" y="2047875"/>
            <a:ext cx="7429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125" b="0">
                <a:solidFill>
                  <a:srgbClr val="62687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626871"/>
                </a:solidFill>
                <a:latin typeface="Noto Sans CJK SC"/>
                <a:ea typeface="Noto Sans CJK SC"/>
                <a:cs typeface="Noto Sans CJK SC"/>
              </a:rPr>
              <a:t>auto 选择 cuBLASLt no-split-K 或 SM90，SM90 按完整 K 固定顺序累加</a:t>
            </a:r>
            <a:endParaRPr sz="1125" b="0">
              <a:solidFill>
                <a:srgbClr val="626871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4" name="Straight Connector 13"/>
          <p:cNvSpPr>
            <a:spLocks noGrp="1"/>
          </p:cNvSpPr>
          <p:nvPr/>
        </p:nvSpPr>
        <p:spPr>
          <a:xfrm>
            <a:off x="1466850" y="2409825"/>
            <a:ext cx="9677400" cy="0"/>
          </a:xfrm>
          <a:prstGeom prst="line">
            <a:avLst/>
          </a:prstGeom>
          <a:noFill/>
          <a:ln w="9525">
            <a:solidFill>
              <a:srgbClr val="D6DAE0"/>
            </a:solidFill>
            <a:prstDash val="solid"/>
          </a:ln>
        </p:spPr>
      </p:sp>
      <p:sp>
        <p:nvSpPr>
          <p:cNvPr id="15" name="Rectangles 14"/>
          <p:cNvSpPr>
            <a:spLocks noGrp="1"/>
          </p:cNvSpPr>
          <p:nvPr/>
        </p:nvSpPr>
        <p:spPr>
          <a:xfrm>
            <a:off x="895350" y="2619375"/>
            <a:ext cx="419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975" b="1">
                <a:solidFill>
                  <a:srgbClr val="E85D0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1">
                <a:solidFill>
                  <a:srgbClr val="E85D0F"/>
                </a:solidFill>
                <a:latin typeface="Noto Sans CJK SC"/>
                <a:ea typeface="Noto Sans CJK SC"/>
                <a:cs typeface="Noto Sans CJK SC"/>
              </a:rPr>
              <a:t>02</a:t>
            </a:r>
            <a:endParaRPr sz="975" b="1">
              <a:solidFill>
                <a:srgbClr val="E85D0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6" name="Rectangles 15"/>
          <p:cNvSpPr>
            <a:spLocks noGrp="1"/>
          </p:cNvSpPr>
          <p:nvPr/>
        </p:nvSpPr>
        <p:spPr>
          <a:xfrm>
            <a:off x="1466850" y="2600325"/>
            <a:ext cx="2133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350" b="1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rPr>
              <a:t>RMSNorm</a:t>
            </a:r>
            <a:endParaRPr sz="1350" b="1">
              <a:solidFill>
                <a:srgbClr val="17191D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7" name="Rectangles 16"/>
          <p:cNvSpPr>
            <a:spLocks noGrp="1"/>
          </p:cNvSpPr>
          <p:nvPr/>
        </p:nvSpPr>
        <p:spPr>
          <a:xfrm>
            <a:off x="3714750" y="2609850"/>
            <a:ext cx="7429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125" b="0">
                <a:solidFill>
                  <a:srgbClr val="62687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626871"/>
                </a:solidFill>
                <a:latin typeface="Noto Sans CJK SC"/>
                <a:ea typeface="Noto Sans CJK SC"/>
                <a:cs typeface="Noto Sans CJK SC"/>
              </a:rPr>
              <a:t>VIME 严格路径使用 torch RMSNorm，统一归一化语义与参数约束</a:t>
            </a:r>
            <a:endParaRPr sz="1125" b="0">
              <a:solidFill>
                <a:srgbClr val="626871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8" name="Straight Connector 17"/>
          <p:cNvSpPr>
            <a:spLocks noGrp="1"/>
          </p:cNvSpPr>
          <p:nvPr/>
        </p:nvSpPr>
        <p:spPr>
          <a:xfrm>
            <a:off x="1466850" y="2971800"/>
            <a:ext cx="9677400" cy="0"/>
          </a:xfrm>
          <a:prstGeom prst="line">
            <a:avLst/>
          </a:prstGeom>
          <a:noFill/>
          <a:ln w="9525">
            <a:solidFill>
              <a:srgbClr val="D6DAE0"/>
            </a:solidFill>
            <a:prstDash val="solid"/>
          </a:ln>
        </p:spPr>
      </p:sp>
      <p:sp>
        <p:nvSpPr>
          <p:cNvPr id="19" name="Rectangles 18"/>
          <p:cNvSpPr>
            <a:spLocks noGrp="1"/>
          </p:cNvSpPr>
          <p:nvPr/>
        </p:nvSpPr>
        <p:spPr>
          <a:xfrm>
            <a:off x="895350" y="3181350"/>
            <a:ext cx="419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975" b="1">
                <a:solidFill>
                  <a:srgbClr val="E85D0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1">
                <a:solidFill>
                  <a:srgbClr val="E85D0F"/>
                </a:solidFill>
                <a:latin typeface="Noto Sans CJK SC"/>
                <a:ea typeface="Noto Sans CJK SC"/>
                <a:cs typeface="Noto Sans CJK SC"/>
              </a:rPr>
              <a:t>03</a:t>
            </a:r>
            <a:endParaRPr sz="975" b="1">
              <a:solidFill>
                <a:srgbClr val="E85D0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0" name="Rectangles 19"/>
          <p:cNvSpPr>
            <a:spLocks noGrp="1"/>
          </p:cNvSpPr>
          <p:nvPr/>
        </p:nvSpPr>
        <p:spPr>
          <a:xfrm>
            <a:off x="1466850" y="3162300"/>
            <a:ext cx="2133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350" b="1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rPr>
              <a:t>Attention</a:t>
            </a:r>
            <a:endParaRPr sz="1350" b="1">
              <a:solidFill>
                <a:srgbClr val="17191D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1" name="Rectangles 20"/>
          <p:cNvSpPr>
            <a:spLocks noGrp="1"/>
          </p:cNvSpPr>
          <p:nvPr/>
        </p:nvSpPr>
        <p:spPr>
          <a:xfrm>
            <a:off x="3714750" y="3171825"/>
            <a:ext cx="7429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125" b="0">
                <a:solidFill>
                  <a:srgbClr val="62687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626871"/>
                </a:solidFill>
                <a:latin typeface="Noto Sans CJK SC"/>
                <a:ea typeface="Noto Sans CJK SC"/>
                <a:cs typeface="Noto Sans CJK SC"/>
              </a:rPr>
              <a:t>FA4 strict core 关闭 split-K，训练 backward 使用 deterministic 路径</a:t>
            </a:r>
            <a:endParaRPr sz="1125" b="0">
              <a:solidFill>
                <a:srgbClr val="626871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2" name="Straight Connector 21"/>
          <p:cNvSpPr>
            <a:spLocks noGrp="1"/>
          </p:cNvSpPr>
          <p:nvPr/>
        </p:nvSpPr>
        <p:spPr>
          <a:xfrm>
            <a:off x="1466850" y="3533775"/>
            <a:ext cx="9677400" cy="0"/>
          </a:xfrm>
          <a:prstGeom prst="line">
            <a:avLst/>
          </a:prstGeom>
          <a:noFill/>
          <a:ln w="9525">
            <a:solidFill>
              <a:srgbClr val="D6DAE0"/>
            </a:solidFill>
            <a:prstDash val="solid"/>
          </a:ln>
        </p:spPr>
      </p:sp>
      <p:sp>
        <p:nvSpPr>
          <p:cNvPr id="23" name="Rectangles 22"/>
          <p:cNvSpPr>
            <a:spLocks noGrp="1"/>
          </p:cNvSpPr>
          <p:nvPr/>
        </p:nvSpPr>
        <p:spPr>
          <a:xfrm>
            <a:off x="895350" y="3743325"/>
            <a:ext cx="419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975" b="1">
                <a:solidFill>
                  <a:srgbClr val="E85D0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1">
                <a:solidFill>
                  <a:srgbClr val="E85D0F"/>
                </a:solidFill>
                <a:latin typeface="Noto Sans CJK SC"/>
                <a:ea typeface="Noto Sans CJK SC"/>
                <a:cs typeface="Noto Sans CJK SC"/>
              </a:rPr>
              <a:t>04</a:t>
            </a:r>
            <a:endParaRPr sz="975" b="1">
              <a:solidFill>
                <a:srgbClr val="E85D0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4" name="Rectangles 23"/>
          <p:cNvSpPr>
            <a:spLocks noGrp="1"/>
          </p:cNvSpPr>
          <p:nvPr/>
        </p:nvSpPr>
        <p:spPr>
          <a:xfrm>
            <a:off x="1466850" y="3724275"/>
            <a:ext cx="2133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350" b="1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rPr>
              <a:t>FFN</a:t>
            </a:r>
            <a:endParaRPr sz="1350" b="1">
              <a:solidFill>
                <a:srgbClr val="17191D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5" name="Rectangles 24"/>
          <p:cNvSpPr>
            <a:spLocks noGrp="1"/>
          </p:cNvSpPr>
          <p:nvPr/>
        </p:nvSpPr>
        <p:spPr>
          <a:xfrm>
            <a:off x="3714750" y="3733800"/>
            <a:ext cx="7429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125" b="0">
                <a:solidFill>
                  <a:srgbClr val="62687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626871"/>
                </a:solidFill>
                <a:latin typeface="Noto Sans CJK SC"/>
                <a:ea typeface="Noto Sans CJK SC"/>
                <a:cs typeface="Noto Sans CJK SC"/>
              </a:rPr>
              <a:t>packed gate/up、SwiGLU 与 down GEMM 分段执行，复用 packed 权重</a:t>
            </a:r>
            <a:endParaRPr sz="1125" b="0">
              <a:solidFill>
                <a:srgbClr val="626871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6" name="Straight Connector 25"/>
          <p:cNvSpPr>
            <a:spLocks noGrp="1"/>
          </p:cNvSpPr>
          <p:nvPr/>
        </p:nvSpPr>
        <p:spPr>
          <a:xfrm>
            <a:off x="1466850" y="4095750"/>
            <a:ext cx="9677400" cy="0"/>
          </a:xfrm>
          <a:prstGeom prst="line">
            <a:avLst/>
          </a:prstGeom>
          <a:noFill/>
          <a:ln w="9525">
            <a:solidFill>
              <a:srgbClr val="D6DAE0"/>
            </a:solidFill>
            <a:prstDash val="solid"/>
          </a:ln>
        </p:spPr>
      </p:sp>
      <p:sp>
        <p:nvSpPr>
          <p:cNvPr id="27" name="Rectangles 26"/>
          <p:cNvSpPr>
            <a:spLocks noGrp="1"/>
          </p:cNvSpPr>
          <p:nvPr/>
        </p:nvSpPr>
        <p:spPr>
          <a:xfrm>
            <a:off x="895350" y="4305300"/>
            <a:ext cx="419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975" b="1">
                <a:solidFill>
                  <a:srgbClr val="E85D0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1">
                <a:solidFill>
                  <a:srgbClr val="E85D0F"/>
                </a:solidFill>
                <a:latin typeface="Noto Sans CJK SC"/>
                <a:ea typeface="Noto Sans CJK SC"/>
                <a:cs typeface="Noto Sans CJK SC"/>
              </a:rPr>
              <a:t>05</a:t>
            </a:r>
            <a:endParaRPr sz="975" b="1">
              <a:solidFill>
                <a:srgbClr val="E85D0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8" name="Rectangles 27"/>
          <p:cNvSpPr>
            <a:spLocks noGrp="1"/>
          </p:cNvSpPr>
          <p:nvPr/>
        </p:nvSpPr>
        <p:spPr>
          <a:xfrm>
            <a:off x="1466850" y="4286250"/>
            <a:ext cx="2133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350" b="1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rPr>
              <a:t>LM head / LogP</a:t>
            </a:r>
            <a:endParaRPr sz="1350" b="1">
              <a:solidFill>
                <a:srgbClr val="17191D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9" name="Rectangles 28"/>
          <p:cNvSpPr>
            <a:spLocks noGrp="1"/>
          </p:cNvSpPr>
          <p:nvPr/>
        </p:nvSpPr>
        <p:spPr>
          <a:xfrm>
            <a:off x="3714750" y="4295775"/>
            <a:ext cx="7429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125" b="0">
                <a:solidFill>
                  <a:srgbClr val="62687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626871"/>
                </a:solidFill>
                <a:latin typeface="Noto Sans CJK SC"/>
                <a:ea typeface="Noto Sans CJK SC"/>
                <a:cs typeface="Noto Sans CJK SC"/>
              </a:rPr>
              <a:t>训练与 rollout 各自复用 local logits，减少重复 LM-head GEMM</a:t>
            </a:r>
            <a:endParaRPr sz="1125" b="0">
              <a:solidFill>
                <a:srgbClr val="626871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0" name="Straight Connector 29"/>
          <p:cNvSpPr>
            <a:spLocks noGrp="1"/>
          </p:cNvSpPr>
          <p:nvPr/>
        </p:nvSpPr>
        <p:spPr>
          <a:xfrm>
            <a:off x="1466850" y="4657725"/>
            <a:ext cx="9677400" cy="0"/>
          </a:xfrm>
          <a:prstGeom prst="line">
            <a:avLst/>
          </a:prstGeom>
          <a:noFill/>
          <a:ln w="9525">
            <a:solidFill>
              <a:srgbClr val="D6DAE0"/>
            </a:solidFill>
            <a:prstDash val="solid"/>
          </a:ln>
        </p:spPr>
      </p:sp>
      <p:sp>
        <p:nvSpPr>
          <p:cNvPr id="31" name="Rectangles 30"/>
          <p:cNvSpPr>
            <a:spLocks noGrp="1"/>
          </p:cNvSpPr>
          <p:nvPr/>
        </p:nvSpPr>
        <p:spPr>
          <a:xfrm>
            <a:off x="895350" y="4867275"/>
            <a:ext cx="419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975" b="1">
                <a:solidFill>
                  <a:srgbClr val="E85D0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1">
                <a:solidFill>
                  <a:srgbClr val="E85D0F"/>
                </a:solidFill>
                <a:latin typeface="Noto Sans CJK SC"/>
                <a:ea typeface="Noto Sans CJK SC"/>
                <a:cs typeface="Noto Sans CJK SC"/>
              </a:rPr>
              <a:t>06</a:t>
            </a:r>
            <a:endParaRPr sz="975" b="1">
              <a:solidFill>
                <a:srgbClr val="E85D0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2" name="Rectangles 31"/>
          <p:cNvSpPr>
            <a:spLocks noGrp="1"/>
          </p:cNvSpPr>
          <p:nvPr/>
        </p:nvSpPr>
        <p:spPr>
          <a:xfrm>
            <a:off x="1466850" y="4848225"/>
            <a:ext cx="2133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350" b="1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rPr>
              <a:t>CUDA IPC 通信</a:t>
            </a:r>
            <a:endParaRPr sz="1350" b="1">
              <a:solidFill>
                <a:srgbClr val="17191D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3" name="Rectangles 32"/>
          <p:cNvSpPr>
            <a:spLocks noGrp="1"/>
          </p:cNvSpPr>
          <p:nvPr/>
        </p:nvSpPr>
        <p:spPr>
          <a:xfrm>
            <a:off x="3714750" y="4857750"/>
            <a:ext cx="7429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125" b="0">
                <a:solidFill>
                  <a:srgbClr val="62687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626871"/>
                </a:solidFill>
                <a:latin typeface="Noto Sans CJK SC"/>
                <a:ea typeface="Noto Sans CJK SC"/>
                <a:cs typeface="Noto Sans CJK SC"/>
              </a:rPr>
              <a:t>单节点 fixed-tree collective，TP1/2/4/8 使用固定 balanced tree</a:t>
            </a:r>
            <a:endParaRPr sz="1125" b="0">
              <a:solidFill>
                <a:srgbClr val="626871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4" name="Rectangles 33"/>
          <p:cNvSpPr>
            <a:spLocks noGrp="1"/>
          </p:cNvSpPr>
          <p:nvPr/>
        </p:nvSpPr>
        <p:spPr>
          <a:xfrm>
            <a:off x="819150" y="5543550"/>
            <a:ext cx="10439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050" b="0">
                <a:solidFill>
                  <a:srgbClr val="989EA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989EA7"/>
                </a:solidFill>
                <a:latin typeface="Noto Sans CJK SC"/>
                <a:ea typeface="Noto Sans CJK SC"/>
                <a:cs typeface="Noto Sans CJK SC"/>
              </a:rPr>
              <a:t>公开结论仅对应 Qwen3-8B、8×H100 和当前并行配置。</a:t>
            </a:r>
            <a:endParaRPr sz="1050" b="0">
              <a:solidFill>
                <a:srgbClr val="989EA7"/>
              </a:solidFill>
              <a:latin typeface="Noto Sans CJK SC"/>
              <a:ea typeface="Noto Sans CJK SC"/>
              <a:cs typeface="Noto Sans CJK SC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7" name="Rectangles 26"/>
          <p:cNvSpPr>
            <a:spLocks noGrp="1"/>
          </p:cNvSpPr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rgbClr val="111111"/>
          </a:solidFill>
          <a:ln w="0">
            <a:noFill/>
            <a:prstDash val="solid"/>
          </a:ln>
        </p:spPr>
      </p:sp>
      <p:sp>
        <p:nvSpPr>
          <p:cNvPr id="2" name="Rectangles 1"/>
          <p:cNvSpPr>
            <a:spLocks noGrp="1"/>
          </p:cNvSpPr>
          <p:nvPr/>
        </p:nvSpPr>
        <p:spPr>
          <a:xfrm>
            <a:off x="0" y="6667500"/>
            <a:ext cx="12192000" cy="190500"/>
          </a:xfrm>
          <a:prstGeom prst="rect">
            <a:avLst/>
          </a:prstGeom>
          <a:solidFill>
            <a:srgbClr val="111111"/>
          </a:solidFill>
          <a:ln w="0">
            <a:noFill/>
            <a:prstDash val="solid"/>
          </a:ln>
        </p:spPr>
      </p:sp>
      <p:sp>
        <p:nvSpPr>
          <p:cNvPr id="3" name="Straight Connector 2"/>
          <p:cNvSpPr>
            <a:spLocks noGrp="1"/>
          </p:cNvSpPr>
          <p:nvPr/>
        </p:nvSpPr>
        <p:spPr>
          <a:xfrm>
            <a:off x="609600" y="342900"/>
            <a:ext cx="0" cy="552450"/>
          </a:xfrm>
          <a:prstGeom prst="line">
            <a:avLst/>
          </a:prstGeom>
          <a:noFill/>
          <a:ln w="28575">
            <a:solidFill>
              <a:srgbClr val="E85D0F"/>
            </a:solidFill>
            <a:prstDash val="solid"/>
          </a:ln>
        </p:spPr>
      </p:sp>
      <p:sp>
        <p:nvSpPr>
          <p:cNvPr id="4" name="Rectangles 3"/>
          <p:cNvSpPr>
            <a:spLocks noGrp="1"/>
          </p:cNvSpPr>
          <p:nvPr/>
        </p:nvSpPr>
        <p:spPr>
          <a:xfrm>
            <a:off x="781050" y="323850"/>
            <a:ext cx="5429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975" b="0">
                <a:solidFill>
                  <a:srgbClr val="62687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626871"/>
                </a:solidFill>
                <a:latin typeface="Noto Sans CJK SC"/>
                <a:ea typeface="Noto Sans CJK SC"/>
                <a:cs typeface="Noto Sans CJK SC"/>
              </a:rPr>
              <a:t>05  CUDA 实践</a:t>
            </a:r>
            <a:endParaRPr sz="975" b="0">
              <a:solidFill>
                <a:srgbClr val="626871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" name="Rectangles 4"/>
          <p:cNvSpPr>
            <a:spLocks noGrp="1"/>
          </p:cNvSpPr>
          <p:nvPr/>
        </p:nvSpPr>
        <p:spPr>
          <a:xfrm>
            <a:off x="781050" y="657225"/>
            <a:ext cx="107632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2700" b="1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700" b="1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rPr>
              <a:t>CUDA 快速启动</a:t>
            </a:r>
            <a:endParaRPr sz="2700" b="1">
              <a:solidFill>
                <a:srgbClr val="17191D"/>
              </a:solidFill>
              <a:latin typeface="Noto Sans CJK SC"/>
              <a:ea typeface="Noto Sans CJK SC"/>
              <a:cs typeface="Noto Sans CJK SC"/>
            </a:endParaRPr>
          </a:p>
        </p:txBody>
      </p:sp>
      <p:pic>
        <p:nvPicPr>
          <p:cNvPr id="32" name="Picture 3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91750" y="6238875"/>
            <a:ext cx="228600" cy="285750"/>
          </a:xfrm>
          <a:prstGeom prst="rect">
            <a:avLst/>
          </a:prstGeom>
        </p:spPr>
      </p:pic>
      <p:sp>
        <p:nvSpPr>
          <p:cNvPr id="7" name="Rectangles 6"/>
          <p:cNvSpPr>
            <a:spLocks noGrp="1"/>
          </p:cNvSpPr>
          <p:nvPr/>
        </p:nvSpPr>
        <p:spPr>
          <a:xfrm>
            <a:off x="10487025" y="6286500"/>
            <a:ext cx="1047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750" b="1">
                <a:solidFill>
                  <a:srgbClr val="62687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50" b="1">
                <a:solidFill>
                  <a:srgbClr val="626871"/>
                </a:solidFill>
                <a:latin typeface="Noto Sans CJK SC"/>
                <a:ea typeface="Noto Sans CJK SC"/>
                <a:cs typeface="Noto Sans CJK SC"/>
              </a:rPr>
              <a:t>RL-ALIGN</a:t>
            </a:r>
            <a:endParaRPr sz="750" b="1">
              <a:solidFill>
                <a:srgbClr val="626871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8" name="Rectangles 7"/>
          <p:cNvSpPr>
            <a:spLocks noGrp="1"/>
          </p:cNvSpPr>
          <p:nvPr/>
        </p:nvSpPr>
        <p:spPr>
          <a:xfrm>
            <a:off x="609600" y="6343650"/>
            <a:ext cx="4000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750" b="0">
                <a:solidFill>
                  <a:srgbClr val="989EA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50" b="0">
                <a:solidFill>
                  <a:srgbClr val="989EA7"/>
                </a:solidFill>
                <a:latin typeface="Noto Sans CJK SC"/>
                <a:ea typeface="Noto Sans CJK SC"/>
                <a:cs typeface="Noto Sans CJK SC"/>
              </a:rPr>
              <a:t>20</a:t>
            </a:r>
            <a:endParaRPr sz="750" b="0">
              <a:solidFill>
                <a:srgbClr val="989EA7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" name="Rectangles 8"/>
          <p:cNvSpPr>
            <a:spLocks noGrp="1"/>
          </p:cNvSpPr>
          <p:nvPr/>
        </p:nvSpPr>
        <p:spPr>
          <a:xfrm>
            <a:off x="800100" y="1276350"/>
            <a:ext cx="7810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350" b="0">
                <a:solidFill>
                  <a:srgbClr val="62687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626871"/>
                </a:solidFill>
                <a:latin typeface="Noto Sans CJK SC"/>
                <a:ea typeface="Noto Sans CJK SC"/>
                <a:cs typeface="Noto Sans CJK SC"/>
              </a:rPr>
              <a:t>Qwen3-8B，8×H100。先运行 native，再运行 consistency。</a:t>
            </a:r>
            <a:endParaRPr sz="1350" b="0">
              <a:solidFill>
                <a:srgbClr val="626871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" name="Rectangles 9"/>
          <p:cNvSpPr>
            <a:spLocks noGrp="1"/>
          </p:cNvSpPr>
          <p:nvPr/>
        </p:nvSpPr>
        <p:spPr>
          <a:xfrm>
            <a:off x="704850" y="1771650"/>
            <a:ext cx="4381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125" b="1">
                <a:solidFill>
                  <a:srgbClr val="E85D0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E85D0F"/>
                </a:solidFill>
                <a:latin typeface="Noto Sans CJK SC"/>
                <a:ea typeface="Noto Sans CJK SC"/>
                <a:cs typeface="Noto Sans CJK SC"/>
              </a:rPr>
              <a:t>01</a:t>
            </a:r>
            <a:endParaRPr sz="1125" b="1">
              <a:solidFill>
                <a:srgbClr val="E85D0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1" name="Rectangles 10"/>
          <p:cNvSpPr>
            <a:spLocks noGrp="1"/>
          </p:cNvSpPr>
          <p:nvPr/>
        </p:nvSpPr>
        <p:spPr>
          <a:xfrm>
            <a:off x="1200150" y="1752600"/>
            <a:ext cx="4724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275" b="1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rPr>
              <a:t>安装并指定本地路径</a:t>
            </a:r>
            <a:endParaRPr sz="1275" b="1">
              <a:solidFill>
                <a:srgbClr val="17191D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2" name="Rounded Rectangle 11"/>
          <p:cNvSpPr>
            <a:spLocks noGrp="1"/>
          </p:cNvSpPr>
          <p:nvPr/>
        </p:nvSpPr>
        <p:spPr>
          <a:xfrm>
            <a:off x="1200150" y="2076450"/>
            <a:ext cx="4724400" cy="1143000"/>
          </a:xfrm>
          <a:prstGeom prst="roundRect">
            <a:avLst>
              <a:gd name="adj" fmla="val 5000"/>
            </a:avLst>
          </a:prstGeom>
          <a:solidFill>
            <a:srgbClr val="F6F7F9"/>
          </a:solidFill>
          <a:ln w="9525">
            <a:solidFill>
              <a:srgbClr val="D6DAE0"/>
            </a:solidFill>
            <a:prstDash val="solid"/>
          </a:ln>
        </p:spPr>
      </p:sp>
      <p:sp>
        <p:nvSpPr>
          <p:cNvPr id="13" name="Rectangles 12"/>
          <p:cNvSpPr>
            <a:spLocks noGrp="1"/>
          </p:cNvSpPr>
          <p:nvPr/>
        </p:nvSpPr>
        <p:spPr>
          <a:xfrm>
            <a:off x="1352550" y="2181225"/>
            <a:ext cx="44196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050" b="0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rPr>
              <a:t>python3 -m pip install -e .</a:t>
            </a:r>
            <a:endParaRPr sz="1050" b="0">
              <a:solidFill>
                <a:srgbClr val="17191D"/>
              </a:solidFill>
              <a:latin typeface="Noto Sans CJK SC"/>
              <a:ea typeface="Noto Sans CJK SC"/>
              <a:cs typeface="Noto Sans CJK SC"/>
            </a:endParaRPr>
          </a:p>
          <a:p>
            <a:pPr algn="l">
              <a:defRPr sz="1050" b="0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rPr>
              <a:t>export RLK_REPRO_WORKSPACE=/data/rlk-repro</a:t>
            </a:r>
            <a:endParaRPr sz="1050" b="0">
              <a:solidFill>
                <a:srgbClr val="17191D"/>
              </a:solidFill>
              <a:latin typeface="Noto Sans CJK SC"/>
              <a:ea typeface="Noto Sans CJK SC"/>
              <a:cs typeface="Noto Sans CJK SC"/>
            </a:endParaRPr>
          </a:p>
          <a:p>
            <a:pPr algn="l">
              <a:defRPr sz="1050" b="0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rPr>
              <a:t>export RLK_REPRO_MODEL_ROOT=/models/Qwen3-8B</a:t>
            </a:r>
            <a:endParaRPr sz="1050" b="0">
              <a:solidFill>
                <a:srgbClr val="17191D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4" name="Rectangles 13"/>
          <p:cNvSpPr>
            <a:spLocks noGrp="1"/>
          </p:cNvSpPr>
          <p:nvPr/>
        </p:nvSpPr>
        <p:spPr>
          <a:xfrm>
            <a:off x="6267450" y="1771650"/>
            <a:ext cx="4381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125" b="1">
                <a:solidFill>
                  <a:srgbClr val="E85D0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E85D0F"/>
                </a:solidFill>
                <a:latin typeface="Noto Sans CJK SC"/>
                <a:ea typeface="Noto Sans CJK SC"/>
                <a:cs typeface="Noto Sans CJK SC"/>
              </a:rPr>
              <a:t>02</a:t>
            </a:r>
            <a:endParaRPr sz="1125" b="1">
              <a:solidFill>
                <a:srgbClr val="E85D0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5" name="Rectangles 14"/>
          <p:cNvSpPr>
            <a:spLocks noGrp="1"/>
          </p:cNvSpPr>
          <p:nvPr/>
        </p:nvSpPr>
        <p:spPr>
          <a:xfrm>
            <a:off x="6762750" y="1752600"/>
            <a:ext cx="4724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275" b="1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rPr>
              <a:t>准备数据与 checkpoint</a:t>
            </a:r>
            <a:endParaRPr sz="1275" b="1">
              <a:solidFill>
                <a:srgbClr val="17191D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6" name="Rounded Rectangle 15"/>
          <p:cNvSpPr>
            <a:spLocks noGrp="1"/>
          </p:cNvSpPr>
          <p:nvPr/>
        </p:nvSpPr>
        <p:spPr>
          <a:xfrm>
            <a:off x="6762750" y="2076450"/>
            <a:ext cx="4724400" cy="1143000"/>
          </a:xfrm>
          <a:prstGeom prst="roundRect">
            <a:avLst>
              <a:gd name="adj" fmla="val 5000"/>
            </a:avLst>
          </a:prstGeom>
          <a:solidFill>
            <a:srgbClr val="F6F7F9"/>
          </a:solidFill>
          <a:ln w="9525">
            <a:solidFill>
              <a:srgbClr val="D6DAE0"/>
            </a:solidFill>
            <a:prstDash val="solid"/>
          </a:ln>
        </p:spPr>
      </p:sp>
      <p:sp>
        <p:nvSpPr>
          <p:cNvPr id="17" name="Rectangles 16"/>
          <p:cNvSpPr>
            <a:spLocks noGrp="1"/>
          </p:cNvSpPr>
          <p:nvPr/>
        </p:nvSpPr>
        <p:spPr>
          <a:xfrm>
            <a:off x="6915150" y="2181225"/>
            <a:ext cx="44196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050" b="0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rPr>
              <a:t>rlk-repro prepare \</a:t>
            </a:r>
            <a:endParaRPr sz="1050" b="0">
              <a:solidFill>
                <a:srgbClr val="17191D"/>
              </a:solidFill>
              <a:latin typeface="Noto Sans CJK SC"/>
              <a:ea typeface="Noto Sans CJK SC"/>
              <a:cs typeface="Noto Sans CJK SC"/>
            </a:endParaRPr>
          </a:p>
          <a:p>
            <a:pPr algn="l">
              <a:defRPr sz="1050" b="0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rPr>
              <a:t>  --workspace "$RLK_REPRO_WORKSPACE" \</a:t>
            </a:r>
            <a:endParaRPr sz="1050" b="0">
              <a:solidFill>
                <a:srgbClr val="17191D"/>
              </a:solidFill>
              <a:latin typeface="Noto Sans CJK SC"/>
              <a:ea typeface="Noto Sans CJK SC"/>
              <a:cs typeface="Noto Sans CJK SC"/>
            </a:endParaRPr>
          </a:p>
          <a:p>
            <a:pPr algn="l">
              <a:defRPr sz="1050" b="0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rPr>
              <a:t>  --download-data --convert-checkpoint</a:t>
            </a:r>
            <a:endParaRPr sz="1050" b="0">
              <a:solidFill>
                <a:srgbClr val="17191D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8" name="Rectangles 17"/>
          <p:cNvSpPr>
            <a:spLocks noGrp="1"/>
          </p:cNvSpPr>
          <p:nvPr/>
        </p:nvSpPr>
        <p:spPr>
          <a:xfrm>
            <a:off x="704850" y="3486150"/>
            <a:ext cx="4381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125" b="1">
                <a:solidFill>
                  <a:srgbClr val="E85D0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E85D0F"/>
                </a:solidFill>
                <a:latin typeface="Noto Sans CJK SC"/>
                <a:ea typeface="Noto Sans CJK SC"/>
                <a:cs typeface="Noto Sans CJK SC"/>
              </a:rPr>
              <a:t>03</a:t>
            </a:r>
            <a:endParaRPr sz="1125" b="1">
              <a:solidFill>
                <a:srgbClr val="E85D0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9" name="Rectangles 18"/>
          <p:cNvSpPr>
            <a:spLocks noGrp="1"/>
          </p:cNvSpPr>
          <p:nvPr/>
        </p:nvSpPr>
        <p:spPr>
          <a:xfrm>
            <a:off x="1200150" y="3467100"/>
            <a:ext cx="4724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275" b="1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rPr>
              <a:t>启动 Ray 并检查环境</a:t>
            </a:r>
            <a:endParaRPr sz="1275" b="1">
              <a:solidFill>
                <a:srgbClr val="17191D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0" name="Rounded Rectangle 19"/>
          <p:cNvSpPr>
            <a:spLocks noGrp="1"/>
          </p:cNvSpPr>
          <p:nvPr/>
        </p:nvSpPr>
        <p:spPr>
          <a:xfrm>
            <a:off x="1200150" y="3790950"/>
            <a:ext cx="4724400" cy="1390650"/>
          </a:xfrm>
          <a:prstGeom prst="roundRect">
            <a:avLst>
              <a:gd name="adj" fmla="val 4110"/>
            </a:avLst>
          </a:prstGeom>
          <a:solidFill>
            <a:srgbClr val="F6F7F9"/>
          </a:solidFill>
          <a:ln w="9525">
            <a:solidFill>
              <a:srgbClr val="D6DAE0"/>
            </a:solidFill>
            <a:prstDash val="solid"/>
          </a:ln>
        </p:spPr>
      </p:sp>
      <p:sp>
        <p:nvSpPr>
          <p:cNvPr id="21" name="Rectangles 20"/>
          <p:cNvSpPr>
            <a:spLocks noGrp="1"/>
          </p:cNvSpPr>
          <p:nvPr/>
        </p:nvSpPr>
        <p:spPr>
          <a:xfrm>
            <a:off x="1352550" y="3895725"/>
            <a:ext cx="4419600" cy="1200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050" b="0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rPr>
              <a:t>ray start --head --num-gpus=8 \</a:t>
            </a:r>
            <a:endParaRPr sz="1050" b="0">
              <a:solidFill>
                <a:srgbClr val="17191D"/>
              </a:solidFill>
              <a:latin typeface="Noto Sans CJK SC"/>
              <a:ea typeface="Noto Sans CJK SC"/>
              <a:cs typeface="Noto Sans CJK SC"/>
            </a:endParaRPr>
          </a:p>
          <a:p>
            <a:pPr algn="l">
              <a:defRPr sz="1050" b="0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rPr>
              <a:t>  --dashboard-host=127.0.0.1 \</a:t>
            </a:r>
            <a:endParaRPr sz="1050" b="0">
              <a:solidFill>
                <a:srgbClr val="17191D"/>
              </a:solidFill>
              <a:latin typeface="Noto Sans CJK SC"/>
              <a:ea typeface="Noto Sans CJK SC"/>
              <a:cs typeface="Noto Sans CJK SC"/>
            </a:endParaRPr>
          </a:p>
          <a:p>
            <a:pPr algn="l">
              <a:defRPr sz="1050" b="0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rPr>
              <a:t>  --object-store-memory=200000000000</a:t>
            </a:r>
            <a:endParaRPr sz="1050" b="0">
              <a:solidFill>
                <a:srgbClr val="17191D"/>
              </a:solidFill>
              <a:latin typeface="Noto Sans CJK SC"/>
              <a:ea typeface="Noto Sans CJK SC"/>
              <a:cs typeface="Noto Sans CJK SC"/>
            </a:endParaRPr>
          </a:p>
          <a:p>
            <a:pPr algn="l">
              <a:defRPr sz="1050" b="0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rPr>
              <a:t>rlk-repro doctor --workspace "$RLK_REPRO_WORKSPACE"</a:t>
            </a:r>
            <a:endParaRPr sz="1050" b="0">
              <a:solidFill>
                <a:srgbClr val="17191D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2" name="Rectangles 21"/>
          <p:cNvSpPr>
            <a:spLocks noGrp="1"/>
          </p:cNvSpPr>
          <p:nvPr/>
        </p:nvSpPr>
        <p:spPr>
          <a:xfrm>
            <a:off x="6267450" y="3486150"/>
            <a:ext cx="4381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125" b="1">
                <a:solidFill>
                  <a:srgbClr val="E85D0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E85D0F"/>
                </a:solidFill>
                <a:latin typeface="Noto Sans CJK SC"/>
                <a:ea typeface="Noto Sans CJK SC"/>
                <a:cs typeface="Noto Sans CJK SC"/>
              </a:rPr>
              <a:t>04</a:t>
            </a:r>
            <a:endParaRPr sz="1125" b="1">
              <a:solidFill>
                <a:srgbClr val="E85D0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3" name="Rectangles 22"/>
          <p:cNvSpPr>
            <a:spLocks noGrp="1"/>
          </p:cNvSpPr>
          <p:nvPr/>
        </p:nvSpPr>
        <p:spPr>
          <a:xfrm>
            <a:off x="6762750" y="3467100"/>
            <a:ext cx="4724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275" b="1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rPr>
              <a:t>运行基线与一致性路径</a:t>
            </a:r>
            <a:endParaRPr sz="1275" b="1">
              <a:solidFill>
                <a:srgbClr val="17191D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4" name="Rounded Rectangle 23"/>
          <p:cNvSpPr>
            <a:spLocks noGrp="1"/>
          </p:cNvSpPr>
          <p:nvPr/>
        </p:nvSpPr>
        <p:spPr>
          <a:xfrm>
            <a:off x="6762750" y="3790950"/>
            <a:ext cx="4724400" cy="1390650"/>
          </a:xfrm>
          <a:prstGeom prst="roundRect">
            <a:avLst>
              <a:gd name="adj" fmla="val 4110"/>
            </a:avLst>
          </a:prstGeom>
          <a:solidFill>
            <a:srgbClr val="F6F7F9"/>
          </a:solidFill>
          <a:ln w="9525">
            <a:solidFill>
              <a:srgbClr val="D6DAE0"/>
            </a:solidFill>
            <a:prstDash val="solid"/>
          </a:ln>
        </p:spPr>
      </p:sp>
      <p:sp>
        <p:nvSpPr>
          <p:cNvPr id="25" name="Rectangles 24"/>
          <p:cNvSpPr>
            <a:spLocks noGrp="1"/>
          </p:cNvSpPr>
          <p:nvPr/>
        </p:nvSpPr>
        <p:spPr>
          <a:xfrm>
            <a:off x="6915150" y="3895725"/>
            <a:ext cx="4419600" cy="1200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050" b="0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rPr>
              <a:t>rlk-repro run --workspace "$RLK_REPRO_WORKSPACE" \</a:t>
            </a:r>
            <a:endParaRPr sz="1050" b="0">
              <a:solidFill>
                <a:srgbClr val="17191D"/>
              </a:solidFill>
              <a:latin typeface="Noto Sans CJK SC"/>
              <a:ea typeface="Noto Sans CJK SC"/>
              <a:cs typeface="Noto Sans CJK SC"/>
            </a:endParaRPr>
          </a:p>
          <a:p>
            <a:pPr algn="l">
              <a:defRPr sz="1050" b="0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rPr>
              <a:t>  --mode native --rollouts 8 --wait</a:t>
            </a:r>
            <a:endParaRPr sz="1050" b="0">
              <a:solidFill>
                <a:srgbClr val="17191D"/>
              </a:solidFill>
              <a:latin typeface="Noto Sans CJK SC"/>
              <a:ea typeface="Noto Sans CJK SC"/>
              <a:cs typeface="Noto Sans CJK SC"/>
            </a:endParaRPr>
          </a:p>
          <a:p>
            <a:pPr algn="l">
              <a:defRPr sz="1050" b="0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rPr>
              <a:t>rlk-repro run --workspace "$RLK_REPRO_WORKSPACE" \</a:t>
            </a:r>
            <a:endParaRPr sz="1050" b="0">
              <a:solidFill>
                <a:srgbClr val="17191D"/>
              </a:solidFill>
              <a:latin typeface="Noto Sans CJK SC"/>
              <a:ea typeface="Noto Sans CJK SC"/>
              <a:cs typeface="Noto Sans CJK SC"/>
            </a:endParaRPr>
          </a:p>
          <a:p>
            <a:pPr algn="l">
              <a:defRPr sz="1050" b="0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rPr>
              <a:t>  --mode consistency --rollouts 8 --wait</a:t>
            </a:r>
            <a:endParaRPr sz="1050" b="0">
              <a:solidFill>
                <a:srgbClr val="17191D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6" name="Rectangles 25"/>
          <p:cNvSpPr>
            <a:spLocks noGrp="1"/>
          </p:cNvSpPr>
          <p:nvPr/>
        </p:nvSpPr>
        <p:spPr>
          <a:xfrm>
            <a:off x="1714500" y="5505450"/>
            <a:ext cx="8763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ctr">
              <a:defRPr sz="1350" b="1">
                <a:solidFill>
                  <a:srgbClr val="A8440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A8440D"/>
                </a:solidFill>
                <a:latin typeface="Noto Sans CJK SC"/>
                <a:ea typeface="Noto Sans CJK SC"/>
                <a:cs typeface="Noto Sans CJK SC"/>
              </a:rPr>
              <a:t>只需要替换 workspace 与模型路径。标准实验不要求修改 VIME 或 RL-Kernel 脚本。</a:t>
            </a:r>
            <a:endParaRPr sz="1350" b="1">
              <a:solidFill>
                <a:srgbClr val="A8440D"/>
              </a:solidFill>
              <a:latin typeface="Noto Sans CJK SC"/>
              <a:ea typeface="Noto Sans CJK SC"/>
              <a:cs typeface="Noto Sans CJK SC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7" name="Rectangles 26"/>
          <p:cNvSpPr>
            <a:spLocks noGrp="1"/>
          </p:cNvSpPr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rgbClr val="111111"/>
          </a:solidFill>
          <a:ln w="0">
            <a:noFill/>
            <a:prstDash val="solid"/>
          </a:ln>
        </p:spPr>
      </p:sp>
      <p:sp>
        <p:nvSpPr>
          <p:cNvPr id="2" name="Rectangles 1"/>
          <p:cNvSpPr>
            <a:spLocks noGrp="1"/>
          </p:cNvSpPr>
          <p:nvPr/>
        </p:nvSpPr>
        <p:spPr>
          <a:xfrm>
            <a:off x="0" y="6667500"/>
            <a:ext cx="12192000" cy="190500"/>
          </a:xfrm>
          <a:prstGeom prst="rect">
            <a:avLst/>
          </a:prstGeom>
          <a:solidFill>
            <a:srgbClr val="111111"/>
          </a:solidFill>
          <a:ln w="0">
            <a:noFill/>
            <a:prstDash val="solid"/>
          </a:ln>
        </p:spPr>
      </p:sp>
      <p:sp>
        <p:nvSpPr>
          <p:cNvPr id="3" name="Straight Connector 2"/>
          <p:cNvSpPr>
            <a:spLocks noGrp="1"/>
          </p:cNvSpPr>
          <p:nvPr/>
        </p:nvSpPr>
        <p:spPr>
          <a:xfrm>
            <a:off x="609600" y="342900"/>
            <a:ext cx="0" cy="552450"/>
          </a:xfrm>
          <a:prstGeom prst="line">
            <a:avLst/>
          </a:prstGeom>
          <a:noFill/>
          <a:ln w="28575">
            <a:solidFill>
              <a:srgbClr val="E85D0F"/>
            </a:solidFill>
            <a:prstDash val="solid"/>
          </a:ln>
        </p:spPr>
      </p:sp>
      <p:sp>
        <p:nvSpPr>
          <p:cNvPr id="4" name="Rectangles 3"/>
          <p:cNvSpPr>
            <a:spLocks noGrp="1"/>
          </p:cNvSpPr>
          <p:nvPr/>
        </p:nvSpPr>
        <p:spPr>
          <a:xfrm>
            <a:off x="781050" y="323850"/>
            <a:ext cx="5429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975" b="0">
                <a:solidFill>
                  <a:srgbClr val="62687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626871"/>
                </a:solidFill>
                <a:latin typeface="Noto Sans CJK SC"/>
                <a:ea typeface="Noto Sans CJK SC"/>
                <a:cs typeface="Noto Sans CJK SC"/>
              </a:rPr>
              <a:t>06  ROCm 实践</a:t>
            </a:r>
            <a:endParaRPr sz="975" b="0">
              <a:solidFill>
                <a:srgbClr val="626871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" name="Rectangles 4"/>
          <p:cNvSpPr>
            <a:spLocks noGrp="1"/>
          </p:cNvSpPr>
          <p:nvPr/>
        </p:nvSpPr>
        <p:spPr>
          <a:xfrm>
            <a:off x="781050" y="657225"/>
            <a:ext cx="107632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2700" b="1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700" b="1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rPr>
              <a:t>ROCm 实验配置</a:t>
            </a:r>
            <a:endParaRPr sz="2700" b="1">
              <a:solidFill>
                <a:srgbClr val="17191D"/>
              </a:solidFill>
              <a:latin typeface="Noto Sans CJK SC"/>
              <a:ea typeface="Noto Sans CJK SC"/>
              <a:cs typeface="Noto Sans CJK SC"/>
            </a:endParaRPr>
          </a:p>
        </p:txBody>
      </p:sp>
      <p:pic>
        <p:nvPicPr>
          <p:cNvPr id="32" name="Picture 3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91750" y="6238875"/>
            <a:ext cx="228600" cy="285750"/>
          </a:xfrm>
          <a:prstGeom prst="rect">
            <a:avLst/>
          </a:prstGeom>
        </p:spPr>
      </p:pic>
      <p:sp>
        <p:nvSpPr>
          <p:cNvPr id="7" name="Rectangles 6"/>
          <p:cNvSpPr>
            <a:spLocks noGrp="1"/>
          </p:cNvSpPr>
          <p:nvPr/>
        </p:nvSpPr>
        <p:spPr>
          <a:xfrm>
            <a:off x="10487025" y="6286500"/>
            <a:ext cx="1047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750" b="1">
                <a:solidFill>
                  <a:srgbClr val="62687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50" b="1">
                <a:solidFill>
                  <a:srgbClr val="626871"/>
                </a:solidFill>
                <a:latin typeface="Noto Sans CJK SC"/>
                <a:ea typeface="Noto Sans CJK SC"/>
                <a:cs typeface="Noto Sans CJK SC"/>
              </a:rPr>
              <a:t>RL-ALIGN</a:t>
            </a:r>
            <a:endParaRPr sz="750" b="1">
              <a:solidFill>
                <a:srgbClr val="626871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8" name="Rectangles 7"/>
          <p:cNvSpPr>
            <a:spLocks noGrp="1"/>
          </p:cNvSpPr>
          <p:nvPr/>
        </p:nvSpPr>
        <p:spPr>
          <a:xfrm>
            <a:off x="609600" y="6343650"/>
            <a:ext cx="4000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750" b="0">
                <a:solidFill>
                  <a:srgbClr val="989EA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50" b="0">
                <a:solidFill>
                  <a:srgbClr val="989EA7"/>
                </a:solidFill>
                <a:latin typeface="Noto Sans CJK SC"/>
                <a:ea typeface="Noto Sans CJK SC"/>
                <a:cs typeface="Noto Sans CJK SC"/>
              </a:rPr>
              <a:t>21</a:t>
            </a:r>
            <a:endParaRPr sz="750" b="0">
              <a:solidFill>
                <a:srgbClr val="989EA7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" name="Rounded Rectangle 8"/>
          <p:cNvSpPr>
            <a:spLocks noGrp="1"/>
          </p:cNvSpPr>
          <p:nvPr/>
        </p:nvSpPr>
        <p:spPr>
          <a:xfrm>
            <a:off x="628650" y="2000250"/>
            <a:ext cx="1981200" cy="171450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9525">
            <a:solidFill>
              <a:srgbClr val="D6DAE0"/>
            </a:solidFill>
            <a:prstDash val="solid"/>
          </a:ln>
        </p:spPr>
      </p:sp>
      <p:sp>
        <p:nvSpPr>
          <p:cNvPr id="10" name="Rectangles 9"/>
          <p:cNvSpPr>
            <a:spLocks noGrp="1"/>
          </p:cNvSpPr>
          <p:nvPr/>
        </p:nvSpPr>
        <p:spPr>
          <a:xfrm>
            <a:off x="800100" y="2209800"/>
            <a:ext cx="16383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ctr">
              <a:defRPr sz="975" b="1">
                <a:solidFill>
                  <a:srgbClr val="989EA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1">
                <a:solidFill>
                  <a:srgbClr val="989EA7"/>
                </a:solidFill>
                <a:latin typeface="Noto Sans CJK SC"/>
                <a:ea typeface="Noto Sans CJK SC"/>
                <a:cs typeface="Noto Sans CJK SC"/>
              </a:rPr>
              <a:t>模型</a:t>
            </a:r>
            <a:endParaRPr sz="975" b="1">
              <a:solidFill>
                <a:srgbClr val="989EA7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1" name="Rectangles 10"/>
          <p:cNvSpPr>
            <a:spLocks noGrp="1"/>
          </p:cNvSpPr>
          <p:nvPr/>
        </p:nvSpPr>
        <p:spPr>
          <a:xfrm>
            <a:off x="800100" y="2705100"/>
            <a:ext cx="16383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ctr">
              <a:defRPr sz="1800" b="1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rPr>
              <a:t>Qwen3-8B</a:t>
            </a:r>
            <a:endParaRPr sz="1800" b="1">
              <a:solidFill>
                <a:srgbClr val="17191D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2" name="Rounded Rectangle 11"/>
          <p:cNvSpPr>
            <a:spLocks noGrp="1"/>
          </p:cNvSpPr>
          <p:nvPr/>
        </p:nvSpPr>
        <p:spPr>
          <a:xfrm>
            <a:off x="2914650" y="2000250"/>
            <a:ext cx="1981200" cy="171450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9525">
            <a:solidFill>
              <a:srgbClr val="D6DAE0"/>
            </a:solidFill>
            <a:prstDash val="solid"/>
          </a:ln>
        </p:spPr>
      </p:sp>
      <p:sp>
        <p:nvSpPr>
          <p:cNvPr id="13" name="Rectangles 12"/>
          <p:cNvSpPr>
            <a:spLocks noGrp="1"/>
          </p:cNvSpPr>
          <p:nvPr/>
        </p:nvSpPr>
        <p:spPr>
          <a:xfrm>
            <a:off x="3086100" y="2209800"/>
            <a:ext cx="16383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ctr">
              <a:defRPr sz="975" b="1">
                <a:solidFill>
                  <a:srgbClr val="989EA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1">
                <a:solidFill>
                  <a:srgbClr val="989EA7"/>
                </a:solidFill>
                <a:latin typeface="Noto Sans CJK SC"/>
                <a:ea typeface="Noto Sans CJK SC"/>
                <a:cs typeface="Noto Sans CJK SC"/>
              </a:rPr>
              <a:t>硬件</a:t>
            </a:r>
            <a:endParaRPr sz="975" b="1">
              <a:solidFill>
                <a:srgbClr val="989EA7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4" name="Rectangles 13"/>
          <p:cNvSpPr>
            <a:spLocks noGrp="1"/>
          </p:cNvSpPr>
          <p:nvPr/>
        </p:nvSpPr>
        <p:spPr>
          <a:xfrm>
            <a:off x="3086100" y="2705100"/>
            <a:ext cx="16383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ctr">
              <a:defRPr sz="1275" b="1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rPr>
              <a:t>1 node, 8× MI300X 192GB</a:t>
            </a:r>
            <a:endParaRPr sz="1275" b="1">
              <a:solidFill>
                <a:srgbClr val="17191D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5" name="Rounded Rectangle 14"/>
          <p:cNvSpPr>
            <a:spLocks noGrp="1"/>
          </p:cNvSpPr>
          <p:nvPr/>
        </p:nvSpPr>
        <p:spPr>
          <a:xfrm>
            <a:off x="5200650" y="2000250"/>
            <a:ext cx="1981200" cy="171450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9525">
            <a:solidFill>
              <a:srgbClr val="D6DAE0"/>
            </a:solidFill>
            <a:prstDash val="solid"/>
          </a:ln>
        </p:spPr>
      </p:sp>
      <p:sp>
        <p:nvSpPr>
          <p:cNvPr id="16" name="Rectangles 15"/>
          <p:cNvSpPr>
            <a:spLocks noGrp="1"/>
          </p:cNvSpPr>
          <p:nvPr/>
        </p:nvSpPr>
        <p:spPr>
          <a:xfrm>
            <a:off x="5372100" y="2209800"/>
            <a:ext cx="16383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ctr">
              <a:defRPr sz="975" b="1">
                <a:solidFill>
                  <a:srgbClr val="989EA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1">
                <a:solidFill>
                  <a:srgbClr val="989EA7"/>
                </a:solidFill>
                <a:latin typeface="Noto Sans CJK SC"/>
                <a:ea typeface="Noto Sans CJK SC"/>
                <a:cs typeface="Noto Sans CJK SC"/>
              </a:rPr>
              <a:t>并行</a:t>
            </a:r>
            <a:endParaRPr sz="975" b="1">
              <a:solidFill>
                <a:srgbClr val="989EA7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7" name="Rectangles 16"/>
          <p:cNvSpPr>
            <a:spLocks noGrp="1"/>
          </p:cNvSpPr>
          <p:nvPr/>
        </p:nvSpPr>
        <p:spPr>
          <a:xfrm>
            <a:off x="5372100" y="2705100"/>
            <a:ext cx="16383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ctr">
              <a:defRPr sz="1800" b="1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rPr>
              <a:t>TP4 / CP2</a:t>
            </a:r>
            <a:endParaRPr sz="1800" b="1">
              <a:solidFill>
                <a:srgbClr val="17191D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8" name="Rounded Rectangle 17"/>
          <p:cNvSpPr>
            <a:spLocks noGrp="1"/>
          </p:cNvSpPr>
          <p:nvPr/>
        </p:nvSpPr>
        <p:spPr>
          <a:xfrm>
            <a:off x="7486650" y="2000250"/>
            <a:ext cx="1981200" cy="171450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9525">
            <a:solidFill>
              <a:srgbClr val="D6DAE0"/>
            </a:solidFill>
            <a:prstDash val="solid"/>
          </a:ln>
        </p:spPr>
      </p:sp>
      <p:sp>
        <p:nvSpPr>
          <p:cNvPr id="19" name="Rectangles 18"/>
          <p:cNvSpPr>
            <a:spLocks noGrp="1"/>
          </p:cNvSpPr>
          <p:nvPr/>
        </p:nvSpPr>
        <p:spPr>
          <a:xfrm>
            <a:off x="7658100" y="2209800"/>
            <a:ext cx="16383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ctr">
              <a:defRPr sz="975" b="1">
                <a:solidFill>
                  <a:srgbClr val="989EA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1">
                <a:solidFill>
                  <a:srgbClr val="989EA7"/>
                </a:solidFill>
                <a:latin typeface="Noto Sans CJK SC"/>
                <a:ea typeface="Noto Sans CJK SC"/>
                <a:cs typeface="Noto Sans CJK SC"/>
              </a:rPr>
              <a:t>全局批次</a:t>
            </a:r>
            <a:endParaRPr sz="975" b="1">
              <a:solidFill>
                <a:srgbClr val="989EA7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0" name="Rectangles 19"/>
          <p:cNvSpPr>
            <a:spLocks noGrp="1"/>
          </p:cNvSpPr>
          <p:nvPr/>
        </p:nvSpPr>
        <p:spPr>
          <a:xfrm>
            <a:off x="7658100" y="2705100"/>
            <a:ext cx="16383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ctr">
              <a:defRPr sz="1800" b="1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rPr>
              <a:t>8</a:t>
            </a:r>
            <a:endParaRPr sz="1800" b="1">
              <a:solidFill>
                <a:srgbClr val="17191D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1" name="Rounded Rectangle 20"/>
          <p:cNvSpPr>
            <a:spLocks noGrp="1"/>
          </p:cNvSpPr>
          <p:nvPr/>
        </p:nvSpPr>
        <p:spPr>
          <a:xfrm>
            <a:off x="9772650" y="2000250"/>
            <a:ext cx="1981200" cy="171450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9525">
            <a:solidFill>
              <a:srgbClr val="D6DAE0"/>
            </a:solidFill>
            <a:prstDash val="solid"/>
          </a:ln>
        </p:spPr>
      </p:sp>
      <p:sp>
        <p:nvSpPr>
          <p:cNvPr id="22" name="Rectangles 21"/>
          <p:cNvSpPr>
            <a:spLocks noGrp="1"/>
          </p:cNvSpPr>
          <p:nvPr/>
        </p:nvSpPr>
        <p:spPr>
          <a:xfrm>
            <a:off x="9944100" y="2209800"/>
            <a:ext cx="16383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ctr">
              <a:defRPr sz="975" b="1">
                <a:solidFill>
                  <a:srgbClr val="989EA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1">
                <a:solidFill>
                  <a:srgbClr val="989EA7"/>
                </a:solidFill>
                <a:latin typeface="Noto Sans CJK SC"/>
                <a:ea typeface="Noto Sans CJK SC"/>
                <a:cs typeface="Noto Sans CJK SC"/>
              </a:rPr>
              <a:t>随机种子</a:t>
            </a:r>
            <a:endParaRPr sz="975" b="1">
              <a:solidFill>
                <a:srgbClr val="989EA7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3" name="Rectangles 22"/>
          <p:cNvSpPr>
            <a:spLocks noGrp="1"/>
          </p:cNvSpPr>
          <p:nvPr/>
        </p:nvSpPr>
        <p:spPr>
          <a:xfrm>
            <a:off x="9944100" y="2705100"/>
            <a:ext cx="16383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ctr">
              <a:defRPr sz="1800" b="1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rPr>
              <a:t>1234</a:t>
            </a:r>
            <a:endParaRPr sz="1800" b="1">
              <a:solidFill>
                <a:srgbClr val="17191D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4" name="Straight Connector 23"/>
          <p:cNvSpPr>
            <a:spLocks noGrp="1"/>
          </p:cNvSpPr>
          <p:nvPr/>
        </p:nvSpPr>
        <p:spPr>
          <a:xfrm>
            <a:off x="1028700" y="4552950"/>
            <a:ext cx="495300" cy="0"/>
          </a:xfrm>
          <a:prstGeom prst="line">
            <a:avLst/>
          </a:prstGeom>
          <a:noFill/>
          <a:ln w="28575">
            <a:solidFill>
              <a:srgbClr val="E85D0F"/>
            </a:solidFill>
            <a:prstDash val="solid"/>
          </a:ln>
        </p:spPr>
      </p:sp>
      <p:sp>
        <p:nvSpPr>
          <p:cNvPr id="25" name="Rectangles 24"/>
          <p:cNvSpPr>
            <a:spLocks noGrp="1"/>
          </p:cNvSpPr>
          <p:nvPr/>
        </p:nvSpPr>
        <p:spPr>
          <a:xfrm>
            <a:off x="1714500" y="4457700"/>
            <a:ext cx="944880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l">
              <a:defRPr sz="1425" b="0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rPr>
              <a:t>ROCm 侧同样比较 vime 与 RL-Kernel + vime。由于 global batch 与 CUDA 不同，两套硬件的绝对时间不做横向比较。</a:t>
            </a:r>
            <a:endParaRPr sz="1425" b="0">
              <a:solidFill>
                <a:srgbClr val="17191D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6" name="Rectangles 25"/>
          <p:cNvSpPr>
            <a:spLocks noGrp="1"/>
          </p:cNvSpPr>
          <p:nvPr/>
        </p:nvSpPr>
        <p:spPr>
          <a:xfrm>
            <a:off x="685800" y="586740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825" b="0">
                <a:solidFill>
                  <a:srgbClr val="989EA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25" b="0">
                <a:solidFill>
                  <a:srgbClr val="989EA7"/>
                </a:solidFill>
                <a:latin typeface="Noto Sans CJK SC"/>
                <a:ea typeface="Noto Sans CJK SC"/>
                <a:cs typeface="Noto Sans CJK SC"/>
              </a:rPr>
              <a:t>Source: RL-Kernel v0.1.0 Blog / PR #400</a:t>
            </a:r>
            <a:endParaRPr sz="825" b="0">
              <a:solidFill>
                <a:srgbClr val="989EA7"/>
              </a:solidFill>
              <a:latin typeface="Noto Sans CJK SC"/>
              <a:ea typeface="Noto Sans CJK SC"/>
              <a:cs typeface="Noto Sans CJK SC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0" name="Rectangles 19"/>
          <p:cNvSpPr>
            <a:spLocks noGrp="1"/>
          </p:cNvSpPr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rgbClr val="111111"/>
          </a:solidFill>
          <a:ln w="0">
            <a:noFill/>
            <a:prstDash val="solid"/>
          </a:ln>
        </p:spPr>
      </p:sp>
      <p:sp>
        <p:nvSpPr>
          <p:cNvPr id="2" name="Rectangles 1"/>
          <p:cNvSpPr>
            <a:spLocks noGrp="1"/>
          </p:cNvSpPr>
          <p:nvPr/>
        </p:nvSpPr>
        <p:spPr>
          <a:xfrm>
            <a:off x="0" y="6667500"/>
            <a:ext cx="12192000" cy="190500"/>
          </a:xfrm>
          <a:prstGeom prst="rect">
            <a:avLst/>
          </a:prstGeom>
          <a:solidFill>
            <a:srgbClr val="111111"/>
          </a:solidFill>
          <a:ln w="0">
            <a:noFill/>
            <a:prstDash val="solid"/>
          </a:ln>
        </p:spPr>
      </p:sp>
      <p:sp>
        <p:nvSpPr>
          <p:cNvPr id="3" name="Straight Connector 2"/>
          <p:cNvSpPr>
            <a:spLocks noGrp="1"/>
          </p:cNvSpPr>
          <p:nvPr/>
        </p:nvSpPr>
        <p:spPr>
          <a:xfrm>
            <a:off x="609600" y="342900"/>
            <a:ext cx="0" cy="552450"/>
          </a:xfrm>
          <a:prstGeom prst="line">
            <a:avLst/>
          </a:prstGeom>
          <a:noFill/>
          <a:ln w="28575">
            <a:solidFill>
              <a:srgbClr val="E85D0F"/>
            </a:solidFill>
            <a:prstDash val="solid"/>
          </a:ln>
        </p:spPr>
      </p:sp>
      <p:sp>
        <p:nvSpPr>
          <p:cNvPr id="4" name="Rectangles 3"/>
          <p:cNvSpPr>
            <a:spLocks noGrp="1"/>
          </p:cNvSpPr>
          <p:nvPr/>
        </p:nvSpPr>
        <p:spPr>
          <a:xfrm>
            <a:off x="781050" y="323850"/>
            <a:ext cx="5429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975" b="0">
                <a:solidFill>
                  <a:srgbClr val="62687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626871"/>
                </a:solidFill>
                <a:latin typeface="Noto Sans CJK SC"/>
                <a:ea typeface="Noto Sans CJK SC"/>
                <a:cs typeface="Noto Sans CJK SC"/>
              </a:rPr>
              <a:t>06  ROCm 实践</a:t>
            </a:r>
            <a:endParaRPr sz="975" b="0">
              <a:solidFill>
                <a:srgbClr val="626871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" name="Rectangles 4"/>
          <p:cNvSpPr>
            <a:spLocks noGrp="1"/>
          </p:cNvSpPr>
          <p:nvPr/>
        </p:nvSpPr>
        <p:spPr>
          <a:xfrm>
            <a:off x="781050" y="657225"/>
            <a:ext cx="107632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2700" b="1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700" b="1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rPr>
              <a:t>ROCm 200 steps：逐 Bit 一致</a:t>
            </a:r>
            <a:endParaRPr sz="2700" b="1">
              <a:solidFill>
                <a:srgbClr val="17191D"/>
              </a:solidFill>
              <a:latin typeface="Noto Sans CJK SC"/>
              <a:ea typeface="Noto Sans CJK SC"/>
              <a:cs typeface="Noto Sans CJK SC"/>
            </a:endParaRPr>
          </a:p>
        </p:txBody>
      </p:sp>
      <p:pic>
        <p:nvPicPr>
          <p:cNvPr id="25" name="Picture 2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91750" y="6238875"/>
            <a:ext cx="228600" cy="285750"/>
          </a:xfrm>
          <a:prstGeom prst="rect">
            <a:avLst/>
          </a:prstGeom>
        </p:spPr>
      </p:pic>
      <p:sp>
        <p:nvSpPr>
          <p:cNvPr id="7" name="Rectangles 6"/>
          <p:cNvSpPr>
            <a:spLocks noGrp="1"/>
          </p:cNvSpPr>
          <p:nvPr/>
        </p:nvSpPr>
        <p:spPr>
          <a:xfrm>
            <a:off x="10487025" y="6286500"/>
            <a:ext cx="1047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750" b="1">
                <a:solidFill>
                  <a:srgbClr val="62687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50" b="1">
                <a:solidFill>
                  <a:srgbClr val="626871"/>
                </a:solidFill>
                <a:latin typeface="Noto Sans CJK SC"/>
                <a:ea typeface="Noto Sans CJK SC"/>
                <a:cs typeface="Noto Sans CJK SC"/>
              </a:rPr>
              <a:t>RL-ALIGN</a:t>
            </a:r>
            <a:endParaRPr sz="750" b="1">
              <a:solidFill>
                <a:srgbClr val="626871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8" name="Rectangles 7"/>
          <p:cNvSpPr>
            <a:spLocks noGrp="1"/>
          </p:cNvSpPr>
          <p:nvPr/>
        </p:nvSpPr>
        <p:spPr>
          <a:xfrm>
            <a:off x="609600" y="6343650"/>
            <a:ext cx="4000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750" b="0">
                <a:solidFill>
                  <a:srgbClr val="989EA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50" b="0">
                <a:solidFill>
                  <a:srgbClr val="989EA7"/>
                </a:solidFill>
                <a:latin typeface="Noto Sans CJK SC"/>
                <a:ea typeface="Noto Sans CJK SC"/>
                <a:cs typeface="Noto Sans CJK SC"/>
              </a:rPr>
              <a:t>22</a:t>
            </a:r>
            <a:endParaRPr sz="750" b="0">
              <a:solidFill>
                <a:srgbClr val="989EA7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" name="Rounded Rectangle 8"/>
          <p:cNvSpPr>
            <a:spLocks noGrp="1"/>
          </p:cNvSpPr>
          <p:nvPr/>
        </p:nvSpPr>
        <p:spPr>
          <a:xfrm>
            <a:off x="552450" y="1600200"/>
            <a:ext cx="8896350" cy="3733800"/>
          </a:xfrm>
          <a:prstGeom prst="roundRect">
            <a:avLst>
              <a:gd name="adj" fmla="val 2551"/>
            </a:avLst>
          </a:prstGeom>
          <a:solidFill>
            <a:srgbClr val="FFFFFF"/>
          </a:solidFill>
          <a:ln w="9525">
            <a:solidFill>
              <a:srgbClr val="D6DAE0"/>
            </a:solidFill>
            <a:prstDash val="solid"/>
          </a:ln>
        </p:spPr>
      </p:sp>
      <p:pic>
        <p:nvPicPr>
          <p:cNvPr id="29" name="Picture 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750" y="1778803"/>
            <a:ext cx="8667750" cy="3376593"/>
          </a:xfrm>
          <a:prstGeom prst="rect">
            <a:avLst/>
          </a:prstGeom>
        </p:spPr>
      </p:pic>
      <p:sp>
        <p:nvSpPr>
          <p:cNvPr id="11" name="Straight Connector 10"/>
          <p:cNvSpPr>
            <a:spLocks noGrp="1"/>
          </p:cNvSpPr>
          <p:nvPr/>
        </p:nvSpPr>
        <p:spPr>
          <a:xfrm>
            <a:off x="9677400" y="1562100"/>
            <a:ext cx="0" cy="3905250"/>
          </a:xfrm>
          <a:prstGeom prst="line">
            <a:avLst/>
          </a:prstGeom>
          <a:noFill/>
          <a:ln w="9525">
            <a:solidFill>
              <a:srgbClr val="D6DAE0"/>
            </a:solidFill>
            <a:prstDash val="solid"/>
          </a:ln>
        </p:spPr>
      </p:sp>
      <p:sp>
        <p:nvSpPr>
          <p:cNvPr id="12" name="Rectangles 11"/>
          <p:cNvSpPr>
            <a:spLocks noGrp="1"/>
          </p:cNvSpPr>
          <p:nvPr/>
        </p:nvSpPr>
        <p:spPr>
          <a:xfrm>
            <a:off x="9829800" y="1676400"/>
            <a:ext cx="20383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2550" b="1">
                <a:solidFill>
                  <a:srgbClr val="E85D0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E85D0F"/>
                </a:solidFill>
                <a:latin typeface="Noto Sans CJK SC"/>
                <a:ea typeface="Noto Sans CJK SC"/>
                <a:cs typeface="Noto Sans CJK SC"/>
              </a:rPr>
              <a:t>200/200</a:t>
            </a:r>
            <a:endParaRPr sz="2550" b="1">
              <a:solidFill>
                <a:srgbClr val="E85D0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3" name="Rectangles 12"/>
          <p:cNvSpPr>
            <a:spLocks noGrp="1"/>
          </p:cNvSpPr>
          <p:nvPr/>
        </p:nvSpPr>
        <p:spPr>
          <a:xfrm>
            <a:off x="9829800" y="2343150"/>
            <a:ext cx="20383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275" b="1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rPr>
              <a:t>完整训练 steps</a:t>
            </a:r>
            <a:endParaRPr sz="1275" b="1">
              <a:solidFill>
                <a:srgbClr val="17191D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4" name="Rectangles 13"/>
          <p:cNvSpPr>
            <a:spLocks noGrp="1"/>
          </p:cNvSpPr>
          <p:nvPr/>
        </p:nvSpPr>
        <p:spPr>
          <a:xfrm>
            <a:off x="9925050" y="3105150"/>
            <a:ext cx="18478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4050" b="1">
                <a:solidFill>
                  <a:srgbClr val="16895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4050" b="1">
                <a:solidFill>
                  <a:srgbClr val="16895A"/>
                </a:solidFill>
                <a:latin typeface="Noto Sans CJK SC"/>
                <a:ea typeface="Noto Sans CJK SC"/>
                <a:cs typeface="Noto Sans CJK SC"/>
              </a:rPr>
              <a:t>0</a:t>
            </a:r>
            <a:endParaRPr sz="4050" b="1">
              <a:solidFill>
                <a:srgbClr val="16895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5" name="Rectangles 14"/>
          <p:cNvSpPr>
            <a:spLocks noGrp="1"/>
          </p:cNvSpPr>
          <p:nvPr/>
        </p:nvSpPr>
        <p:spPr>
          <a:xfrm>
            <a:off x="9925050" y="3771900"/>
            <a:ext cx="18478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275" b="1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rPr>
              <a:t>mismatch</a:t>
            </a:r>
            <a:endParaRPr sz="1275" b="1">
              <a:solidFill>
                <a:srgbClr val="17191D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6" name="Rectangles 15"/>
          <p:cNvSpPr>
            <a:spLocks noGrp="1"/>
          </p:cNvSpPr>
          <p:nvPr/>
        </p:nvSpPr>
        <p:spPr>
          <a:xfrm>
            <a:off x="9925050" y="4438650"/>
            <a:ext cx="18478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2325" b="1">
                <a:solidFill>
                  <a:srgbClr val="A8440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1">
                <a:solidFill>
                  <a:srgbClr val="A8440D"/>
                </a:solidFill>
                <a:latin typeface="Noto Sans CJK SC"/>
                <a:ea typeface="Noto Sans CJK SC"/>
                <a:cs typeface="Noto Sans CJK SC"/>
              </a:rPr>
              <a:t>9,400,614</a:t>
            </a:r>
            <a:endParaRPr sz="2325" b="1">
              <a:solidFill>
                <a:srgbClr val="A8440D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7" name="Rectangles 16"/>
          <p:cNvSpPr>
            <a:spLocks noGrp="1"/>
          </p:cNvSpPr>
          <p:nvPr/>
        </p:nvSpPr>
        <p:spPr>
          <a:xfrm>
            <a:off x="9925050" y="4914900"/>
            <a:ext cx="18478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200" b="1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rPr>
              <a:t>逐元素比较</a:t>
            </a:r>
            <a:endParaRPr sz="1200" b="1">
              <a:solidFill>
                <a:srgbClr val="17191D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8" name="Rectangles 17"/>
          <p:cNvSpPr>
            <a:spLocks noGrp="1"/>
          </p:cNvSpPr>
          <p:nvPr/>
        </p:nvSpPr>
        <p:spPr>
          <a:xfrm>
            <a:off x="781050" y="5391150"/>
            <a:ext cx="86868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125" b="0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rPr>
              <a:t>红线是 vime 原生路径，蓝线是 RL-Kernel + vime。200 个完整 step 共比较 9,400,614 个元素，蓝线在指定比较位置保持完全一致。</a:t>
            </a:r>
            <a:endParaRPr sz="1125" b="0">
              <a:solidFill>
                <a:srgbClr val="17191D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9" name="Rectangles 18"/>
          <p:cNvSpPr>
            <a:spLocks noGrp="1"/>
          </p:cNvSpPr>
          <p:nvPr/>
        </p:nvSpPr>
        <p:spPr>
          <a:xfrm>
            <a:off x="685800" y="586740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825" b="0">
                <a:solidFill>
                  <a:srgbClr val="989EA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25" b="0">
                <a:solidFill>
                  <a:srgbClr val="989EA7"/>
                </a:solidFill>
                <a:latin typeface="Noto Sans CJK SC"/>
                <a:ea typeface="Noto Sans CJK SC"/>
                <a:cs typeface="Noto Sans CJK SC"/>
              </a:rPr>
              <a:t>Source: RL-Kernel v0.1.0 Blog / PR #400</a:t>
            </a:r>
            <a:endParaRPr sz="825" b="0">
              <a:solidFill>
                <a:srgbClr val="989EA7"/>
              </a:solidFill>
              <a:latin typeface="Noto Sans CJK SC"/>
              <a:ea typeface="Noto Sans CJK SC"/>
              <a:cs typeface="Noto Sans CJK SC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5" name="Rectangles 34"/>
          <p:cNvSpPr>
            <a:spLocks noGrp="1"/>
          </p:cNvSpPr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rgbClr val="111111"/>
          </a:solidFill>
          <a:ln w="0">
            <a:noFill/>
            <a:prstDash val="solid"/>
          </a:ln>
        </p:spPr>
      </p:sp>
      <p:sp>
        <p:nvSpPr>
          <p:cNvPr id="2" name="Rectangles 1"/>
          <p:cNvSpPr>
            <a:spLocks noGrp="1"/>
          </p:cNvSpPr>
          <p:nvPr/>
        </p:nvSpPr>
        <p:spPr>
          <a:xfrm>
            <a:off x="0" y="6667500"/>
            <a:ext cx="12192000" cy="190500"/>
          </a:xfrm>
          <a:prstGeom prst="rect">
            <a:avLst/>
          </a:prstGeom>
          <a:solidFill>
            <a:srgbClr val="111111"/>
          </a:solidFill>
          <a:ln w="0">
            <a:noFill/>
            <a:prstDash val="solid"/>
          </a:ln>
        </p:spPr>
      </p:sp>
      <p:sp>
        <p:nvSpPr>
          <p:cNvPr id="3" name="Straight Connector 2"/>
          <p:cNvSpPr>
            <a:spLocks noGrp="1"/>
          </p:cNvSpPr>
          <p:nvPr/>
        </p:nvSpPr>
        <p:spPr>
          <a:xfrm>
            <a:off x="609600" y="342900"/>
            <a:ext cx="0" cy="552450"/>
          </a:xfrm>
          <a:prstGeom prst="line">
            <a:avLst/>
          </a:prstGeom>
          <a:noFill/>
          <a:ln w="28575">
            <a:solidFill>
              <a:srgbClr val="E85D0F"/>
            </a:solidFill>
            <a:prstDash val="solid"/>
          </a:ln>
        </p:spPr>
      </p:sp>
      <p:sp>
        <p:nvSpPr>
          <p:cNvPr id="4" name="Rectangles 3"/>
          <p:cNvSpPr>
            <a:spLocks noGrp="1"/>
          </p:cNvSpPr>
          <p:nvPr/>
        </p:nvSpPr>
        <p:spPr>
          <a:xfrm>
            <a:off x="781050" y="323850"/>
            <a:ext cx="5429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975" b="0">
                <a:solidFill>
                  <a:srgbClr val="62687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626871"/>
                </a:solidFill>
                <a:latin typeface="Noto Sans CJK SC"/>
                <a:ea typeface="Noto Sans CJK SC"/>
                <a:cs typeface="Noto Sans CJK SC"/>
              </a:rPr>
              <a:t>06  ROCm 实践</a:t>
            </a:r>
            <a:endParaRPr sz="975" b="0">
              <a:solidFill>
                <a:srgbClr val="626871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" name="Rectangles 4"/>
          <p:cNvSpPr>
            <a:spLocks noGrp="1"/>
          </p:cNvSpPr>
          <p:nvPr/>
        </p:nvSpPr>
        <p:spPr>
          <a:xfrm>
            <a:off x="781050" y="657225"/>
            <a:ext cx="107632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2700" b="1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700" b="1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rPr>
              <a:t>ROCm 性能与原生路径基本持平</a:t>
            </a:r>
            <a:endParaRPr sz="2700" b="1">
              <a:solidFill>
                <a:srgbClr val="17191D"/>
              </a:solidFill>
              <a:latin typeface="Noto Sans CJK SC"/>
              <a:ea typeface="Noto Sans CJK SC"/>
              <a:cs typeface="Noto Sans CJK SC"/>
            </a:endParaRPr>
          </a:p>
        </p:txBody>
      </p:sp>
      <p:pic>
        <p:nvPicPr>
          <p:cNvPr id="40" name="Picture 3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91750" y="6238875"/>
            <a:ext cx="228600" cy="285750"/>
          </a:xfrm>
          <a:prstGeom prst="rect">
            <a:avLst/>
          </a:prstGeom>
        </p:spPr>
      </p:pic>
      <p:sp>
        <p:nvSpPr>
          <p:cNvPr id="7" name="Rectangles 6"/>
          <p:cNvSpPr>
            <a:spLocks noGrp="1"/>
          </p:cNvSpPr>
          <p:nvPr/>
        </p:nvSpPr>
        <p:spPr>
          <a:xfrm>
            <a:off x="10487025" y="6286500"/>
            <a:ext cx="1047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750" b="1">
                <a:solidFill>
                  <a:srgbClr val="62687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50" b="1">
                <a:solidFill>
                  <a:srgbClr val="626871"/>
                </a:solidFill>
                <a:latin typeface="Noto Sans CJK SC"/>
                <a:ea typeface="Noto Sans CJK SC"/>
                <a:cs typeface="Noto Sans CJK SC"/>
              </a:rPr>
              <a:t>RL-ALIGN</a:t>
            </a:r>
            <a:endParaRPr sz="750" b="1">
              <a:solidFill>
                <a:srgbClr val="626871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8" name="Rectangles 7"/>
          <p:cNvSpPr>
            <a:spLocks noGrp="1"/>
          </p:cNvSpPr>
          <p:nvPr/>
        </p:nvSpPr>
        <p:spPr>
          <a:xfrm>
            <a:off x="609600" y="6343650"/>
            <a:ext cx="4000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750" b="0">
                <a:solidFill>
                  <a:srgbClr val="989EA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50" b="0">
                <a:solidFill>
                  <a:srgbClr val="989EA7"/>
                </a:solidFill>
                <a:latin typeface="Noto Sans CJK SC"/>
                <a:ea typeface="Noto Sans CJK SC"/>
                <a:cs typeface="Noto Sans CJK SC"/>
              </a:rPr>
              <a:t>23</a:t>
            </a:r>
            <a:endParaRPr sz="750" b="0">
              <a:solidFill>
                <a:srgbClr val="989EA7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" name="Rectangles 8"/>
          <p:cNvSpPr>
            <a:spLocks noGrp="1"/>
          </p:cNvSpPr>
          <p:nvPr/>
        </p:nvSpPr>
        <p:spPr>
          <a:xfrm>
            <a:off x="819150" y="1381125"/>
            <a:ext cx="10096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650" b="1">
                <a:solidFill>
                  <a:srgbClr val="A8440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A8440D"/>
                </a:solidFill>
                <a:latin typeface="Noto Sans CJK SC"/>
                <a:ea typeface="Noto Sans CJK SC"/>
                <a:cs typeface="Noto Sans CJK SC"/>
              </a:rPr>
              <a:t>在保持 0 mismatch 的同时，端到端耗时与 vime 原生路径基本持平。</a:t>
            </a:r>
            <a:endParaRPr sz="1650" b="1">
              <a:solidFill>
                <a:srgbClr val="A8440D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" name="Straight Connector 9"/>
          <p:cNvSpPr>
            <a:spLocks noGrp="1"/>
          </p:cNvSpPr>
          <p:nvPr/>
        </p:nvSpPr>
        <p:spPr>
          <a:xfrm>
            <a:off x="819150" y="1866900"/>
            <a:ext cx="10439400" cy="0"/>
          </a:xfrm>
          <a:prstGeom prst="line">
            <a:avLst/>
          </a:prstGeom>
          <a:noFill/>
          <a:ln w="9525">
            <a:solidFill>
              <a:srgbClr val="D6DAE0"/>
            </a:solidFill>
            <a:prstDash val="solid"/>
          </a:ln>
        </p:spPr>
      </p:sp>
      <p:sp>
        <p:nvSpPr>
          <p:cNvPr id="11" name="Rectangles 10"/>
          <p:cNvSpPr>
            <a:spLocks noGrp="1"/>
          </p:cNvSpPr>
          <p:nvPr/>
        </p:nvSpPr>
        <p:spPr>
          <a:xfrm>
            <a:off x="895350" y="2057400"/>
            <a:ext cx="419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975" b="1">
                <a:solidFill>
                  <a:srgbClr val="E85D0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1">
                <a:solidFill>
                  <a:srgbClr val="E85D0F"/>
                </a:solidFill>
                <a:latin typeface="Noto Sans CJK SC"/>
                <a:ea typeface="Noto Sans CJK SC"/>
                <a:cs typeface="Noto Sans CJK SC"/>
              </a:rPr>
              <a:t>01</a:t>
            </a:r>
            <a:endParaRPr sz="975" b="1">
              <a:solidFill>
                <a:srgbClr val="E85D0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2" name="Rectangles 11"/>
          <p:cNvSpPr>
            <a:spLocks noGrp="1"/>
          </p:cNvSpPr>
          <p:nvPr/>
        </p:nvSpPr>
        <p:spPr>
          <a:xfrm>
            <a:off x="1466850" y="2038350"/>
            <a:ext cx="22669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350" b="1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rPr>
              <a:t>GEMM</a:t>
            </a:r>
            <a:endParaRPr sz="1350" b="1">
              <a:solidFill>
                <a:srgbClr val="17191D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3" name="Rectangles 12"/>
          <p:cNvSpPr>
            <a:spLocks noGrp="1"/>
          </p:cNvSpPr>
          <p:nvPr/>
        </p:nvSpPr>
        <p:spPr>
          <a:xfrm>
            <a:off x="3848100" y="2047875"/>
            <a:ext cx="72961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125" b="0">
                <a:solidFill>
                  <a:srgbClr val="62687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626871"/>
                </a:solidFill>
                <a:latin typeface="Noto Sans CJK SC"/>
                <a:ea typeface="Noto Sans CJK SC"/>
                <a:cs typeface="Noto Sans CJK SC"/>
              </a:rPr>
              <a:t>自研 MFMA kernel，固定 chunk 顺序，FP32 合并后写回 BF16</a:t>
            </a:r>
            <a:endParaRPr sz="1125" b="0">
              <a:solidFill>
                <a:srgbClr val="626871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4" name="Straight Connector 13"/>
          <p:cNvSpPr>
            <a:spLocks noGrp="1"/>
          </p:cNvSpPr>
          <p:nvPr/>
        </p:nvSpPr>
        <p:spPr>
          <a:xfrm>
            <a:off x="1466850" y="2409825"/>
            <a:ext cx="9677400" cy="0"/>
          </a:xfrm>
          <a:prstGeom prst="line">
            <a:avLst/>
          </a:prstGeom>
          <a:noFill/>
          <a:ln w="9525">
            <a:solidFill>
              <a:srgbClr val="D6DAE0"/>
            </a:solidFill>
            <a:prstDash val="solid"/>
          </a:ln>
        </p:spPr>
      </p:sp>
      <p:sp>
        <p:nvSpPr>
          <p:cNvPr id="15" name="Rectangles 14"/>
          <p:cNvSpPr>
            <a:spLocks noGrp="1"/>
          </p:cNvSpPr>
          <p:nvPr/>
        </p:nvSpPr>
        <p:spPr>
          <a:xfrm>
            <a:off x="895350" y="2619375"/>
            <a:ext cx="419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975" b="1">
                <a:solidFill>
                  <a:srgbClr val="E85D0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1">
                <a:solidFill>
                  <a:srgbClr val="E85D0F"/>
                </a:solidFill>
                <a:latin typeface="Noto Sans CJK SC"/>
                <a:ea typeface="Noto Sans CJK SC"/>
                <a:cs typeface="Noto Sans CJK SC"/>
              </a:rPr>
              <a:t>02</a:t>
            </a:r>
            <a:endParaRPr sz="975" b="1">
              <a:solidFill>
                <a:srgbClr val="E85D0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6" name="Rectangles 15"/>
          <p:cNvSpPr>
            <a:spLocks noGrp="1"/>
          </p:cNvSpPr>
          <p:nvPr/>
        </p:nvSpPr>
        <p:spPr>
          <a:xfrm>
            <a:off x="1466850" y="2600325"/>
            <a:ext cx="22669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350" b="1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rPr>
              <a:t>Attention 默认路径</a:t>
            </a:r>
            <a:endParaRPr sz="1350" b="1">
              <a:solidFill>
                <a:srgbClr val="17191D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7" name="Rectangles 16"/>
          <p:cNvSpPr>
            <a:spLocks noGrp="1"/>
          </p:cNvSpPr>
          <p:nvPr/>
        </p:nvSpPr>
        <p:spPr>
          <a:xfrm>
            <a:off x="3848100" y="2609850"/>
            <a:ext cx="72961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125" b="0">
                <a:solidFill>
                  <a:srgbClr val="62687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626871"/>
                </a:solidFill>
                <a:latin typeface="Noto Sans CJK SC"/>
                <a:ea typeface="Noto Sans CJK SC"/>
                <a:cs typeface="Noto Sans CJK SC"/>
              </a:rPr>
              <a:t>AITER/CK non-split strict core，paged decode 固定 CK 路径</a:t>
            </a:r>
            <a:endParaRPr sz="1125" b="0">
              <a:solidFill>
                <a:srgbClr val="626871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8" name="Straight Connector 17"/>
          <p:cNvSpPr>
            <a:spLocks noGrp="1"/>
          </p:cNvSpPr>
          <p:nvPr/>
        </p:nvSpPr>
        <p:spPr>
          <a:xfrm>
            <a:off x="1466850" y="2971800"/>
            <a:ext cx="9677400" cy="0"/>
          </a:xfrm>
          <a:prstGeom prst="line">
            <a:avLst/>
          </a:prstGeom>
          <a:noFill/>
          <a:ln w="9525">
            <a:solidFill>
              <a:srgbClr val="D6DAE0"/>
            </a:solidFill>
            <a:prstDash val="solid"/>
          </a:ln>
        </p:spPr>
      </p:sp>
      <p:sp>
        <p:nvSpPr>
          <p:cNvPr id="19" name="Rectangles 18"/>
          <p:cNvSpPr>
            <a:spLocks noGrp="1"/>
          </p:cNvSpPr>
          <p:nvPr/>
        </p:nvSpPr>
        <p:spPr>
          <a:xfrm>
            <a:off x="895350" y="3181350"/>
            <a:ext cx="419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975" b="1">
                <a:solidFill>
                  <a:srgbClr val="E85D0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1">
                <a:solidFill>
                  <a:srgbClr val="E85D0F"/>
                </a:solidFill>
                <a:latin typeface="Noto Sans CJK SC"/>
                <a:ea typeface="Noto Sans CJK SC"/>
                <a:cs typeface="Noto Sans CJK SC"/>
              </a:rPr>
              <a:t>03</a:t>
            </a:r>
            <a:endParaRPr sz="975" b="1">
              <a:solidFill>
                <a:srgbClr val="E85D0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0" name="Rectangles 19"/>
          <p:cNvSpPr>
            <a:spLocks noGrp="1"/>
          </p:cNvSpPr>
          <p:nvPr/>
        </p:nvSpPr>
        <p:spPr>
          <a:xfrm>
            <a:off x="1466850" y="3162300"/>
            <a:ext cx="22669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350" b="1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rPr>
              <a:t>Attention 可选路径</a:t>
            </a:r>
            <a:endParaRPr sz="1350" b="1">
              <a:solidFill>
                <a:srgbClr val="17191D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1" name="Rectangles 20"/>
          <p:cNvSpPr>
            <a:spLocks noGrp="1"/>
          </p:cNvSpPr>
          <p:nvPr/>
        </p:nvSpPr>
        <p:spPr>
          <a:xfrm>
            <a:off x="3848100" y="3171825"/>
            <a:ext cx="72961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125" b="0">
                <a:solidFill>
                  <a:srgbClr val="62687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626871"/>
                </a:solidFill>
                <a:latin typeface="Noto Sans CJK SC"/>
                <a:ea typeface="Noto Sans CJK SC"/>
                <a:cs typeface="Noto Sans CJK SC"/>
              </a:rPr>
              <a:t>Triton chunked attention 固定 block、chunk 与 rescale 合并顺序</a:t>
            </a:r>
            <a:endParaRPr sz="1125" b="0">
              <a:solidFill>
                <a:srgbClr val="626871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2" name="Straight Connector 21"/>
          <p:cNvSpPr>
            <a:spLocks noGrp="1"/>
          </p:cNvSpPr>
          <p:nvPr/>
        </p:nvSpPr>
        <p:spPr>
          <a:xfrm>
            <a:off x="1466850" y="3533775"/>
            <a:ext cx="9677400" cy="0"/>
          </a:xfrm>
          <a:prstGeom prst="line">
            <a:avLst/>
          </a:prstGeom>
          <a:noFill/>
          <a:ln w="9525">
            <a:solidFill>
              <a:srgbClr val="D6DAE0"/>
            </a:solidFill>
            <a:prstDash val="solid"/>
          </a:ln>
        </p:spPr>
      </p:sp>
      <p:sp>
        <p:nvSpPr>
          <p:cNvPr id="23" name="Rectangles 22"/>
          <p:cNvSpPr>
            <a:spLocks noGrp="1"/>
          </p:cNvSpPr>
          <p:nvPr/>
        </p:nvSpPr>
        <p:spPr>
          <a:xfrm>
            <a:off x="895350" y="3743325"/>
            <a:ext cx="419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975" b="1">
                <a:solidFill>
                  <a:srgbClr val="E85D0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1">
                <a:solidFill>
                  <a:srgbClr val="E85D0F"/>
                </a:solidFill>
                <a:latin typeface="Noto Sans CJK SC"/>
                <a:ea typeface="Noto Sans CJK SC"/>
                <a:cs typeface="Noto Sans CJK SC"/>
              </a:rPr>
              <a:t>04</a:t>
            </a:r>
            <a:endParaRPr sz="975" b="1">
              <a:solidFill>
                <a:srgbClr val="E85D0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4" name="Rectangles 23"/>
          <p:cNvSpPr>
            <a:spLocks noGrp="1"/>
          </p:cNvSpPr>
          <p:nvPr/>
        </p:nvSpPr>
        <p:spPr>
          <a:xfrm>
            <a:off x="1466850" y="3724275"/>
            <a:ext cx="22669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350" b="1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rPr>
              <a:t>FFN</a:t>
            </a:r>
            <a:endParaRPr sz="1350" b="1">
              <a:solidFill>
                <a:srgbClr val="17191D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5" name="Rectangles 24"/>
          <p:cNvSpPr>
            <a:spLocks noGrp="1"/>
          </p:cNvSpPr>
          <p:nvPr/>
        </p:nvSpPr>
        <p:spPr>
          <a:xfrm>
            <a:off x="3848100" y="3733800"/>
            <a:ext cx="72961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125" b="0">
                <a:solidFill>
                  <a:srgbClr val="62687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626871"/>
                </a:solidFill>
                <a:latin typeface="Noto Sans CJK SC"/>
                <a:ea typeface="Noto Sans CJK SC"/>
                <a:cs typeface="Noto Sans CJK SC"/>
              </a:rPr>
              <a:t>Triton/MFMA 严格 GEMM，依次执行 packed gate/up、SwiGLU 与 down projection</a:t>
            </a:r>
            <a:endParaRPr sz="1125" b="0">
              <a:solidFill>
                <a:srgbClr val="626871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6" name="Straight Connector 25"/>
          <p:cNvSpPr>
            <a:spLocks noGrp="1"/>
          </p:cNvSpPr>
          <p:nvPr/>
        </p:nvSpPr>
        <p:spPr>
          <a:xfrm>
            <a:off x="1466850" y="4095750"/>
            <a:ext cx="9677400" cy="0"/>
          </a:xfrm>
          <a:prstGeom prst="line">
            <a:avLst/>
          </a:prstGeom>
          <a:noFill/>
          <a:ln w="9525">
            <a:solidFill>
              <a:srgbClr val="D6DAE0"/>
            </a:solidFill>
            <a:prstDash val="solid"/>
          </a:ln>
        </p:spPr>
      </p:sp>
      <p:sp>
        <p:nvSpPr>
          <p:cNvPr id="27" name="Rectangles 26"/>
          <p:cNvSpPr>
            <a:spLocks noGrp="1"/>
          </p:cNvSpPr>
          <p:nvPr/>
        </p:nvSpPr>
        <p:spPr>
          <a:xfrm>
            <a:off x="895350" y="4305300"/>
            <a:ext cx="419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975" b="1">
                <a:solidFill>
                  <a:srgbClr val="E85D0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1">
                <a:solidFill>
                  <a:srgbClr val="E85D0F"/>
                </a:solidFill>
                <a:latin typeface="Noto Sans CJK SC"/>
                <a:ea typeface="Noto Sans CJK SC"/>
                <a:cs typeface="Noto Sans CJK SC"/>
              </a:rPr>
              <a:t>05</a:t>
            </a:r>
            <a:endParaRPr sz="975" b="1">
              <a:solidFill>
                <a:srgbClr val="E85D0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8" name="Rectangles 27"/>
          <p:cNvSpPr>
            <a:spLocks noGrp="1"/>
          </p:cNvSpPr>
          <p:nvPr/>
        </p:nvSpPr>
        <p:spPr>
          <a:xfrm>
            <a:off x="1466850" y="4286250"/>
            <a:ext cx="22669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350" b="1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rPr>
              <a:t>LogP</a:t>
            </a:r>
            <a:endParaRPr sz="1350" b="1">
              <a:solidFill>
                <a:srgbClr val="17191D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9" name="Rectangles 28"/>
          <p:cNvSpPr>
            <a:spLocks noGrp="1"/>
          </p:cNvSpPr>
          <p:nvPr/>
        </p:nvSpPr>
        <p:spPr>
          <a:xfrm>
            <a:off x="3848100" y="4295775"/>
            <a:ext cx="72961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125" b="0">
                <a:solidFill>
                  <a:srgbClr val="62687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626871"/>
                </a:solidFill>
                <a:latin typeface="Noto Sans CJK SC"/>
                <a:ea typeface="Noto Sans CJK SC"/>
                <a:cs typeface="Noto Sans CJK SC"/>
              </a:rPr>
              <a:t>各 TP shard 先算局部统计量，再按固定 vocab tile 顺序合并</a:t>
            </a:r>
            <a:endParaRPr sz="1125" b="0">
              <a:solidFill>
                <a:srgbClr val="626871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0" name="Straight Connector 29"/>
          <p:cNvSpPr>
            <a:spLocks noGrp="1"/>
          </p:cNvSpPr>
          <p:nvPr/>
        </p:nvSpPr>
        <p:spPr>
          <a:xfrm>
            <a:off x="1466850" y="4657725"/>
            <a:ext cx="9677400" cy="0"/>
          </a:xfrm>
          <a:prstGeom prst="line">
            <a:avLst/>
          </a:prstGeom>
          <a:noFill/>
          <a:ln w="9525">
            <a:solidFill>
              <a:srgbClr val="D6DAE0"/>
            </a:solidFill>
            <a:prstDash val="solid"/>
          </a:ln>
        </p:spPr>
      </p:sp>
      <p:sp>
        <p:nvSpPr>
          <p:cNvPr id="31" name="Rectangles 30"/>
          <p:cNvSpPr>
            <a:spLocks noGrp="1"/>
          </p:cNvSpPr>
          <p:nvPr/>
        </p:nvSpPr>
        <p:spPr>
          <a:xfrm>
            <a:off x="895350" y="4867275"/>
            <a:ext cx="419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975" b="1">
                <a:solidFill>
                  <a:srgbClr val="E85D0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1">
                <a:solidFill>
                  <a:srgbClr val="E85D0F"/>
                </a:solidFill>
                <a:latin typeface="Noto Sans CJK SC"/>
                <a:ea typeface="Noto Sans CJK SC"/>
                <a:cs typeface="Noto Sans CJK SC"/>
              </a:rPr>
              <a:t>06</a:t>
            </a:r>
            <a:endParaRPr sz="975" b="1">
              <a:solidFill>
                <a:srgbClr val="E85D0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2" name="Rectangles 31"/>
          <p:cNvSpPr>
            <a:spLocks noGrp="1"/>
          </p:cNvSpPr>
          <p:nvPr/>
        </p:nvSpPr>
        <p:spPr>
          <a:xfrm>
            <a:off x="1466850" y="4848225"/>
            <a:ext cx="22669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350" b="1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rPr>
              <a:t>ROCm 通信与执行</a:t>
            </a:r>
            <a:endParaRPr sz="1350" b="1">
              <a:solidFill>
                <a:srgbClr val="17191D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3" name="Rectangles 32"/>
          <p:cNvSpPr>
            <a:spLocks noGrp="1"/>
          </p:cNvSpPr>
          <p:nvPr/>
        </p:nvSpPr>
        <p:spPr>
          <a:xfrm>
            <a:off x="3848100" y="4857750"/>
            <a:ext cx="72961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125" b="0">
                <a:solidFill>
                  <a:srgbClr val="62687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626871"/>
                </a:solidFill>
                <a:latin typeface="Noto Sans CJK SC"/>
                <a:ea typeface="Noto Sans CJK SC"/>
                <a:cs typeface="Noto Sans CJK SC"/>
              </a:rPr>
              <a:t>HIP IPC 与 RCCL 分层传输，本地固定树归约，配合 HIP Graph 与 cache 复用</a:t>
            </a:r>
            <a:endParaRPr sz="1125" b="0">
              <a:solidFill>
                <a:srgbClr val="626871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4" name="Rectangles 33"/>
          <p:cNvSpPr>
            <a:spLocks noGrp="1"/>
          </p:cNvSpPr>
          <p:nvPr/>
        </p:nvSpPr>
        <p:spPr>
          <a:xfrm>
            <a:off x="819150" y="5543550"/>
            <a:ext cx="10439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050" b="0">
                <a:solidFill>
                  <a:srgbClr val="989EA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989EA7"/>
                </a:solidFill>
                <a:latin typeface="Noto Sans CJK SC"/>
                <a:ea typeface="Noto Sans CJK SC"/>
                <a:cs typeface="Noto Sans CJK SC"/>
              </a:rPr>
              <a:t>公开结论仅对应 Qwen3-8B、8×MI300X 和当前并行配置。</a:t>
            </a:r>
            <a:endParaRPr sz="1050" b="0">
              <a:solidFill>
                <a:srgbClr val="989EA7"/>
              </a:solidFill>
              <a:latin typeface="Noto Sans CJK SC"/>
              <a:ea typeface="Noto Sans CJK SC"/>
              <a:cs typeface="Noto Sans CJK SC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7" name="Rectangles 26"/>
          <p:cNvSpPr>
            <a:spLocks noGrp="1"/>
          </p:cNvSpPr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rgbClr val="111111"/>
          </a:solidFill>
          <a:ln w="0">
            <a:noFill/>
            <a:prstDash val="solid"/>
          </a:ln>
        </p:spPr>
      </p:sp>
      <p:sp>
        <p:nvSpPr>
          <p:cNvPr id="2" name="Rectangles 1"/>
          <p:cNvSpPr>
            <a:spLocks noGrp="1"/>
          </p:cNvSpPr>
          <p:nvPr/>
        </p:nvSpPr>
        <p:spPr>
          <a:xfrm>
            <a:off x="0" y="6667500"/>
            <a:ext cx="12192000" cy="190500"/>
          </a:xfrm>
          <a:prstGeom prst="rect">
            <a:avLst/>
          </a:prstGeom>
          <a:solidFill>
            <a:srgbClr val="111111"/>
          </a:solidFill>
          <a:ln w="0">
            <a:noFill/>
            <a:prstDash val="solid"/>
          </a:ln>
        </p:spPr>
      </p:sp>
      <p:sp>
        <p:nvSpPr>
          <p:cNvPr id="3" name="Straight Connector 2"/>
          <p:cNvSpPr>
            <a:spLocks noGrp="1"/>
          </p:cNvSpPr>
          <p:nvPr/>
        </p:nvSpPr>
        <p:spPr>
          <a:xfrm>
            <a:off x="609600" y="342900"/>
            <a:ext cx="0" cy="552450"/>
          </a:xfrm>
          <a:prstGeom prst="line">
            <a:avLst/>
          </a:prstGeom>
          <a:noFill/>
          <a:ln w="28575">
            <a:solidFill>
              <a:srgbClr val="E85D0F"/>
            </a:solidFill>
            <a:prstDash val="solid"/>
          </a:ln>
        </p:spPr>
      </p:sp>
      <p:sp>
        <p:nvSpPr>
          <p:cNvPr id="4" name="Rectangles 3"/>
          <p:cNvSpPr>
            <a:spLocks noGrp="1"/>
          </p:cNvSpPr>
          <p:nvPr/>
        </p:nvSpPr>
        <p:spPr>
          <a:xfrm>
            <a:off x="781050" y="323850"/>
            <a:ext cx="5429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975" b="0">
                <a:solidFill>
                  <a:srgbClr val="62687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626871"/>
                </a:solidFill>
                <a:latin typeface="Noto Sans CJK SC"/>
                <a:ea typeface="Noto Sans CJK SC"/>
                <a:cs typeface="Noto Sans CJK SC"/>
              </a:rPr>
              <a:t>06  ROCm 实践</a:t>
            </a:r>
            <a:endParaRPr sz="975" b="0">
              <a:solidFill>
                <a:srgbClr val="626871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" name="Rectangles 4"/>
          <p:cNvSpPr>
            <a:spLocks noGrp="1"/>
          </p:cNvSpPr>
          <p:nvPr/>
        </p:nvSpPr>
        <p:spPr>
          <a:xfrm>
            <a:off x="781050" y="657225"/>
            <a:ext cx="107632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2700" b="1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700" b="1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rPr>
              <a:t>ROCm MI300X 快速启动</a:t>
            </a:r>
            <a:endParaRPr sz="2700" b="1">
              <a:solidFill>
                <a:srgbClr val="17191D"/>
              </a:solidFill>
              <a:latin typeface="Noto Sans CJK SC"/>
              <a:ea typeface="Noto Sans CJK SC"/>
              <a:cs typeface="Noto Sans CJK SC"/>
            </a:endParaRPr>
          </a:p>
        </p:txBody>
      </p:sp>
      <p:pic>
        <p:nvPicPr>
          <p:cNvPr id="32" name="Picture 3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91750" y="6238875"/>
            <a:ext cx="228600" cy="285750"/>
          </a:xfrm>
          <a:prstGeom prst="rect">
            <a:avLst/>
          </a:prstGeom>
        </p:spPr>
      </p:pic>
      <p:sp>
        <p:nvSpPr>
          <p:cNvPr id="7" name="Rectangles 6"/>
          <p:cNvSpPr>
            <a:spLocks noGrp="1"/>
          </p:cNvSpPr>
          <p:nvPr/>
        </p:nvSpPr>
        <p:spPr>
          <a:xfrm>
            <a:off x="10487025" y="6286500"/>
            <a:ext cx="1047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750" b="1">
                <a:solidFill>
                  <a:srgbClr val="62687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50" b="1">
                <a:solidFill>
                  <a:srgbClr val="626871"/>
                </a:solidFill>
                <a:latin typeface="Noto Sans CJK SC"/>
                <a:ea typeface="Noto Sans CJK SC"/>
                <a:cs typeface="Noto Sans CJK SC"/>
              </a:rPr>
              <a:t>RL-ALIGN</a:t>
            </a:r>
            <a:endParaRPr sz="750" b="1">
              <a:solidFill>
                <a:srgbClr val="626871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8" name="Rectangles 7"/>
          <p:cNvSpPr>
            <a:spLocks noGrp="1"/>
          </p:cNvSpPr>
          <p:nvPr/>
        </p:nvSpPr>
        <p:spPr>
          <a:xfrm>
            <a:off x="609600" y="6343650"/>
            <a:ext cx="4000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750" b="0">
                <a:solidFill>
                  <a:srgbClr val="989EA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50" b="0">
                <a:solidFill>
                  <a:srgbClr val="989EA7"/>
                </a:solidFill>
                <a:latin typeface="Noto Sans CJK SC"/>
                <a:ea typeface="Noto Sans CJK SC"/>
                <a:cs typeface="Noto Sans CJK SC"/>
              </a:rPr>
              <a:t>24</a:t>
            </a:r>
            <a:endParaRPr sz="750" b="0">
              <a:solidFill>
                <a:srgbClr val="989EA7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" name="Rectangles 8"/>
          <p:cNvSpPr>
            <a:spLocks noGrp="1"/>
          </p:cNvSpPr>
          <p:nvPr/>
        </p:nvSpPr>
        <p:spPr>
          <a:xfrm>
            <a:off x="800100" y="1276350"/>
            <a:ext cx="7810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350" b="0">
                <a:solidFill>
                  <a:srgbClr val="62687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626871"/>
                </a:solidFill>
                <a:latin typeface="Noto Sans CJK SC"/>
                <a:ea typeface="Noto Sans CJK SC"/>
                <a:cs typeface="Noto Sans CJK SC"/>
              </a:rPr>
              <a:t>机器差异写入 profile，本次实验参数直接由 CLI 覆盖</a:t>
            </a:r>
            <a:endParaRPr sz="1350" b="0">
              <a:solidFill>
                <a:srgbClr val="626871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" name="Rectangles 9"/>
          <p:cNvSpPr>
            <a:spLocks noGrp="1"/>
          </p:cNvSpPr>
          <p:nvPr/>
        </p:nvSpPr>
        <p:spPr>
          <a:xfrm>
            <a:off x="704850" y="1771650"/>
            <a:ext cx="4381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125" b="1">
                <a:solidFill>
                  <a:srgbClr val="E85D0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E85D0F"/>
                </a:solidFill>
                <a:latin typeface="Noto Sans CJK SC"/>
                <a:ea typeface="Noto Sans CJK SC"/>
                <a:cs typeface="Noto Sans CJK SC"/>
              </a:rPr>
              <a:t>01</a:t>
            </a:r>
            <a:endParaRPr sz="1125" b="1">
              <a:solidFill>
                <a:srgbClr val="E85D0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1" name="Rectangles 10"/>
          <p:cNvSpPr>
            <a:spLocks noGrp="1"/>
          </p:cNvSpPr>
          <p:nvPr/>
        </p:nvSpPr>
        <p:spPr>
          <a:xfrm>
            <a:off x="1200150" y="1752600"/>
            <a:ext cx="4724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275" b="1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rPr>
              <a:t>选择公开的机器 profile</a:t>
            </a:r>
            <a:endParaRPr sz="1275" b="1">
              <a:solidFill>
                <a:srgbClr val="17191D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2" name="Rounded Rectangle 11"/>
          <p:cNvSpPr>
            <a:spLocks noGrp="1"/>
          </p:cNvSpPr>
          <p:nvPr/>
        </p:nvSpPr>
        <p:spPr>
          <a:xfrm>
            <a:off x="1200150" y="2076450"/>
            <a:ext cx="4724400" cy="1428750"/>
          </a:xfrm>
          <a:prstGeom prst="roundRect">
            <a:avLst>
              <a:gd name="adj" fmla="val 4000"/>
            </a:avLst>
          </a:prstGeom>
          <a:solidFill>
            <a:srgbClr val="F6F7F9"/>
          </a:solidFill>
          <a:ln w="9525">
            <a:solidFill>
              <a:srgbClr val="D6DAE0"/>
            </a:solidFill>
            <a:prstDash val="solid"/>
          </a:ln>
        </p:spPr>
      </p:sp>
      <p:sp>
        <p:nvSpPr>
          <p:cNvPr id="13" name="Rectangles 12"/>
          <p:cNvSpPr>
            <a:spLocks noGrp="1"/>
          </p:cNvSpPr>
          <p:nvPr/>
        </p:nvSpPr>
        <p:spPr>
          <a:xfrm>
            <a:off x="1352550" y="2181225"/>
            <a:ext cx="4419600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050" b="0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rPr>
              <a:t>cd /path/to/RL-Kernel</a:t>
            </a:r>
            <a:endParaRPr sz="1050" b="0">
              <a:solidFill>
                <a:srgbClr val="17191D"/>
              </a:solidFill>
              <a:latin typeface="Noto Sans CJK SC"/>
              <a:ea typeface="Noto Sans CJK SC"/>
              <a:cs typeface="Noto Sans CJK SC"/>
            </a:endParaRPr>
          </a:p>
          <a:p>
            <a:pPr algn="l">
              <a:defRPr sz="1050" b="0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rPr>
              <a:t>export PATH="$PWD/bin:/opt/venv/bin:$PATH"</a:t>
            </a:r>
            <a:endParaRPr sz="1050" b="0">
              <a:solidFill>
                <a:srgbClr val="17191D"/>
              </a:solidFill>
              <a:latin typeface="Noto Sans CJK SC"/>
              <a:ea typeface="Noto Sans CJK SC"/>
              <a:cs typeface="Noto Sans CJK SC"/>
            </a:endParaRPr>
          </a:p>
          <a:p>
            <a:pPr algn="l">
              <a:defRPr sz="1050" b="0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rPr>
              <a:t>export RLK_REPRO_PROFILE="$PWD/examples/</a:t>
            </a:r>
            <a:endParaRPr sz="1050" b="0">
              <a:solidFill>
                <a:srgbClr val="17191D"/>
              </a:solidFill>
              <a:latin typeface="Noto Sans CJK SC"/>
              <a:ea typeface="Noto Sans CJK SC"/>
              <a:cs typeface="Noto Sans CJK SC"/>
            </a:endParaRPr>
          </a:p>
          <a:p>
            <a:pPr algn="l">
              <a:defRPr sz="1050" b="0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rPr>
              <a:t>  vime_rocm_attention_ablation/profiles/mi300x-qwen3-8b.json"</a:t>
            </a:r>
            <a:endParaRPr sz="1050" b="0">
              <a:solidFill>
                <a:srgbClr val="17191D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4" name="Rectangles 13"/>
          <p:cNvSpPr>
            <a:spLocks noGrp="1"/>
          </p:cNvSpPr>
          <p:nvPr/>
        </p:nvSpPr>
        <p:spPr>
          <a:xfrm>
            <a:off x="6267450" y="1771650"/>
            <a:ext cx="4381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125" b="1">
                <a:solidFill>
                  <a:srgbClr val="E85D0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E85D0F"/>
                </a:solidFill>
                <a:latin typeface="Noto Sans CJK SC"/>
                <a:ea typeface="Noto Sans CJK SC"/>
                <a:cs typeface="Noto Sans CJK SC"/>
              </a:rPr>
              <a:t>02</a:t>
            </a:r>
            <a:endParaRPr sz="1125" b="1">
              <a:solidFill>
                <a:srgbClr val="E85D0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5" name="Rectangles 14"/>
          <p:cNvSpPr>
            <a:spLocks noGrp="1"/>
          </p:cNvSpPr>
          <p:nvPr/>
        </p:nvSpPr>
        <p:spPr>
          <a:xfrm>
            <a:off x="6762750" y="1752600"/>
            <a:ext cx="4724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275" b="1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rPr>
              <a:t>执行一轮公开配置</a:t>
            </a:r>
            <a:endParaRPr sz="1275" b="1">
              <a:solidFill>
                <a:srgbClr val="17191D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6" name="Rounded Rectangle 15"/>
          <p:cNvSpPr>
            <a:spLocks noGrp="1"/>
          </p:cNvSpPr>
          <p:nvPr/>
        </p:nvSpPr>
        <p:spPr>
          <a:xfrm>
            <a:off x="6762750" y="2076450"/>
            <a:ext cx="4724400" cy="1428750"/>
          </a:xfrm>
          <a:prstGeom prst="roundRect">
            <a:avLst>
              <a:gd name="adj" fmla="val 4000"/>
            </a:avLst>
          </a:prstGeom>
          <a:solidFill>
            <a:srgbClr val="F6F7F9"/>
          </a:solidFill>
          <a:ln w="9525">
            <a:solidFill>
              <a:srgbClr val="D6DAE0"/>
            </a:solidFill>
            <a:prstDash val="solid"/>
          </a:ln>
        </p:spPr>
      </p:sp>
      <p:sp>
        <p:nvSpPr>
          <p:cNvPr id="17" name="Rectangles 16"/>
          <p:cNvSpPr>
            <a:spLocks noGrp="1"/>
          </p:cNvSpPr>
          <p:nvPr/>
        </p:nvSpPr>
        <p:spPr>
          <a:xfrm>
            <a:off x="6915150" y="2181225"/>
            <a:ext cx="4419600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050" b="0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rPr>
              <a:t>./rlk run --tp 2 --rollout-tp 4 \</a:t>
            </a:r>
            <a:endParaRPr sz="1050" b="0">
              <a:solidFill>
                <a:srgbClr val="17191D"/>
              </a:solidFill>
              <a:latin typeface="Noto Sans CJK SC"/>
              <a:ea typeface="Noto Sans CJK SC"/>
              <a:cs typeface="Noto Sans CJK SC"/>
            </a:endParaRPr>
          </a:p>
          <a:p>
            <a:pPr algn="l">
              <a:defRPr sz="1050" b="0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rPr>
              <a:t>  --temperature 0.7 --top-p 0.95 --steps 1</a:t>
            </a:r>
            <a:endParaRPr sz="1050" b="0">
              <a:solidFill>
                <a:srgbClr val="17191D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8" name="Rectangles 17"/>
          <p:cNvSpPr>
            <a:spLocks noGrp="1"/>
          </p:cNvSpPr>
          <p:nvPr/>
        </p:nvSpPr>
        <p:spPr>
          <a:xfrm>
            <a:off x="704850" y="3771900"/>
            <a:ext cx="4381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125" b="1">
                <a:solidFill>
                  <a:srgbClr val="E85D0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E85D0F"/>
                </a:solidFill>
                <a:latin typeface="Noto Sans CJK SC"/>
                <a:ea typeface="Noto Sans CJK SC"/>
                <a:cs typeface="Noto Sans CJK SC"/>
              </a:rPr>
              <a:t>03</a:t>
            </a:r>
            <a:endParaRPr sz="1125" b="1">
              <a:solidFill>
                <a:srgbClr val="E85D0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9" name="Rectangles 18"/>
          <p:cNvSpPr>
            <a:spLocks noGrp="1"/>
          </p:cNvSpPr>
          <p:nvPr/>
        </p:nvSpPr>
        <p:spPr>
          <a:xfrm>
            <a:off x="1200150" y="3752850"/>
            <a:ext cx="4724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275" b="1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rPr>
              <a:t>只用 CLI 改拓扑和采样</a:t>
            </a:r>
            <a:endParaRPr sz="1275" b="1">
              <a:solidFill>
                <a:srgbClr val="17191D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0" name="Rounded Rectangle 19"/>
          <p:cNvSpPr>
            <a:spLocks noGrp="1"/>
          </p:cNvSpPr>
          <p:nvPr/>
        </p:nvSpPr>
        <p:spPr>
          <a:xfrm>
            <a:off x="1200150" y="4076700"/>
            <a:ext cx="4724400" cy="1104900"/>
          </a:xfrm>
          <a:prstGeom prst="roundRect">
            <a:avLst>
              <a:gd name="adj" fmla="val 5172"/>
            </a:avLst>
          </a:prstGeom>
          <a:solidFill>
            <a:srgbClr val="F6F7F9"/>
          </a:solidFill>
          <a:ln w="9525">
            <a:solidFill>
              <a:srgbClr val="D6DAE0"/>
            </a:solidFill>
            <a:prstDash val="solid"/>
          </a:ln>
        </p:spPr>
      </p:sp>
      <p:sp>
        <p:nvSpPr>
          <p:cNvPr id="21" name="Rectangles 20"/>
          <p:cNvSpPr>
            <a:spLocks noGrp="1"/>
          </p:cNvSpPr>
          <p:nvPr/>
        </p:nvSpPr>
        <p:spPr>
          <a:xfrm>
            <a:off x="1352550" y="4181475"/>
            <a:ext cx="44196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050" b="0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rPr>
              <a:t>./rlk run --tp 8 --rollout-tp 4 \</a:t>
            </a:r>
            <a:endParaRPr sz="1050" b="0">
              <a:solidFill>
                <a:srgbClr val="17191D"/>
              </a:solidFill>
              <a:latin typeface="Noto Sans CJK SC"/>
              <a:ea typeface="Noto Sans CJK SC"/>
              <a:cs typeface="Noto Sans CJK SC"/>
            </a:endParaRPr>
          </a:p>
          <a:p>
            <a:pPr algn="l">
              <a:defRPr sz="1050" b="0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rPr>
              <a:t>  --temperature 1.3 --top-p 0.8 --steps 1</a:t>
            </a:r>
            <a:endParaRPr sz="1050" b="0">
              <a:solidFill>
                <a:srgbClr val="17191D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2" name="Rectangles 21"/>
          <p:cNvSpPr>
            <a:spLocks noGrp="1"/>
          </p:cNvSpPr>
          <p:nvPr/>
        </p:nvSpPr>
        <p:spPr>
          <a:xfrm>
            <a:off x="6267450" y="3771900"/>
            <a:ext cx="4381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125" b="1">
                <a:solidFill>
                  <a:srgbClr val="E85D0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E85D0F"/>
                </a:solidFill>
                <a:latin typeface="Noto Sans CJK SC"/>
                <a:ea typeface="Noto Sans CJK SC"/>
                <a:cs typeface="Noto Sans CJK SC"/>
              </a:rPr>
              <a:t>04</a:t>
            </a:r>
            <a:endParaRPr sz="1125" b="1">
              <a:solidFill>
                <a:srgbClr val="E85D0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3" name="Rectangles 22"/>
          <p:cNvSpPr>
            <a:spLocks noGrp="1"/>
          </p:cNvSpPr>
          <p:nvPr/>
        </p:nvSpPr>
        <p:spPr>
          <a:xfrm>
            <a:off x="6762750" y="3752850"/>
            <a:ext cx="4724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275" b="1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rPr>
              <a:t>检查 200-step 启动命令</a:t>
            </a:r>
            <a:endParaRPr sz="1275" b="1">
              <a:solidFill>
                <a:srgbClr val="17191D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4" name="Rounded Rectangle 23"/>
          <p:cNvSpPr>
            <a:spLocks noGrp="1"/>
          </p:cNvSpPr>
          <p:nvPr/>
        </p:nvSpPr>
        <p:spPr>
          <a:xfrm>
            <a:off x="6762750" y="4076700"/>
            <a:ext cx="4724400" cy="1104900"/>
          </a:xfrm>
          <a:prstGeom prst="roundRect">
            <a:avLst>
              <a:gd name="adj" fmla="val 5172"/>
            </a:avLst>
          </a:prstGeom>
          <a:solidFill>
            <a:srgbClr val="F6F7F9"/>
          </a:solidFill>
          <a:ln w="9525">
            <a:solidFill>
              <a:srgbClr val="D6DAE0"/>
            </a:solidFill>
            <a:prstDash val="solid"/>
          </a:ln>
        </p:spPr>
      </p:sp>
      <p:sp>
        <p:nvSpPr>
          <p:cNvPr id="25" name="Rectangles 24"/>
          <p:cNvSpPr>
            <a:spLocks noGrp="1"/>
          </p:cNvSpPr>
          <p:nvPr/>
        </p:nvSpPr>
        <p:spPr>
          <a:xfrm>
            <a:off x="6915150" y="4181475"/>
            <a:ext cx="44196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050" b="0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rPr>
              <a:t>./rlk plan --tp 4 --rollout-tp 2 \</a:t>
            </a:r>
            <a:endParaRPr sz="1050" b="0">
              <a:solidFill>
                <a:srgbClr val="17191D"/>
              </a:solidFill>
              <a:latin typeface="Noto Sans CJK SC"/>
              <a:ea typeface="Noto Sans CJK SC"/>
              <a:cs typeface="Noto Sans CJK SC"/>
            </a:endParaRPr>
          </a:p>
          <a:p>
            <a:pPr algn="l">
              <a:defRPr sz="1050" b="0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rPr>
              <a:t>  --temperature 1 --top-p 1</a:t>
            </a:r>
            <a:endParaRPr sz="1050" b="0">
              <a:solidFill>
                <a:srgbClr val="17191D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6" name="Rectangles 25"/>
          <p:cNvSpPr>
            <a:spLocks noGrp="1"/>
          </p:cNvSpPr>
          <p:nvPr/>
        </p:nvSpPr>
        <p:spPr>
          <a:xfrm>
            <a:off x="1428750" y="5505450"/>
            <a:ext cx="9334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ctr">
              <a:defRPr sz="1275" b="1">
                <a:solidFill>
                  <a:srgbClr val="A8440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A8440D"/>
                </a:solidFill>
                <a:latin typeface="Noto Sans CJK SC"/>
                <a:ea typeface="Noto Sans CJK SC"/>
                <a:cs typeface="Noto Sans CJK SC"/>
              </a:rPr>
              <a:t>profile 保存机器路径和默认配置。显式 CLI 参数覆盖 profile。plan 只检查最终命令，不启动训练。</a:t>
            </a:r>
            <a:endParaRPr sz="1275" b="1">
              <a:solidFill>
                <a:srgbClr val="A8440D"/>
              </a:solidFill>
              <a:latin typeface="Noto Sans CJK SC"/>
              <a:ea typeface="Noto Sans CJK SC"/>
              <a:cs typeface="Noto Sans CJK SC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7" name="Rectangles 16"/>
          <p:cNvSpPr>
            <a:spLocks noGrp="1"/>
          </p:cNvSpPr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rgbClr val="111111"/>
          </a:solidFill>
          <a:ln w="0">
            <a:noFill/>
            <a:prstDash val="solid"/>
          </a:ln>
        </p:spPr>
      </p:sp>
      <p:sp>
        <p:nvSpPr>
          <p:cNvPr id="2" name="Rectangles 1"/>
          <p:cNvSpPr>
            <a:spLocks noGrp="1"/>
          </p:cNvSpPr>
          <p:nvPr/>
        </p:nvSpPr>
        <p:spPr>
          <a:xfrm>
            <a:off x="0" y="6667500"/>
            <a:ext cx="12192000" cy="190500"/>
          </a:xfrm>
          <a:prstGeom prst="rect">
            <a:avLst/>
          </a:prstGeom>
          <a:solidFill>
            <a:srgbClr val="111111"/>
          </a:solidFill>
          <a:ln w="0">
            <a:noFill/>
            <a:prstDash val="solid"/>
          </a:ln>
        </p:spPr>
      </p:sp>
      <p:sp>
        <p:nvSpPr>
          <p:cNvPr id="3" name="Straight Connector 2"/>
          <p:cNvSpPr>
            <a:spLocks noGrp="1"/>
          </p:cNvSpPr>
          <p:nvPr/>
        </p:nvSpPr>
        <p:spPr>
          <a:xfrm>
            <a:off x="609600" y="342900"/>
            <a:ext cx="0" cy="552450"/>
          </a:xfrm>
          <a:prstGeom prst="line">
            <a:avLst/>
          </a:prstGeom>
          <a:noFill/>
          <a:ln w="28575">
            <a:solidFill>
              <a:srgbClr val="E85D0F"/>
            </a:solidFill>
            <a:prstDash val="solid"/>
          </a:ln>
        </p:spPr>
      </p:sp>
      <p:sp>
        <p:nvSpPr>
          <p:cNvPr id="4" name="Rectangles 3"/>
          <p:cNvSpPr>
            <a:spLocks noGrp="1"/>
          </p:cNvSpPr>
          <p:nvPr/>
        </p:nvSpPr>
        <p:spPr>
          <a:xfrm>
            <a:off x="781050" y="323850"/>
            <a:ext cx="5429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975" b="0">
                <a:solidFill>
                  <a:srgbClr val="62687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626871"/>
                </a:solidFill>
                <a:latin typeface="Noto Sans CJK SC"/>
                <a:ea typeface="Noto Sans CJK SC"/>
                <a:cs typeface="Noto Sans CJK SC"/>
              </a:rPr>
              <a:t>07  当前边界</a:t>
            </a:r>
            <a:endParaRPr sz="975" b="0">
              <a:solidFill>
                <a:srgbClr val="626871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" name="Rectangles 4"/>
          <p:cNvSpPr>
            <a:spLocks noGrp="1"/>
          </p:cNvSpPr>
          <p:nvPr/>
        </p:nvSpPr>
        <p:spPr>
          <a:xfrm>
            <a:off x="781050" y="657225"/>
            <a:ext cx="107632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2700" b="1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700" b="1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rPr>
              <a:t>v0.1.0 做了什么，还有哪些待做</a:t>
            </a:r>
            <a:endParaRPr sz="2700" b="1">
              <a:solidFill>
                <a:srgbClr val="17191D"/>
              </a:solidFill>
              <a:latin typeface="Noto Sans CJK SC"/>
              <a:ea typeface="Noto Sans CJK SC"/>
              <a:cs typeface="Noto Sans CJK SC"/>
            </a:endParaRPr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91750" y="6238875"/>
            <a:ext cx="228600" cy="285750"/>
          </a:xfrm>
          <a:prstGeom prst="rect">
            <a:avLst/>
          </a:prstGeom>
        </p:spPr>
      </p:pic>
      <p:sp>
        <p:nvSpPr>
          <p:cNvPr id="7" name="Rectangles 6"/>
          <p:cNvSpPr>
            <a:spLocks noGrp="1"/>
          </p:cNvSpPr>
          <p:nvPr/>
        </p:nvSpPr>
        <p:spPr>
          <a:xfrm>
            <a:off x="10487025" y="6286500"/>
            <a:ext cx="1047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750" b="1">
                <a:solidFill>
                  <a:srgbClr val="62687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50" b="1">
                <a:solidFill>
                  <a:srgbClr val="626871"/>
                </a:solidFill>
                <a:latin typeface="Noto Sans CJK SC"/>
                <a:ea typeface="Noto Sans CJK SC"/>
                <a:cs typeface="Noto Sans CJK SC"/>
              </a:rPr>
              <a:t>RL-ALIGN</a:t>
            </a:r>
            <a:endParaRPr sz="750" b="1">
              <a:solidFill>
                <a:srgbClr val="626871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8" name="Rectangles 7"/>
          <p:cNvSpPr>
            <a:spLocks noGrp="1"/>
          </p:cNvSpPr>
          <p:nvPr/>
        </p:nvSpPr>
        <p:spPr>
          <a:xfrm>
            <a:off x="609600" y="6343650"/>
            <a:ext cx="4000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750" b="0">
                <a:solidFill>
                  <a:srgbClr val="989EA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50" b="0">
                <a:solidFill>
                  <a:srgbClr val="989EA7"/>
                </a:solidFill>
                <a:latin typeface="Noto Sans CJK SC"/>
                <a:ea typeface="Noto Sans CJK SC"/>
                <a:cs typeface="Noto Sans CJK SC"/>
              </a:rPr>
              <a:t>25</a:t>
            </a:r>
            <a:endParaRPr sz="750" b="0">
              <a:solidFill>
                <a:srgbClr val="989EA7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" name="Rounded Rectangle 8"/>
          <p:cNvSpPr>
            <a:spLocks noGrp="1"/>
          </p:cNvSpPr>
          <p:nvPr/>
        </p:nvSpPr>
        <p:spPr>
          <a:xfrm>
            <a:off x="742950" y="1657350"/>
            <a:ext cx="4953000" cy="34290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D6DAE0"/>
            </a:solidFill>
            <a:prstDash val="solid"/>
          </a:ln>
        </p:spPr>
      </p:sp>
      <p:sp>
        <p:nvSpPr>
          <p:cNvPr id="10" name="Rectangles 9"/>
          <p:cNvSpPr>
            <a:spLocks noGrp="1"/>
          </p:cNvSpPr>
          <p:nvPr/>
        </p:nvSpPr>
        <p:spPr>
          <a:xfrm>
            <a:off x="742950" y="1657350"/>
            <a:ext cx="57150" cy="3429000"/>
          </a:xfrm>
          <a:prstGeom prst="rect">
            <a:avLst/>
          </a:prstGeom>
          <a:solidFill>
            <a:srgbClr val="16895A"/>
          </a:solidFill>
          <a:ln w="0">
            <a:noFill/>
            <a:prstDash val="solid"/>
          </a:ln>
        </p:spPr>
      </p:sp>
      <p:sp>
        <p:nvSpPr>
          <p:cNvPr id="11" name="Rectangles 10"/>
          <p:cNvSpPr>
            <a:spLocks noGrp="1"/>
          </p:cNvSpPr>
          <p:nvPr/>
        </p:nvSpPr>
        <p:spPr>
          <a:xfrm>
            <a:off x="952500" y="1885950"/>
            <a:ext cx="45339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725" b="1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rPr>
              <a:t>已完成验证</a:t>
            </a:r>
            <a:endParaRPr sz="1725" b="1">
              <a:solidFill>
                <a:srgbClr val="17191D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2" name="Rectangles 11"/>
          <p:cNvSpPr>
            <a:spLocks noGrp="1"/>
          </p:cNvSpPr>
          <p:nvPr/>
        </p:nvSpPr>
        <p:spPr>
          <a:xfrm>
            <a:off x="952500" y="2324100"/>
            <a:ext cx="4533900" cy="2628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200" b="0">
                <a:solidFill>
                  <a:srgbClr val="62687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626871"/>
                </a:solidFill>
                <a:latin typeface="Noto Sans CJK SC"/>
                <a:ea typeface="Noto Sans CJK SC"/>
                <a:cs typeface="Noto Sans CJK SC"/>
              </a:rPr>
              <a:t>200 个训练 step：LogP mismatch 为 0</a:t>
            </a:r>
            <a:endParaRPr sz="1200" b="0">
              <a:solidFill>
                <a:srgbClr val="626871"/>
              </a:solidFill>
              <a:latin typeface="Noto Sans CJK SC"/>
              <a:ea typeface="Noto Sans CJK SC"/>
              <a:cs typeface="Noto Sans CJK SC"/>
            </a:endParaRPr>
          </a:p>
          <a:p>
            <a:endParaRPr sz="1200"/>
          </a:p>
          <a:p>
            <a:pPr algn="l">
              <a:defRPr sz="1200" b="0">
                <a:solidFill>
                  <a:srgbClr val="62687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626871"/>
                </a:solidFill>
                <a:latin typeface="Noto Sans CJK SC"/>
                <a:ea typeface="Noto Sans CJK SC"/>
                <a:cs typeface="Noto Sans CJK SC"/>
              </a:rPr>
              <a:t>CUDA 与 ROCm：公开曲线和运行记录</a:t>
            </a:r>
            <a:endParaRPr sz="1200" b="0">
              <a:solidFill>
                <a:srgbClr val="626871"/>
              </a:solidFill>
              <a:latin typeface="Noto Sans CJK SC"/>
              <a:ea typeface="Noto Sans CJK SC"/>
              <a:cs typeface="Noto Sans CJK SC"/>
            </a:endParaRPr>
          </a:p>
          <a:p>
            <a:endParaRPr sz="1200"/>
          </a:p>
          <a:p>
            <a:pPr algn="l">
              <a:defRPr sz="1200" b="0">
                <a:solidFill>
                  <a:srgbClr val="62687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626871"/>
                </a:solidFill>
                <a:latin typeface="Noto Sans CJK SC"/>
                <a:ea typeface="Noto Sans CJK SC"/>
                <a:cs typeface="Noto Sans CJK SC"/>
              </a:rPr>
              <a:t>vLLM 与 Megatron-LM：selected-token LogP 对齐</a:t>
            </a:r>
            <a:endParaRPr sz="1200" b="0">
              <a:solidFill>
                <a:srgbClr val="626871"/>
              </a:solidFill>
              <a:latin typeface="Noto Sans CJK SC"/>
              <a:ea typeface="Noto Sans CJK SC"/>
              <a:cs typeface="Noto Sans CJK SC"/>
            </a:endParaRPr>
          </a:p>
          <a:p>
            <a:endParaRPr sz="1200"/>
          </a:p>
          <a:p>
            <a:pPr algn="l">
              <a:defRPr sz="1200" b="0">
                <a:solidFill>
                  <a:srgbClr val="62687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626871"/>
                </a:solidFill>
                <a:latin typeface="Noto Sans CJK SC"/>
                <a:ea typeface="Noto Sans CJK SC"/>
                <a:cs typeface="Noto Sans CJK SC"/>
              </a:rPr>
              <a:t>Qwen3-8B Dense：提供单机快速启动</a:t>
            </a:r>
            <a:endParaRPr sz="1200" b="0">
              <a:solidFill>
                <a:srgbClr val="626871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3" name="Rounded Rectangle 12"/>
          <p:cNvSpPr>
            <a:spLocks noGrp="1"/>
          </p:cNvSpPr>
          <p:nvPr/>
        </p:nvSpPr>
        <p:spPr>
          <a:xfrm>
            <a:off x="6496050" y="1657350"/>
            <a:ext cx="4953000" cy="34290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D6DAE0"/>
            </a:solidFill>
            <a:prstDash val="solid"/>
          </a:ln>
        </p:spPr>
      </p:sp>
      <p:sp>
        <p:nvSpPr>
          <p:cNvPr id="14" name="Rectangles 13"/>
          <p:cNvSpPr>
            <a:spLocks noGrp="1"/>
          </p:cNvSpPr>
          <p:nvPr/>
        </p:nvSpPr>
        <p:spPr>
          <a:xfrm>
            <a:off x="6496050" y="1657350"/>
            <a:ext cx="57150" cy="3429000"/>
          </a:xfrm>
          <a:prstGeom prst="rect">
            <a:avLst/>
          </a:prstGeom>
          <a:solidFill>
            <a:srgbClr val="E85D0F"/>
          </a:solidFill>
          <a:ln w="0">
            <a:noFill/>
            <a:prstDash val="solid"/>
          </a:ln>
        </p:spPr>
      </p:sp>
      <p:sp>
        <p:nvSpPr>
          <p:cNvPr id="15" name="Rectangles 14"/>
          <p:cNvSpPr>
            <a:spLocks noGrp="1"/>
          </p:cNvSpPr>
          <p:nvPr/>
        </p:nvSpPr>
        <p:spPr>
          <a:xfrm>
            <a:off x="6705600" y="1885950"/>
            <a:ext cx="45339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725" b="1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rPr>
              <a:t>仍需验证</a:t>
            </a:r>
            <a:endParaRPr sz="1725" b="1">
              <a:solidFill>
                <a:srgbClr val="17191D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6" name="Rectangles 15"/>
          <p:cNvSpPr>
            <a:spLocks noGrp="1"/>
          </p:cNvSpPr>
          <p:nvPr/>
        </p:nvSpPr>
        <p:spPr>
          <a:xfrm>
            <a:off x="6705600" y="2324100"/>
            <a:ext cx="4533900" cy="2628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200" b="0">
                <a:solidFill>
                  <a:srgbClr val="62687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626871"/>
                </a:solidFill>
                <a:latin typeface="Noto Sans CJK SC"/>
                <a:ea typeface="Noto Sans CJK SC"/>
                <a:cs typeface="Noto Sans CJK SC"/>
              </a:rPr>
              <a:t>消除 LogP mismatch 后，训练收益是否稳定提升</a:t>
            </a:r>
            <a:endParaRPr sz="1200" b="0">
              <a:solidFill>
                <a:srgbClr val="626871"/>
              </a:solidFill>
              <a:latin typeface="Noto Sans CJK SC"/>
              <a:ea typeface="Noto Sans CJK SC"/>
              <a:cs typeface="Noto Sans CJK SC"/>
            </a:endParaRPr>
          </a:p>
          <a:p>
            <a:endParaRPr sz="1200"/>
          </a:p>
          <a:p>
            <a:pPr algn="l">
              <a:defRPr sz="1200" b="0">
                <a:solidFill>
                  <a:srgbClr val="62687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626871"/>
                </a:solidFill>
                <a:latin typeface="Noto Sans CJK SC"/>
                <a:ea typeface="Noto Sans CJK SC"/>
                <a:cs typeface="Noto Sans CJK SC"/>
              </a:rPr>
              <a:t>MoE、多模态和多机</a:t>
            </a:r>
            <a:endParaRPr sz="1200" b="0">
              <a:solidFill>
                <a:srgbClr val="626871"/>
              </a:solidFill>
              <a:latin typeface="Noto Sans CJK SC"/>
              <a:ea typeface="Noto Sans CJK SC"/>
              <a:cs typeface="Noto Sans CJK SC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1" name="Rectangles 40"/>
          <p:cNvSpPr>
            <a:spLocks noGrp="1"/>
          </p:cNvSpPr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rgbClr val="111111"/>
          </a:solidFill>
          <a:ln w="0">
            <a:noFill/>
            <a:prstDash val="solid"/>
          </a:ln>
        </p:spPr>
      </p:sp>
      <p:sp>
        <p:nvSpPr>
          <p:cNvPr id="2" name="Rectangles 1"/>
          <p:cNvSpPr>
            <a:spLocks noGrp="1"/>
          </p:cNvSpPr>
          <p:nvPr/>
        </p:nvSpPr>
        <p:spPr>
          <a:xfrm>
            <a:off x="0" y="6667500"/>
            <a:ext cx="12192000" cy="190500"/>
          </a:xfrm>
          <a:prstGeom prst="rect">
            <a:avLst/>
          </a:prstGeom>
          <a:solidFill>
            <a:srgbClr val="111111"/>
          </a:solidFill>
          <a:ln w="0">
            <a:noFill/>
            <a:prstDash val="solid"/>
          </a:ln>
        </p:spPr>
      </p:sp>
      <p:sp>
        <p:nvSpPr>
          <p:cNvPr id="3" name="Straight Connector 2"/>
          <p:cNvSpPr>
            <a:spLocks noGrp="1"/>
          </p:cNvSpPr>
          <p:nvPr/>
        </p:nvSpPr>
        <p:spPr>
          <a:xfrm>
            <a:off x="609600" y="342900"/>
            <a:ext cx="0" cy="552450"/>
          </a:xfrm>
          <a:prstGeom prst="line">
            <a:avLst/>
          </a:prstGeom>
          <a:noFill/>
          <a:ln w="28575">
            <a:solidFill>
              <a:srgbClr val="E85D0F"/>
            </a:solidFill>
            <a:prstDash val="solid"/>
          </a:ln>
        </p:spPr>
      </p:sp>
      <p:sp>
        <p:nvSpPr>
          <p:cNvPr id="4" name="Rectangles 3"/>
          <p:cNvSpPr>
            <a:spLocks noGrp="1"/>
          </p:cNvSpPr>
          <p:nvPr/>
        </p:nvSpPr>
        <p:spPr>
          <a:xfrm>
            <a:off x="781050" y="323850"/>
            <a:ext cx="5429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975" b="0">
                <a:solidFill>
                  <a:srgbClr val="62687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626871"/>
                </a:solidFill>
                <a:latin typeface="Noto Sans CJK SC"/>
                <a:ea typeface="Noto Sans CJK SC"/>
                <a:cs typeface="Noto Sans CJK SC"/>
              </a:rPr>
              <a:t>08  下一步</a:t>
            </a:r>
            <a:endParaRPr sz="975" b="0">
              <a:solidFill>
                <a:srgbClr val="626871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" name="Rectangles 4"/>
          <p:cNvSpPr>
            <a:spLocks noGrp="1"/>
          </p:cNvSpPr>
          <p:nvPr/>
        </p:nvSpPr>
        <p:spPr>
          <a:xfrm>
            <a:off x="781050" y="657225"/>
            <a:ext cx="107632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2700" b="1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700" b="1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rPr>
              <a:t>下一阶段接入计划</a:t>
            </a:r>
            <a:endParaRPr sz="2700" b="1">
              <a:solidFill>
                <a:srgbClr val="17191D"/>
              </a:solidFill>
              <a:latin typeface="Noto Sans CJK SC"/>
              <a:ea typeface="Noto Sans CJK SC"/>
              <a:cs typeface="Noto Sans CJK SC"/>
            </a:endParaRPr>
          </a:p>
        </p:txBody>
      </p:sp>
      <p:pic>
        <p:nvPicPr>
          <p:cNvPr id="46" name="Picture 4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91750" y="6238875"/>
            <a:ext cx="228600" cy="285750"/>
          </a:xfrm>
          <a:prstGeom prst="rect">
            <a:avLst/>
          </a:prstGeom>
        </p:spPr>
      </p:pic>
      <p:sp>
        <p:nvSpPr>
          <p:cNvPr id="7" name="Rectangles 6"/>
          <p:cNvSpPr>
            <a:spLocks noGrp="1"/>
          </p:cNvSpPr>
          <p:nvPr/>
        </p:nvSpPr>
        <p:spPr>
          <a:xfrm>
            <a:off x="10487025" y="6286500"/>
            <a:ext cx="1047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750" b="1">
                <a:solidFill>
                  <a:srgbClr val="62687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50" b="1">
                <a:solidFill>
                  <a:srgbClr val="626871"/>
                </a:solidFill>
                <a:latin typeface="Noto Sans CJK SC"/>
                <a:ea typeface="Noto Sans CJK SC"/>
                <a:cs typeface="Noto Sans CJK SC"/>
              </a:rPr>
              <a:t>RL-ALIGN</a:t>
            </a:r>
            <a:endParaRPr sz="750" b="1">
              <a:solidFill>
                <a:srgbClr val="626871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8" name="Rectangles 7"/>
          <p:cNvSpPr>
            <a:spLocks noGrp="1"/>
          </p:cNvSpPr>
          <p:nvPr/>
        </p:nvSpPr>
        <p:spPr>
          <a:xfrm>
            <a:off x="609600" y="6343650"/>
            <a:ext cx="4000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750" b="0">
                <a:solidFill>
                  <a:srgbClr val="989EA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50" b="0">
                <a:solidFill>
                  <a:srgbClr val="989EA7"/>
                </a:solidFill>
                <a:latin typeface="Noto Sans CJK SC"/>
                <a:ea typeface="Noto Sans CJK SC"/>
                <a:cs typeface="Noto Sans CJK SC"/>
              </a:rPr>
              <a:t>26</a:t>
            </a:r>
            <a:endParaRPr sz="750" b="0">
              <a:solidFill>
                <a:srgbClr val="989EA7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" name="Rounded Rectangle 8"/>
          <p:cNvSpPr>
            <a:spLocks noGrp="1"/>
          </p:cNvSpPr>
          <p:nvPr/>
        </p:nvSpPr>
        <p:spPr>
          <a:xfrm>
            <a:off x="723900" y="1809750"/>
            <a:ext cx="2762250" cy="308610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9525">
            <a:solidFill>
              <a:srgbClr val="D6DAE0"/>
            </a:solidFill>
            <a:prstDash val="solid"/>
          </a:ln>
        </p:spPr>
      </p:sp>
      <p:sp>
        <p:nvSpPr>
          <p:cNvPr id="10" name="Rectangles 9"/>
          <p:cNvSpPr>
            <a:spLocks noGrp="1"/>
          </p:cNvSpPr>
          <p:nvPr/>
        </p:nvSpPr>
        <p:spPr>
          <a:xfrm>
            <a:off x="723900" y="1809750"/>
            <a:ext cx="57150" cy="3086100"/>
          </a:xfrm>
          <a:prstGeom prst="rect">
            <a:avLst/>
          </a:prstGeom>
          <a:solidFill>
            <a:srgbClr val="16895A"/>
          </a:solidFill>
          <a:ln w="0">
            <a:noFill/>
            <a:prstDash val="solid"/>
          </a:ln>
        </p:spPr>
      </p:sp>
      <p:sp>
        <p:nvSpPr>
          <p:cNvPr id="11" name="Rectangles 10"/>
          <p:cNvSpPr>
            <a:spLocks noGrp="1"/>
          </p:cNvSpPr>
          <p:nvPr/>
        </p:nvSpPr>
        <p:spPr>
          <a:xfrm>
            <a:off x="1028700" y="2114550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125" b="1">
                <a:solidFill>
                  <a:srgbClr val="16895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16895A"/>
                </a:solidFill>
                <a:latin typeface="Noto Sans CJK SC"/>
                <a:ea typeface="Noto Sans CJK SC"/>
                <a:cs typeface="Noto Sans CJK SC"/>
              </a:rPr>
              <a:t>01</a:t>
            </a:r>
            <a:endParaRPr sz="1125" b="1">
              <a:solidFill>
                <a:srgbClr val="16895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2" name="Rectangles 11"/>
          <p:cNvSpPr>
            <a:spLocks noGrp="1"/>
          </p:cNvSpPr>
          <p:nvPr/>
        </p:nvSpPr>
        <p:spPr>
          <a:xfrm>
            <a:off x="1562100" y="2095500"/>
            <a:ext cx="1295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200" b="1">
                <a:solidFill>
                  <a:srgbClr val="16895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16895A"/>
                </a:solidFill>
                <a:latin typeface="Noto Sans CJK SC"/>
                <a:ea typeface="Noto Sans CJK SC"/>
                <a:cs typeface="Noto Sans CJK SC"/>
              </a:rPr>
              <a:t>当前路径</a:t>
            </a:r>
            <a:endParaRPr sz="1200" b="1">
              <a:solidFill>
                <a:srgbClr val="16895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3" name="Rectangles 12"/>
          <p:cNvSpPr>
            <a:spLocks noGrp="1"/>
          </p:cNvSpPr>
          <p:nvPr/>
        </p:nvSpPr>
        <p:spPr>
          <a:xfrm>
            <a:off x="1028700" y="2667000"/>
            <a:ext cx="2000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2100" b="1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rPr>
              <a:t>Dense</a:t>
            </a:r>
            <a:endParaRPr sz="2100" b="1">
              <a:solidFill>
                <a:srgbClr val="17191D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4" name="Rectangles 13"/>
          <p:cNvSpPr>
            <a:spLocks noGrp="1"/>
          </p:cNvSpPr>
          <p:nvPr/>
        </p:nvSpPr>
        <p:spPr>
          <a:xfrm>
            <a:off x="1028700" y="3333750"/>
            <a:ext cx="20383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275" b="0">
                <a:solidFill>
                  <a:srgbClr val="62687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626871"/>
                </a:solidFill>
                <a:latin typeface="Noto Sans CJK SC"/>
                <a:ea typeface="Noto Sans CJK SC"/>
                <a:cs typeface="Noto Sans CJK SC"/>
              </a:rPr>
              <a:t>CUDA / ROCm</a:t>
            </a:r>
            <a:endParaRPr sz="1275" b="0">
              <a:solidFill>
                <a:srgbClr val="626871"/>
              </a:solidFill>
              <a:latin typeface="Noto Sans CJK SC"/>
              <a:ea typeface="Noto Sans CJK SC"/>
              <a:cs typeface="Noto Sans CJK SC"/>
            </a:endParaRPr>
          </a:p>
          <a:p>
            <a:pPr algn="l">
              <a:defRPr sz="1275" b="0">
                <a:solidFill>
                  <a:srgbClr val="62687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626871"/>
                </a:solidFill>
                <a:latin typeface="Noto Sans CJK SC"/>
                <a:ea typeface="Noto Sans CJK SC"/>
                <a:cs typeface="Noto Sans CJK SC"/>
              </a:rPr>
              <a:t>已完成公开验证</a:t>
            </a:r>
            <a:endParaRPr sz="1275" b="0">
              <a:solidFill>
                <a:srgbClr val="626871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5" name="Straight Connector 14"/>
          <p:cNvSpPr>
            <a:spLocks noGrp="1"/>
          </p:cNvSpPr>
          <p:nvPr/>
        </p:nvSpPr>
        <p:spPr>
          <a:xfrm>
            <a:off x="3486150" y="3352800"/>
            <a:ext cx="552450" cy="0"/>
          </a:xfrm>
          <a:prstGeom prst="line">
            <a:avLst/>
          </a:prstGeom>
          <a:noFill/>
          <a:ln w="28575">
            <a:solidFill>
              <a:srgbClr val="D6DAE0"/>
            </a:solidFill>
            <a:prstDash val="solid"/>
          </a:ln>
        </p:spPr>
      </p:sp>
      <p:sp>
        <p:nvSpPr>
          <p:cNvPr id="16" name="Straight Connector 15"/>
          <p:cNvSpPr>
            <a:spLocks noGrp="1"/>
          </p:cNvSpPr>
          <p:nvPr/>
        </p:nvSpPr>
        <p:spPr>
          <a:xfrm>
            <a:off x="4038600" y="1952625"/>
            <a:ext cx="0" cy="2800350"/>
          </a:xfrm>
          <a:prstGeom prst="line">
            <a:avLst/>
          </a:prstGeom>
          <a:noFill/>
          <a:ln w="28575">
            <a:solidFill>
              <a:srgbClr val="D6DAE0"/>
            </a:solidFill>
            <a:prstDash val="solid"/>
          </a:ln>
        </p:spPr>
      </p:sp>
      <p:sp>
        <p:nvSpPr>
          <p:cNvPr id="17" name="Straight Connector 16"/>
          <p:cNvSpPr>
            <a:spLocks noGrp="1"/>
          </p:cNvSpPr>
          <p:nvPr/>
        </p:nvSpPr>
        <p:spPr>
          <a:xfrm>
            <a:off x="4038600" y="2038350"/>
            <a:ext cx="514350" cy="0"/>
          </a:xfrm>
          <a:prstGeom prst="line">
            <a:avLst/>
          </a:prstGeom>
          <a:noFill/>
          <a:ln w="19050">
            <a:solidFill>
              <a:srgbClr val="D6DAE0"/>
            </a:solidFill>
            <a:prstDash val="solid"/>
          </a:ln>
        </p:spPr>
      </p:sp>
      <p:sp>
        <p:nvSpPr>
          <p:cNvPr id="18" name="Oval 17"/>
          <p:cNvSpPr>
            <a:spLocks noGrp="1"/>
          </p:cNvSpPr>
          <p:nvPr/>
        </p:nvSpPr>
        <p:spPr>
          <a:xfrm>
            <a:off x="4552950" y="1657350"/>
            <a:ext cx="762000" cy="762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85D0F"/>
            </a:solidFill>
            <a:prstDash val="solid"/>
          </a:ln>
        </p:spPr>
      </p:sp>
      <p:sp>
        <p:nvSpPr>
          <p:cNvPr id="19" name="Rectangles 18"/>
          <p:cNvSpPr>
            <a:spLocks noGrp="1"/>
          </p:cNvSpPr>
          <p:nvPr/>
        </p:nvSpPr>
        <p:spPr>
          <a:xfrm>
            <a:off x="4552950" y="1866900"/>
            <a:ext cx="762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ctr">
              <a:defRPr sz="1500" b="1">
                <a:solidFill>
                  <a:srgbClr val="E85D0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E85D0F"/>
                </a:solidFill>
                <a:latin typeface="Noto Sans CJK SC"/>
                <a:ea typeface="Noto Sans CJK SC"/>
                <a:cs typeface="Noto Sans CJK SC"/>
              </a:rPr>
              <a:t>02</a:t>
            </a:r>
            <a:endParaRPr sz="1500" b="1">
              <a:solidFill>
                <a:srgbClr val="E85D0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0" name="Rectangles 19"/>
          <p:cNvSpPr>
            <a:spLocks noGrp="1"/>
          </p:cNvSpPr>
          <p:nvPr/>
        </p:nvSpPr>
        <p:spPr>
          <a:xfrm>
            <a:off x="5619750" y="1704975"/>
            <a:ext cx="2952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725" b="1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rPr>
              <a:t>DeepSeek-V4</a:t>
            </a:r>
            <a:endParaRPr sz="1725" b="1">
              <a:solidFill>
                <a:srgbClr val="17191D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1" name="Rectangles 20"/>
          <p:cNvSpPr>
            <a:spLocks noGrp="1"/>
          </p:cNvSpPr>
          <p:nvPr/>
        </p:nvSpPr>
        <p:spPr>
          <a:xfrm>
            <a:off x="5619750" y="2076450"/>
            <a:ext cx="476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200" b="0">
                <a:solidFill>
                  <a:srgbClr val="62687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626871"/>
                </a:solidFill>
                <a:latin typeface="Noto Sans CJK SC"/>
                <a:ea typeface="Noto Sans CJK SC"/>
                <a:cs typeface="Noto Sans CJK SC"/>
              </a:rPr>
              <a:t>Flash MoE 开发中</a:t>
            </a:r>
            <a:endParaRPr sz="1200" b="0">
              <a:solidFill>
                <a:srgbClr val="626871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2" name="Straight Connector 21"/>
          <p:cNvSpPr>
            <a:spLocks noGrp="1"/>
          </p:cNvSpPr>
          <p:nvPr/>
        </p:nvSpPr>
        <p:spPr>
          <a:xfrm>
            <a:off x="5619750" y="2495550"/>
            <a:ext cx="5448300" cy="0"/>
          </a:xfrm>
          <a:prstGeom prst="line">
            <a:avLst/>
          </a:prstGeom>
          <a:noFill/>
          <a:ln w="9525">
            <a:solidFill>
              <a:srgbClr val="D6DAE0"/>
            </a:solidFill>
            <a:prstDash val="solid"/>
          </a:ln>
        </p:spPr>
      </p:sp>
      <p:sp>
        <p:nvSpPr>
          <p:cNvPr id="23" name="Straight Connector 22"/>
          <p:cNvSpPr>
            <a:spLocks noGrp="1"/>
          </p:cNvSpPr>
          <p:nvPr/>
        </p:nvSpPr>
        <p:spPr>
          <a:xfrm>
            <a:off x="4038600" y="2990850"/>
            <a:ext cx="514350" cy="0"/>
          </a:xfrm>
          <a:prstGeom prst="line">
            <a:avLst/>
          </a:prstGeom>
          <a:noFill/>
          <a:ln w="19050">
            <a:solidFill>
              <a:srgbClr val="D6DAE0"/>
            </a:solidFill>
            <a:prstDash val="solid"/>
          </a:ln>
        </p:spPr>
      </p:sp>
      <p:sp>
        <p:nvSpPr>
          <p:cNvPr id="24" name="Oval 23"/>
          <p:cNvSpPr>
            <a:spLocks noGrp="1"/>
          </p:cNvSpPr>
          <p:nvPr/>
        </p:nvSpPr>
        <p:spPr>
          <a:xfrm>
            <a:off x="4552950" y="2609850"/>
            <a:ext cx="762000" cy="762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85D0F"/>
            </a:solidFill>
            <a:prstDash val="solid"/>
          </a:ln>
        </p:spPr>
      </p:sp>
      <p:sp>
        <p:nvSpPr>
          <p:cNvPr id="25" name="Rectangles 24"/>
          <p:cNvSpPr>
            <a:spLocks noGrp="1"/>
          </p:cNvSpPr>
          <p:nvPr/>
        </p:nvSpPr>
        <p:spPr>
          <a:xfrm>
            <a:off x="4552950" y="2819400"/>
            <a:ext cx="762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ctr">
              <a:defRPr sz="1500" b="1">
                <a:solidFill>
                  <a:srgbClr val="E85D0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E85D0F"/>
                </a:solidFill>
                <a:latin typeface="Noto Sans CJK SC"/>
                <a:ea typeface="Noto Sans CJK SC"/>
                <a:cs typeface="Noto Sans CJK SC"/>
              </a:rPr>
              <a:t>03</a:t>
            </a:r>
            <a:endParaRPr sz="1500" b="1">
              <a:solidFill>
                <a:srgbClr val="E85D0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6" name="Rectangles 25"/>
          <p:cNvSpPr>
            <a:spLocks noGrp="1"/>
          </p:cNvSpPr>
          <p:nvPr/>
        </p:nvSpPr>
        <p:spPr>
          <a:xfrm>
            <a:off x="5619750" y="2657475"/>
            <a:ext cx="2952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725" b="1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rPr>
              <a:t>Gemma / Qwen3-Next</a:t>
            </a:r>
            <a:endParaRPr sz="1725" b="1">
              <a:solidFill>
                <a:srgbClr val="17191D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7" name="Rectangles 26"/>
          <p:cNvSpPr>
            <a:spLocks noGrp="1"/>
          </p:cNvSpPr>
          <p:nvPr/>
        </p:nvSpPr>
        <p:spPr>
          <a:xfrm>
            <a:off x="5619750" y="3028950"/>
            <a:ext cx="476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200" b="0">
                <a:solidFill>
                  <a:srgbClr val="62687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626871"/>
                </a:solidFill>
                <a:latin typeface="Noto Sans CJK SC"/>
                <a:ea typeface="Noto Sans CJK SC"/>
                <a:cs typeface="Noto Sans CJK SC"/>
              </a:rPr>
              <a:t>模型与算子 RFC</a:t>
            </a:r>
            <a:endParaRPr sz="1200" b="0">
              <a:solidFill>
                <a:srgbClr val="626871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8" name="Straight Connector 27"/>
          <p:cNvSpPr>
            <a:spLocks noGrp="1"/>
          </p:cNvSpPr>
          <p:nvPr/>
        </p:nvSpPr>
        <p:spPr>
          <a:xfrm>
            <a:off x="5619750" y="3448050"/>
            <a:ext cx="5448300" cy="0"/>
          </a:xfrm>
          <a:prstGeom prst="line">
            <a:avLst/>
          </a:prstGeom>
          <a:noFill/>
          <a:ln w="9525">
            <a:solidFill>
              <a:srgbClr val="D6DAE0"/>
            </a:solidFill>
            <a:prstDash val="solid"/>
          </a:ln>
        </p:spPr>
      </p:sp>
      <p:sp>
        <p:nvSpPr>
          <p:cNvPr id="29" name="Straight Connector 28"/>
          <p:cNvSpPr>
            <a:spLocks noGrp="1"/>
          </p:cNvSpPr>
          <p:nvPr/>
        </p:nvSpPr>
        <p:spPr>
          <a:xfrm>
            <a:off x="4038600" y="3943350"/>
            <a:ext cx="514350" cy="0"/>
          </a:xfrm>
          <a:prstGeom prst="line">
            <a:avLst/>
          </a:prstGeom>
          <a:noFill/>
          <a:ln w="19050">
            <a:solidFill>
              <a:srgbClr val="D6DAE0"/>
            </a:solidFill>
            <a:prstDash val="solid"/>
          </a:ln>
        </p:spPr>
      </p:sp>
      <p:sp>
        <p:nvSpPr>
          <p:cNvPr id="30" name="Oval 29"/>
          <p:cNvSpPr>
            <a:spLocks noGrp="1"/>
          </p:cNvSpPr>
          <p:nvPr/>
        </p:nvSpPr>
        <p:spPr>
          <a:xfrm>
            <a:off x="4552950" y="3562350"/>
            <a:ext cx="762000" cy="762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85D0F"/>
            </a:solidFill>
            <a:prstDash val="solid"/>
          </a:ln>
        </p:spPr>
      </p:sp>
      <p:sp>
        <p:nvSpPr>
          <p:cNvPr id="31" name="Rectangles 30"/>
          <p:cNvSpPr>
            <a:spLocks noGrp="1"/>
          </p:cNvSpPr>
          <p:nvPr/>
        </p:nvSpPr>
        <p:spPr>
          <a:xfrm>
            <a:off x="4552950" y="3771900"/>
            <a:ext cx="762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ctr">
              <a:defRPr sz="1500" b="1">
                <a:solidFill>
                  <a:srgbClr val="E85D0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E85D0F"/>
                </a:solidFill>
                <a:latin typeface="Noto Sans CJK SC"/>
                <a:ea typeface="Noto Sans CJK SC"/>
                <a:cs typeface="Noto Sans CJK SC"/>
              </a:rPr>
              <a:t>04</a:t>
            </a:r>
            <a:endParaRPr sz="1500" b="1">
              <a:solidFill>
                <a:srgbClr val="E85D0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2" name="Rectangles 31"/>
          <p:cNvSpPr>
            <a:spLocks noGrp="1"/>
          </p:cNvSpPr>
          <p:nvPr/>
        </p:nvSpPr>
        <p:spPr>
          <a:xfrm>
            <a:off x="5619750" y="3609975"/>
            <a:ext cx="2952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725" b="1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rPr>
              <a:t>更多框架</a:t>
            </a:r>
            <a:endParaRPr sz="1725" b="1">
              <a:solidFill>
                <a:srgbClr val="17191D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3" name="Rectangles 32"/>
          <p:cNvSpPr>
            <a:spLocks noGrp="1"/>
          </p:cNvSpPr>
          <p:nvPr/>
        </p:nvSpPr>
        <p:spPr>
          <a:xfrm>
            <a:off x="5619750" y="3981450"/>
            <a:ext cx="476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200" b="0">
                <a:solidFill>
                  <a:srgbClr val="62687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lang="en-US" sz="1200" b="0">
                <a:solidFill>
                  <a:srgbClr val="626871"/>
                </a:solidFill>
                <a:latin typeface="Noto Sans CJK SC"/>
                <a:ea typeface="Noto Sans CJK SC"/>
                <a:cs typeface="Noto Sans CJK SC"/>
              </a:rPr>
              <a:t>verl </a:t>
            </a:r>
            <a:r>
              <a:rPr sz="1200" b="0">
                <a:solidFill>
                  <a:srgbClr val="626871"/>
                </a:solidFill>
                <a:latin typeface="Noto Sans CJK SC"/>
                <a:ea typeface="Noto Sans CJK SC"/>
                <a:cs typeface="Noto Sans CJK SC"/>
              </a:rPr>
              <a:t>/ AReaL 接入</a:t>
            </a:r>
            <a:endParaRPr sz="1200" b="0">
              <a:solidFill>
                <a:srgbClr val="626871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4" name="Straight Connector 33"/>
          <p:cNvSpPr>
            <a:spLocks noGrp="1"/>
          </p:cNvSpPr>
          <p:nvPr/>
        </p:nvSpPr>
        <p:spPr>
          <a:xfrm>
            <a:off x="5619750" y="4400550"/>
            <a:ext cx="5448300" cy="0"/>
          </a:xfrm>
          <a:prstGeom prst="line">
            <a:avLst/>
          </a:prstGeom>
          <a:noFill/>
          <a:ln w="9525">
            <a:solidFill>
              <a:srgbClr val="D6DAE0"/>
            </a:solidFill>
            <a:prstDash val="solid"/>
          </a:ln>
        </p:spPr>
      </p:sp>
      <p:sp>
        <p:nvSpPr>
          <p:cNvPr id="35" name="Straight Connector 34"/>
          <p:cNvSpPr>
            <a:spLocks noGrp="1"/>
          </p:cNvSpPr>
          <p:nvPr/>
        </p:nvSpPr>
        <p:spPr>
          <a:xfrm>
            <a:off x="4038600" y="4895850"/>
            <a:ext cx="514350" cy="0"/>
          </a:xfrm>
          <a:prstGeom prst="line">
            <a:avLst/>
          </a:prstGeom>
          <a:noFill/>
          <a:ln w="19050">
            <a:solidFill>
              <a:srgbClr val="D6DAE0"/>
            </a:solidFill>
            <a:prstDash val="solid"/>
          </a:ln>
        </p:spPr>
      </p:sp>
      <p:sp>
        <p:nvSpPr>
          <p:cNvPr id="36" name="Oval 35"/>
          <p:cNvSpPr>
            <a:spLocks noGrp="1"/>
          </p:cNvSpPr>
          <p:nvPr/>
        </p:nvSpPr>
        <p:spPr>
          <a:xfrm>
            <a:off x="4552950" y="4514850"/>
            <a:ext cx="762000" cy="762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85D0F"/>
            </a:solidFill>
            <a:prstDash val="solid"/>
          </a:ln>
        </p:spPr>
      </p:sp>
      <p:sp>
        <p:nvSpPr>
          <p:cNvPr id="37" name="Rectangles 36"/>
          <p:cNvSpPr>
            <a:spLocks noGrp="1"/>
          </p:cNvSpPr>
          <p:nvPr/>
        </p:nvSpPr>
        <p:spPr>
          <a:xfrm>
            <a:off x="4552950" y="4724400"/>
            <a:ext cx="762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ctr">
              <a:defRPr sz="1500" b="1">
                <a:solidFill>
                  <a:srgbClr val="E85D0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E85D0F"/>
                </a:solidFill>
                <a:latin typeface="Noto Sans CJK SC"/>
                <a:ea typeface="Noto Sans CJK SC"/>
                <a:cs typeface="Noto Sans CJK SC"/>
              </a:rPr>
              <a:t>05</a:t>
            </a:r>
            <a:endParaRPr sz="1500" b="1">
              <a:solidFill>
                <a:srgbClr val="E85D0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8" name="Rectangles 37"/>
          <p:cNvSpPr>
            <a:spLocks noGrp="1"/>
          </p:cNvSpPr>
          <p:nvPr/>
        </p:nvSpPr>
        <p:spPr>
          <a:xfrm>
            <a:off x="5619750" y="4562475"/>
            <a:ext cx="2952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725" b="1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rPr>
              <a:t>更多后端</a:t>
            </a:r>
            <a:endParaRPr sz="1725" b="1">
              <a:solidFill>
                <a:srgbClr val="17191D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9" name="Rectangles 38"/>
          <p:cNvSpPr>
            <a:spLocks noGrp="1"/>
          </p:cNvSpPr>
          <p:nvPr/>
        </p:nvSpPr>
        <p:spPr>
          <a:xfrm>
            <a:off x="5619750" y="4933950"/>
            <a:ext cx="476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200" b="0">
                <a:solidFill>
                  <a:srgbClr val="62687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626871"/>
                </a:solidFill>
                <a:latin typeface="Noto Sans CJK SC"/>
                <a:ea typeface="Noto Sans CJK SC"/>
                <a:cs typeface="Noto Sans CJK SC"/>
              </a:rPr>
              <a:t>MUSA / Ascend 继续完善</a:t>
            </a:r>
            <a:endParaRPr sz="1200" b="0">
              <a:solidFill>
                <a:srgbClr val="626871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0" name="Rectangles 39"/>
          <p:cNvSpPr>
            <a:spLocks noGrp="1"/>
          </p:cNvSpPr>
          <p:nvPr/>
        </p:nvSpPr>
        <p:spPr>
          <a:xfrm>
            <a:off x="2019300" y="5619750"/>
            <a:ext cx="81534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ctr">
              <a:defRPr sz="1275" b="1">
                <a:solidFill>
                  <a:srgbClr val="A8440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A8440D"/>
                </a:solidFill>
                <a:latin typeface="Noto Sans CJK SC"/>
                <a:ea typeface="Noto Sans CJK SC"/>
                <a:cs typeface="Noto Sans CJK SC"/>
              </a:rPr>
              <a:t>四项工作并行推进，每个方向都需要单独完成配置、关键计算检查和端到端训练测试。</a:t>
            </a:r>
            <a:endParaRPr sz="1275" b="1">
              <a:solidFill>
                <a:srgbClr val="A8440D"/>
              </a:solidFill>
              <a:latin typeface="Noto Sans CJK SC"/>
              <a:ea typeface="Noto Sans CJK SC"/>
              <a:cs typeface="Noto Sans CJK SC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4" name="Rectangles 13"/>
          <p:cNvSpPr>
            <a:spLocks noGrp="1"/>
          </p:cNvSpPr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rgbClr val="111111"/>
          </a:solidFill>
          <a:ln w="0">
            <a:noFill/>
            <a:prstDash val="solid"/>
          </a:ln>
        </p:spPr>
      </p:sp>
      <p:sp>
        <p:nvSpPr>
          <p:cNvPr id="2" name="Rectangles 1"/>
          <p:cNvSpPr>
            <a:spLocks noGrp="1"/>
          </p:cNvSpPr>
          <p:nvPr/>
        </p:nvSpPr>
        <p:spPr>
          <a:xfrm>
            <a:off x="0" y="6667500"/>
            <a:ext cx="12192000" cy="190500"/>
          </a:xfrm>
          <a:prstGeom prst="rect">
            <a:avLst/>
          </a:prstGeom>
          <a:solidFill>
            <a:srgbClr val="111111"/>
          </a:solidFill>
          <a:ln w="0">
            <a:noFill/>
            <a:prstDash val="solid"/>
          </a:ln>
        </p:spPr>
      </p:sp>
      <p:sp>
        <p:nvSpPr>
          <p:cNvPr id="3" name="Straight Connector 2"/>
          <p:cNvSpPr>
            <a:spLocks noGrp="1"/>
          </p:cNvSpPr>
          <p:nvPr/>
        </p:nvSpPr>
        <p:spPr>
          <a:xfrm>
            <a:off x="609600" y="342900"/>
            <a:ext cx="0" cy="552450"/>
          </a:xfrm>
          <a:prstGeom prst="line">
            <a:avLst/>
          </a:prstGeom>
          <a:noFill/>
          <a:ln w="28575">
            <a:solidFill>
              <a:srgbClr val="E85D0F"/>
            </a:solidFill>
            <a:prstDash val="solid"/>
          </a:ln>
        </p:spPr>
      </p:sp>
      <p:sp>
        <p:nvSpPr>
          <p:cNvPr id="4" name="Rectangles 3"/>
          <p:cNvSpPr>
            <a:spLocks noGrp="1"/>
          </p:cNvSpPr>
          <p:nvPr/>
        </p:nvSpPr>
        <p:spPr>
          <a:xfrm>
            <a:off x="781050" y="323850"/>
            <a:ext cx="5429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975" b="0">
                <a:solidFill>
                  <a:srgbClr val="62687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626871"/>
                </a:solidFill>
                <a:latin typeface="Noto Sans CJK SC"/>
                <a:ea typeface="Noto Sans CJK SC"/>
                <a:cs typeface="Noto Sans CJK SC"/>
              </a:rPr>
              <a:t>问答</a:t>
            </a:r>
            <a:endParaRPr sz="975" b="0">
              <a:solidFill>
                <a:srgbClr val="626871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" name="Rectangles 4"/>
          <p:cNvSpPr>
            <a:spLocks noGrp="1"/>
          </p:cNvSpPr>
          <p:nvPr/>
        </p:nvSpPr>
        <p:spPr>
          <a:xfrm>
            <a:off x="781050" y="657225"/>
            <a:ext cx="107632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2700" b="1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700" b="1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rPr>
              <a:t>Q&amp;A</a:t>
            </a:r>
            <a:endParaRPr sz="2700" b="1">
              <a:solidFill>
                <a:srgbClr val="17191D"/>
              </a:solidFill>
              <a:latin typeface="Noto Sans CJK SC"/>
              <a:ea typeface="Noto Sans CJK SC"/>
              <a:cs typeface="Noto Sans CJK SC"/>
            </a:endParaRPr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91750" y="6238875"/>
            <a:ext cx="228600" cy="285750"/>
          </a:xfrm>
          <a:prstGeom prst="rect">
            <a:avLst/>
          </a:prstGeom>
        </p:spPr>
      </p:pic>
      <p:sp>
        <p:nvSpPr>
          <p:cNvPr id="7" name="Rectangles 6"/>
          <p:cNvSpPr>
            <a:spLocks noGrp="1"/>
          </p:cNvSpPr>
          <p:nvPr/>
        </p:nvSpPr>
        <p:spPr>
          <a:xfrm>
            <a:off x="10487025" y="6286500"/>
            <a:ext cx="1047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750" b="1">
                <a:solidFill>
                  <a:srgbClr val="62687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50" b="1">
                <a:solidFill>
                  <a:srgbClr val="626871"/>
                </a:solidFill>
                <a:latin typeface="Noto Sans CJK SC"/>
                <a:ea typeface="Noto Sans CJK SC"/>
                <a:cs typeface="Noto Sans CJK SC"/>
              </a:rPr>
              <a:t>RL-ALIGN</a:t>
            </a:r>
            <a:endParaRPr sz="750" b="1">
              <a:solidFill>
                <a:srgbClr val="626871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8" name="Rectangles 7"/>
          <p:cNvSpPr>
            <a:spLocks noGrp="1"/>
          </p:cNvSpPr>
          <p:nvPr/>
        </p:nvSpPr>
        <p:spPr>
          <a:xfrm>
            <a:off x="609600" y="6343650"/>
            <a:ext cx="4000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750" b="0">
                <a:solidFill>
                  <a:srgbClr val="989EA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50" b="0">
                <a:solidFill>
                  <a:srgbClr val="989EA7"/>
                </a:solidFill>
                <a:latin typeface="Noto Sans CJK SC"/>
                <a:ea typeface="Noto Sans CJK SC"/>
                <a:cs typeface="Noto Sans CJK SC"/>
              </a:rPr>
              <a:t>27</a:t>
            </a:r>
            <a:endParaRPr sz="750" b="0">
              <a:solidFill>
                <a:srgbClr val="989EA7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" name="Rectangles 8"/>
          <p:cNvSpPr>
            <a:spLocks noGrp="1"/>
          </p:cNvSpPr>
          <p:nvPr/>
        </p:nvSpPr>
        <p:spPr>
          <a:xfrm>
            <a:off x="781050" y="1790700"/>
            <a:ext cx="10629900" cy="1104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ctr">
              <a:defRPr sz="6150" b="1">
                <a:solidFill>
                  <a:srgbClr val="E85D0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150" b="1">
                <a:solidFill>
                  <a:srgbClr val="E85D0F"/>
                </a:solidFill>
                <a:latin typeface="Noto Sans CJK SC"/>
                <a:ea typeface="Noto Sans CJK SC"/>
                <a:cs typeface="Noto Sans CJK SC"/>
              </a:rPr>
              <a:t>Q&amp;A</a:t>
            </a:r>
            <a:endParaRPr sz="6150" b="1">
              <a:solidFill>
                <a:srgbClr val="E85D0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" name="Straight Connector 9"/>
          <p:cNvSpPr>
            <a:spLocks noGrp="1"/>
          </p:cNvSpPr>
          <p:nvPr/>
        </p:nvSpPr>
        <p:spPr>
          <a:xfrm>
            <a:off x="4000500" y="3105150"/>
            <a:ext cx="4191000" cy="0"/>
          </a:xfrm>
          <a:prstGeom prst="line">
            <a:avLst/>
          </a:prstGeom>
          <a:noFill/>
          <a:ln w="28575">
            <a:solidFill>
              <a:srgbClr val="E85D0F"/>
            </a:solidFill>
            <a:prstDash val="solid"/>
          </a:ln>
        </p:spPr>
      </p:sp>
      <p:sp>
        <p:nvSpPr>
          <p:cNvPr id="11" name="Rectangles 10"/>
          <p:cNvSpPr>
            <a:spLocks noGrp="1"/>
          </p:cNvSpPr>
          <p:nvPr/>
        </p:nvSpPr>
        <p:spPr>
          <a:xfrm>
            <a:off x="781050" y="3429000"/>
            <a:ext cx="106299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ctr">
              <a:defRPr sz="2250" b="1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rPr>
              <a:t>欢迎提问</a:t>
            </a:r>
            <a:endParaRPr sz="2250" b="1">
              <a:solidFill>
                <a:srgbClr val="17191D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2" name="Rectangles 11"/>
          <p:cNvSpPr>
            <a:spLocks noGrp="1"/>
          </p:cNvSpPr>
          <p:nvPr/>
        </p:nvSpPr>
        <p:spPr>
          <a:xfrm>
            <a:off x="2305050" y="4152900"/>
            <a:ext cx="75819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ctr">
              <a:defRPr sz="1350" b="0">
                <a:solidFill>
                  <a:srgbClr val="62687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626871"/>
                </a:solidFill>
                <a:latin typeface="Noto Sans CJK SC"/>
                <a:ea typeface="Noto Sans CJK SC"/>
                <a:cs typeface="Noto Sans CJK SC"/>
              </a:rPr>
              <a:t>项目定位、验证方法、CUDA / ROCm 结果、下一步计划</a:t>
            </a:r>
            <a:endParaRPr sz="1350" b="0">
              <a:solidFill>
                <a:srgbClr val="626871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3" name="Rectangles 12"/>
          <p:cNvSpPr>
            <a:spLocks noGrp="1"/>
          </p:cNvSpPr>
          <p:nvPr/>
        </p:nvSpPr>
        <p:spPr>
          <a:xfrm>
            <a:off x="3714750" y="5410200"/>
            <a:ext cx="4762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ctr">
              <a:defRPr sz="1350" b="1">
                <a:solidFill>
                  <a:srgbClr val="E85D0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E85D0F"/>
                </a:solidFill>
                <a:latin typeface="Noto Sans CJK SC"/>
                <a:ea typeface="Noto Sans CJK SC"/>
                <a:cs typeface="Noto Sans CJK SC"/>
              </a:rPr>
              <a:t>github.com/RL-Align/RL-Kernel</a:t>
            </a:r>
            <a:endParaRPr sz="1350" b="1">
              <a:solidFill>
                <a:srgbClr val="E85D0F"/>
              </a:solidFill>
              <a:latin typeface="Noto Sans CJK SC"/>
              <a:ea typeface="Noto Sans CJK SC"/>
              <a:cs typeface="Noto Sans CJK SC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RL-Align White Orange">
      <a:dk1>
        <a:srgbClr val="111111"/>
      </a:dk1>
      <a:lt1>
        <a:srgbClr val="FFFFFF"/>
      </a:lt1>
      <a:dk2>
        <a:srgbClr val="17191D"/>
      </a:dk2>
      <a:lt2>
        <a:srgbClr val="F6F7F9"/>
      </a:lt2>
      <a:accent1>
        <a:srgbClr val="E85D0F"/>
      </a:accent1>
      <a:accent2>
        <a:srgbClr val="A8440D"/>
      </a:accent2>
      <a:accent3>
        <a:srgbClr val="16895A"/>
      </a:accent3>
      <a:accent4>
        <a:srgbClr val="2E63D9"/>
      </a:accent4>
      <a:accent5>
        <a:srgbClr val="626871"/>
      </a:accent5>
      <a:accent6>
        <a:srgbClr val="D6DAE0"/>
      </a:accent6>
      <a:hlink>
        <a:srgbClr val="E85D0F"/>
      </a:hlink>
      <a:folHlink>
        <a:srgbClr val="A8440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RL-Align White Orang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RL-Align White Orange">
      <a:dk1>
        <a:srgbClr val="111111"/>
      </a:dk1>
      <a:lt1>
        <a:srgbClr val="FFFFFF"/>
      </a:lt1>
      <a:dk2>
        <a:srgbClr val="17191D"/>
      </a:dk2>
      <a:lt2>
        <a:srgbClr val="F6F7F9"/>
      </a:lt2>
      <a:accent1>
        <a:srgbClr val="E85D0F"/>
      </a:accent1>
      <a:accent2>
        <a:srgbClr val="A8440D"/>
      </a:accent2>
      <a:accent3>
        <a:srgbClr val="16895A"/>
      </a:accent3>
      <a:accent4>
        <a:srgbClr val="2E63D9"/>
      </a:accent4>
      <a:accent5>
        <a:srgbClr val="626871"/>
      </a:accent5>
      <a:accent6>
        <a:srgbClr val="D6DAE0"/>
      </a:accent6>
      <a:hlink>
        <a:srgbClr val="E85D0F"/>
      </a:hlink>
      <a:folHlink>
        <a:srgbClr val="A8440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RL-Align White Orang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7451</Words>
  <Application>WPS Writer</Application>
  <PresentationFormat>Converted Presentation</PresentationFormat>
  <Paragraphs>938</Paragraphs>
  <Slides>27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27</vt:i4>
      </vt:variant>
    </vt:vector>
  </HeadingPairs>
  <TitlesOfParts>
    <vt:vector size="40" baseType="lpstr">
      <vt:lpstr>Arial</vt:lpstr>
      <vt:lpstr>宋体</vt:lpstr>
      <vt:lpstr>Wingdings</vt:lpstr>
      <vt:lpstr>Noto Sans CJK SC</vt:lpstr>
      <vt:lpstr>Thonburi</vt:lpstr>
      <vt:lpstr>宋体</vt:lpstr>
      <vt:lpstr>汉仪书宋二KW</vt:lpstr>
      <vt:lpstr>微软雅黑</vt:lpstr>
      <vt:lpstr>汉仪旗黑</vt:lpstr>
      <vt:lpstr>Arial Unicode MS</vt:lpstr>
      <vt:lpstr>Calibri</vt:lpstr>
      <vt:lpstr>Helvetica Neue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禾暮</cp:lastModifiedBy>
  <cp:revision>33</cp:revision>
  <dcterms:created xsi:type="dcterms:W3CDTF">2026-09-25T08:16:55Z</dcterms:created>
  <dcterms:modified xsi:type="dcterms:W3CDTF">2026-09-25T08:16:55Z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53EC08DED310B893D1D2B46AF88D0FE2_43</vt:lpwstr>
  </property>
  <property fmtid="{D5CDD505-2E9C-101B-9397-08002B2CF9AE}" pid="3" name="KSOProductBuildVer">
    <vt:lpwstr>1033-6.5.1.8687</vt:lpwstr>
  </property>
</Properties>
</file>